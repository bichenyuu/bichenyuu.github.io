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6"/>
  </p:notesMasterIdLst>
  <p:sldIdLst>
    <p:sldId id="257" r:id="rId2"/>
    <p:sldId id="299" r:id="rId3"/>
    <p:sldId id="301" r:id="rId4"/>
    <p:sldId id="302" r:id="rId5"/>
    <p:sldId id="303" r:id="rId6"/>
    <p:sldId id="304" r:id="rId7"/>
    <p:sldId id="308" r:id="rId8"/>
    <p:sldId id="309" r:id="rId9"/>
    <p:sldId id="310" r:id="rId10"/>
    <p:sldId id="312" r:id="rId11"/>
    <p:sldId id="311" r:id="rId12"/>
    <p:sldId id="306" r:id="rId13"/>
    <p:sldId id="307" r:id="rId14"/>
    <p:sldId id="30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4444"/>
    <a:srgbClr val="7F7F7F"/>
    <a:srgbClr val="990000"/>
    <a:srgbClr val="326B8B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887"/>
    <p:restoredTop sz="80685"/>
  </p:normalViewPr>
  <p:slideViewPr>
    <p:cSldViewPr snapToGrid="0">
      <p:cViewPr>
        <p:scale>
          <a:sx n="106" d="100"/>
          <a:sy n="106" d="100"/>
        </p:scale>
        <p:origin x="106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FA9B8D-B457-4444-BAC9-36058BB0FB61}" type="datetimeFigureOut">
              <a:rPr lang="en-US" smtClean="0"/>
              <a:t>5/25/26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E2F965-607A-DD4D-8B52-2C61546C3C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512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E2F965-607A-DD4D-8B52-2C61546C3C3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5586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E2F965-607A-DD4D-8B52-2C61546C3C3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5570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D932-3533-C35E-C140-707CFA88E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D9C9AA-0210-08E3-B143-BBA05DCB69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864A69-18D9-5E85-75E5-1648EF68EE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76B895-03BE-0408-EFE3-AB01A54F95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E2F965-607A-DD4D-8B52-2C61546C3C3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8314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AE235-7DAF-C5D4-5DA7-F563D0853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92A4D1-D08D-C5D3-61A5-D0C82D6A55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A5D0DD-2C23-C788-F68C-0CCDB39F4E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3DAA26-848B-5771-9EE3-BDDAD4CAB0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E2F965-607A-DD4D-8B52-2C61546C3C3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2163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2C3FE-FA87-AE5B-FB45-41C1E10B6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ABD07A-8404-C581-9044-852CC0C84E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A00169-57E3-EA80-172A-479949FF9F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5A4F95-84F8-6DBD-B32B-C3D36A44B7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E2F965-607A-DD4D-8B52-2C61546C3C3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6853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22027-0AE1-ED26-C76A-59B43743B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2F8FEB-4312-1638-2583-3765AF7626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3D9388-49E3-8920-DC48-FAD139466E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B42707-B81B-5715-CE80-80FF1AB290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E2F965-607A-DD4D-8B52-2C61546C3C3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5206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E2F965-607A-DD4D-8B52-2C61546C3C3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2485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E2F965-607A-DD4D-8B52-2C61546C3C3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4071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E2F965-607A-DD4D-8B52-2C61546C3C3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2910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AF2A0-A647-F994-7D6C-1567A0C76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08D14F-BC55-8D8B-70A5-D48BF66B9A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93360F-E388-EABF-EEB5-13721CF29F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19998F-B2FD-59BF-C40F-AA43EB0CFC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E2F965-607A-DD4D-8B52-2C61546C3C3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1476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049B8-6D09-7817-06E2-AABDEAA9C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28EB11-8964-959D-4E78-81A3CD5F49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BA9DAB-8610-8B0A-4E46-699F39E46D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6B3CF-EF0A-A58F-25CD-C8A93F0F0B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E2F965-607A-DD4D-8B52-2C61546C3C3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1602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E2F965-607A-DD4D-8B52-2C61546C3C3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9286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7880EE0F-8936-034F-832B-8042B5D72D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287" y="365886"/>
            <a:ext cx="4418391" cy="5049589"/>
          </a:xfrm>
          <a:prstGeom prst="rect">
            <a:avLst/>
          </a:prstGeom>
        </p:spPr>
      </p:pic>
      <p:sp>
        <p:nvSpPr>
          <p:cNvPr id="4" name="Rectangle 5">
            <a:extLst>
              <a:ext uri="{FF2B5EF4-FFF2-40B4-BE49-F238E27FC236}">
                <a16:creationId xmlns:a16="http://schemas.microsoft.com/office/drawing/2014/main" id="{378EF57C-0683-8E48-AE13-6590CF43DE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9352" y="6564313"/>
            <a:ext cx="3350683" cy="2932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3236" tIns="36619" rIns="73236" bIns="36619">
            <a:spAutoFit/>
          </a:bodyPr>
          <a:lstStyle>
            <a:lvl1pPr defTabSz="9699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84188" defTabSz="9699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69963" defTabSz="9699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454150" defTabSz="9699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39925" defTabSz="9699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397125" defTabSz="9699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54325" defTabSz="9699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1525" defTabSz="9699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68725" defTabSz="9699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endParaRPr lang="en-US" altLang="en-US" sz="1425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603505" y="3284440"/>
            <a:ext cx="10966453" cy="369332"/>
          </a:xfrm>
        </p:spPr>
        <p:txBody>
          <a:bodyPr anchor="t" anchorCtr="0">
            <a:spAutoFit/>
          </a:bodyPr>
          <a:lstStyle>
            <a:lvl1pPr>
              <a:defRPr sz="2400"/>
            </a:lvl1pPr>
          </a:lstStyle>
          <a:p>
            <a:pPr lvl="0"/>
            <a:r>
              <a:rPr lang="en-US" altLang="en-US" noProof="0" dirty="0"/>
              <a:t>Click to Edit Title of Presentation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1A97D23-F7C6-B046-ADCC-F1ACD792B17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679"/>
          <a:stretch/>
        </p:blipFill>
        <p:spPr>
          <a:xfrm>
            <a:off x="605367" y="528365"/>
            <a:ext cx="3154871" cy="548456"/>
          </a:xfrm>
          <a:prstGeom prst="rect">
            <a:avLst/>
          </a:prstGeom>
        </p:spPr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9B669413-AA1F-7B48-9EF7-51410D7110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3504" y="2976472"/>
            <a:ext cx="10966453" cy="242039"/>
          </a:xfrm>
        </p:spPr>
        <p:txBody>
          <a:bodyPr tIns="0" bIns="0">
            <a:noAutofit/>
          </a:bodyPr>
          <a:lstStyle>
            <a:lvl1pPr marL="0" indent="0">
              <a:buNone/>
              <a:defRPr sz="1200" spc="225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DEPARTMENT OR SERVICE LINE</a:t>
            </a:r>
          </a:p>
          <a:p>
            <a:pPr lvl="0"/>
            <a:endParaRPr lang="en-US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7D9F7EEA-6ACC-AA4C-B098-6FCE8583AA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3249" y="4853940"/>
            <a:ext cx="10966451" cy="348813"/>
          </a:xfrm>
        </p:spPr>
        <p:txBody>
          <a:bodyPr tIns="0" bIns="0" anchor="b" anchorCtr="0"/>
          <a:lstStyle>
            <a:lvl1pPr marL="0" indent="0">
              <a:spcBef>
                <a:spcPts val="75"/>
              </a:spcBef>
              <a:spcAft>
                <a:spcPts val="75"/>
              </a:spcAft>
              <a:buFontTx/>
              <a:buNone/>
              <a:defRPr sz="1050" b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Presenter Name</a:t>
            </a:r>
          </a:p>
          <a:p>
            <a:pPr lvl="0"/>
            <a:r>
              <a:rPr lang="en-US" dirty="0"/>
              <a:t>Title</a:t>
            </a:r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82640247-F5C8-854C-BFF2-F15A2B477F9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03249" y="5546600"/>
            <a:ext cx="10966451" cy="213551"/>
          </a:xfrm>
        </p:spPr>
        <p:txBody>
          <a:bodyPr tIns="0" bIns="0" anchor="t" anchorCtr="0">
            <a:noAutofit/>
          </a:bodyPr>
          <a:lstStyle>
            <a:lvl1pPr marL="0" indent="0">
              <a:buFontTx/>
              <a:buNone/>
              <a:defRPr sz="1200"/>
            </a:lvl1pPr>
          </a:lstStyle>
          <a:p>
            <a:pPr lvl="0"/>
            <a:r>
              <a:rPr lang="en-US" dirty="0"/>
              <a:t>Month XX, 2021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03563FC-0F09-0C4F-A98D-09A9A087BFFD}"/>
              </a:ext>
            </a:extLst>
          </p:cNvPr>
          <p:cNvSpPr/>
          <p:nvPr/>
        </p:nvSpPr>
        <p:spPr bwMode="auto">
          <a:xfrm>
            <a:off x="4272325" y="6073135"/>
            <a:ext cx="7919676" cy="187570"/>
          </a:xfrm>
          <a:prstGeom prst="rect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C4A80AC-0EE5-CE49-AC50-371B0BCEE030}"/>
              </a:ext>
            </a:extLst>
          </p:cNvPr>
          <p:cNvSpPr/>
          <p:nvPr/>
        </p:nvSpPr>
        <p:spPr bwMode="auto">
          <a:xfrm>
            <a:off x="3626865" y="6073135"/>
            <a:ext cx="589120" cy="18757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5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6EA6F35-CA1B-A642-9824-3B515D1BF591}"/>
              </a:ext>
            </a:extLst>
          </p:cNvPr>
          <p:cNvSpPr/>
          <p:nvPr/>
        </p:nvSpPr>
        <p:spPr bwMode="auto">
          <a:xfrm>
            <a:off x="2120794" y="6073135"/>
            <a:ext cx="1449733" cy="187570"/>
          </a:xfrm>
          <a:prstGeom prst="rect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5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9B4247E-C5F1-3A4E-B4C6-26DD2EAF81A6}"/>
              </a:ext>
            </a:extLst>
          </p:cNvPr>
          <p:cNvSpPr/>
          <p:nvPr/>
        </p:nvSpPr>
        <p:spPr bwMode="auto">
          <a:xfrm>
            <a:off x="605369" y="6073135"/>
            <a:ext cx="1459087" cy="187570"/>
          </a:xfrm>
          <a:prstGeom prst="rect">
            <a:avLst/>
          </a:prstGeom>
          <a:solidFill>
            <a:schemeClr val="bg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5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9485" y="64913"/>
            <a:ext cx="2627604" cy="1475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8448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5368" y="476873"/>
            <a:ext cx="11074576" cy="369332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7997" y="1114752"/>
            <a:ext cx="11071947" cy="1625799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7101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0B4F123-30EB-A440-BB44-9D7F067693BF}"/>
              </a:ext>
            </a:extLst>
          </p:cNvPr>
          <p:cNvSpPr/>
          <p:nvPr/>
        </p:nvSpPr>
        <p:spPr bwMode="auto">
          <a:xfrm>
            <a:off x="4272325" y="6073135"/>
            <a:ext cx="7919676" cy="187570"/>
          </a:xfrm>
          <a:prstGeom prst="rect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78EF57C-0683-8E48-AE13-6590CF43DE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9352" y="6564313"/>
            <a:ext cx="3350683" cy="2932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3236" tIns="36619" rIns="73236" bIns="36619">
            <a:spAutoFit/>
          </a:bodyPr>
          <a:lstStyle>
            <a:lvl1pPr defTabSz="9699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84188" defTabSz="9699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69963" defTabSz="9699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454150" defTabSz="9699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39925" defTabSz="9699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397125" defTabSz="9699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54325" defTabSz="9699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1525" defTabSz="9699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68725" defTabSz="9699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endParaRPr lang="en-US" altLang="en-US" sz="1425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BED2D5-3D21-F846-9AB1-F18C83362D57}"/>
              </a:ext>
            </a:extLst>
          </p:cNvPr>
          <p:cNvSpPr/>
          <p:nvPr/>
        </p:nvSpPr>
        <p:spPr bwMode="auto">
          <a:xfrm>
            <a:off x="4272326" y="0"/>
            <a:ext cx="7919676" cy="6858000"/>
          </a:xfrm>
          <a:prstGeom prst="rect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13092-8DB7-0B4F-ABD0-D6BD936292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01134" y="3244334"/>
            <a:ext cx="6662057" cy="369332"/>
          </a:xfrm>
        </p:spPr>
        <p:txBody>
          <a:bodyPr anchor="ctr" anchorCtr="0"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Divider Title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06BB0AF-9056-B849-8AE6-C1E1BBA3E300}"/>
              </a:ext>
            </a:extLst>
          </p:cNvPr>
          <p:cNvSpPr/>
          <p:nvPr/>
        </p:nvSpPr>
        <p:spPr bwMode="auto">
          <a:xfrm>
            <a:off x="3626865" y="6073135"/>
            <a:ext cx="589120" cy="18757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5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F111A79-FA5C-6C4A-9F3B-44ACE4907DA5}"/>
              </a:ext>
            </a:extLst>
          </p:cNvPr>
          <p:cNvSpPr/>
          <p:nvPr/>
        </p:nvSpPr>
        <p:spPr bwMode="auto">
          <a:xfrm>
            <a:off x="2120794" y="6073135"/>
            <a:ext cx="1449733" cy="187570"/>
          </a:xfrm>
          <a:prstGeom prst="rect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5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59BD90C-2B1D-CE42-B14E-DB6FD23D2123}"/>
              </a:ext>
            </a:extLst>
          </p:cNvPr>
          <p:cNvSpPr/>
          <p:nvPr/>
        </p:nvSpPr>
        <p:spPr bwMode="auto">
          <a:xfrm>
            <a:off x="605369" y="6073135"/>
            <a:ext cx="1459087" cy="187570"/>
          </a:xfrm>
          <a:prstGeom prst="rect">
            <a:avLst/>
          </a:prstGeom>
          <a:solidFill>
            <a:schemeClr val="bg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5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/>
          <a:srcRect l="6736" t="20169" r="6108" b="19528"/>
          <a:stretch/>
        </p:blipFill>
        <p:spPr>
          <a:xfrm>
            <a:off x="549028" y="6286868"/>
            <a:ext cx="1433384" cy="556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249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5368" y="1124083"/>
            <a:ext cx="5115984" cy="1625799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5553" y="1124083"/>
            <a:ext cx="5374393" cy="1625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C56170B-6943-F84C-A7CF-C98CC69F19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5368" y="476873"/>
            <a:ext cx="1107457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 sz="2400"/>
            </a:lvl1pPr>
          </a:lstStyle>
          <a:p>
            <a:pPr lvl="0"/>
            <a:r>
              <a:rPr lang="en-US" altLang="en-US"/>
              <a:t>Click to edit Master title style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16653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5368" y="1265764"/>
            <a:ext cx="5356893" cy="47420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5369" y="1739965"/>
            <a:ext cx="5356892" cy="1625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70172" y="1265764"/>
            <a:ext cx="5409773" cy="47420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70172" y="1739965"/>
            <a:ext cx="5409773" cy="1625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FD98137F-E053-8749-A48F-5E7A87B94F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5368" y="476873"/>
            <a:ext cx="1107457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en-US"/>
              <a:t>Click to edit Master title style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261105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6">
            <a:extLst>
              <a:ext uri="{FF2B5EF4-FFF2-40B4-BE49-F238E27FC236}">
                <a16:creationId xmlns:a16="http://schemas.microsoft.com/office/drawing/2014/main" id="{F67A72FA-85E0-1C47-93C3-EB1CF1E07A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5368" y="476873"/>
            <a:ext cx="1107457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en-US"/>
              <a:t>Click to edit Master title style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63527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0669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378EF57C-0683-8E48-AE13-6590CF43DE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9352" y="6564313"/>
            <a:ext cx="3350683" cy="2932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3236" tIns="36619" rIns="73236" bIns="36619">
            <a:spAutoFit/>
          </a:bodyPr>
          <a:lstStyle>
            <a:lvl1pPr defTabSz="9699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84188" defTabSz="9699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69963" defTabSz="9699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454150" defTabSz="9699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39925" defTabSz="9699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397125" defTabSz="9699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54325" defTabSz="9699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1525" defTabSz="9699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68725" defTabSz="9699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endParaRPr lang="en-US" altLang="en-US" sz="1425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1A97D23-F7C6-B046-ADCC-F1ACD792B17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679"/>
          <a:stretch/>
        </p:blipFill>
        <p:spPr>
          <a:xfrm>
            <a:off x="4306869" y="3084953"/>
            <a:ext cx="3154871" cy="548456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A2562E6E-14D8-0F44-A50D-BEB5AA05E94A}"/>
              </a:ext>
            </a:extLst>
          </p:cNvPr>
          <p:cNvSpPr/>
          <p:nvPr/>
        </p:nvSpPr>
        <p:spPr bwMode="auto">
          <a:xfrm>
            <a:off x="4272325" y="6073135"/>
            <a:ext cx="7919676" cy="187570"/>
          </a:xfrm>
          <a:prstGeom prst="rect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07A041C-85C9-D44B-987A-C8542A9F68E4}"/>
              </a:ext>
            </a:extLst>
          </p:cNvPr>
          <p:cNvSpPr/>
          <p:nvPr/>
        </p:nvSpPr>
        <p:spPr bwMode="auto">
          <a:xfrm>
            <a:off x="3626865" y="6073135"/>
            <a:ext cx="589120" cy="18757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5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E4D422F-FE44-674C-AF4F-23C21B48453C}"/>
              </a:ext>
            </a:extLst>
          </p:cNvPr>
          <p:cNvSpPr/>
          <p:nvPr/>
        </p:nvSpPr>
        <p:spPr bwMode="auto">
          <a:xfrm>
            <a:off x="2120794" y="6073135"/>
            <a:ext cx="1449733" cy="187570"/>
          </a:xfrm>
          <a:prstGeom prst="rect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5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F87DA0F-8041-DB4E-818B-D170DFA1CCEB}"/>
              </a:ext>
            </a:extLst>
          </p:cNvPr>
          <p:cNvSpPr/>
          <p:nvPr/>
        </p:nvSpPr>
        <p:spPr bwMode="auto">
          <a:xfrm>
            <a:off x="605369" y="6073135"/>
            <a:ext cx="1459087" cy="187570"/>
          </a:xfrm>
          <a:prstGeom prst="rect">
            <a:avLst/>
          </a:prstGeom>
          <a:solidFill>
            <a:schemeClr val="bg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5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rcRect l="6736" t="20169" r="6108" b="19528"/>
          <a:stretch/>
        </p:blipFill>
        <p:spPr>
          <a:xfrm>
            <a:off x="549028" y="6286868"/>
            <a:ext cx="1433384" cy="556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739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>
            <a:extLst>
              <a:ext uri="{FF2B5EF4-FFF2-40B4-BE49-F238E27FC236}">
                <a16:creationId xmlns:a16="http://schemas.microsoft.com/office/drawing/2014/main" id="{B60C43DA-1A5C-A446-A959-2598C0B24E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7997" y="1114752"/>
            <a:ext cx="11071947" cy="16257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97648" rIns="0" bIns="97648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en-US" dirty="0"/>
              <a:t>Level 1</a:t>
            </a:r>
          </a:p>
          <a:p>
            <a:pPr lvl="1"/>
            <a:r>
              <a:rPr lang="en-US" altLang="en-US" dirty="0"/>
              <a:t>Level two</a:t>
            </a:r>
          </a:p>
          <a:p>
            <a:pPr lvl="2"/>
            <a:r>
              <a:rPr lang="en-US" altLang="en-US" dirty="0"/>
              <a:t>Level three</a:t>
            </a:r>
          </a:p>
          <a:p>
            <a:pPr lvl="3"/>
            <a:r>
              <a:rPr lang="en-US" altLang="en-US" dirty="0"/>
              <a:t>Level four</a:t>
            </a:r>
          </a:p>
          <a:p>
            <a:pPr lvl="4"/>
            <a:r>
              <a:rPr lang="en-US" altLang="en-US" dirty="0"/>
              <a:t>Level five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1684BA7-7381-CC48-B7B4-6B25FA5DDC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79945" y="6448248"/>
            <a:ext cx="306785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b">
            <a:noAutofit/>
          </a:bodyPr>
          <a:lstStyle>
            <a:lvl1pPr defTabSz="9017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0850" defTabSz="9017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01700" defTabSz="9017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54138" defTabSz="9017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03400" defTabSz="9017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60600" defTabSz="9017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17800" defTabSz="9017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175000" defTabSz="9017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32200" defTabSz="9017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defRPr/>
            </a:pPr>
            <a:fld id="{5B4467E9-E984-A945-AC32-61228A8C1F5F}" type="slidenum">
              <a:rPr lang="en-US" altLang="en-US" sz="900" b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>
                <a:defRPr/>
              </a:pPr>
              <a:t>‹#›</a:t>
            </a:fld>
            <a:endParaRPr lang="en-US" altLang="en-US" sz="900" b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425B6A2B-1598-5242-AF8F-0A570BD4E3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5368" y="476873"/>
            <a:ext cx="1107457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en-US"/>
              <a:t>Click to edit Master title style</a:t>
            </a:r>
            <a:endParaRPr lang="en-US" altLang="en-US" dirty="0"/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26F14E00-C21C-8644-9056-518E0CF27D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9352" y="6564313"/>
            <a:ext cx="3350683" cy="2932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3236" tIns="36619" rIns="73236" bIns="36619">
            <a:spAutoFit/>
          </a:bodyPr>
          <a:lstStyle>
            <a:lvl1pPr defTabSz="9699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84188" defTabSz="9699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69963" defTabSz="9699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454150" defTabSz="9699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39925" defTabSz="9699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397125" defTabSz="9699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54325" defTabSz="9699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1525" defTabSz="9699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68725" defTabSz="9699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endParaRPr lang="en-US" altLang="en-US" sz="1425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E2E0A31-819C-9143-859F-CC5CDD40C926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679"/>
          <a:stretch/>
        </p:blipFill>
        <p:spPr>
          <a:xfrm>
            <a:off x="9709392" y="6412093"/>
            <a:ext cx="1902387" cy="330719"/>
          </a:xfrm>
          <a:prstGeom prst="rect">
            <a:avLst/>
          </a:prstGeom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54EFA743-63F0-4B47-A850-8785F92E96BE}"/>
              </a:ext>
            </a:extLst>
          </p:cNvPr>
          <p:cNvSpPr/>
          <p:nvPr/>
        </p:nvSpPr>
        <p:spPr bwMode="auto">
          <a:xfrm>
            <a:off x="4272325" y="6073135"/>
            <a:ext cx="7919676" cy="187570"/>
          </a:xfrm>
          <a:prstGeom prst="rect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7E024AA-066E-4A4F-81B6-327E570F3A29}"/>
              </a:ext>
            </a:extLst>
          </p:cNvPr>
          <p:cNvSpPr/>
          <p:nvPr/>
        </p:nvSpPr>
        <p:spPr bwMode="auto">
          <a:xfrm>
            <a:off x="3626865" y="6073135"/>
            <a:ext cx="589120" cy="18757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5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FBC9060-1F5C-B745-BC70-10DC006B7B24}"/>
              </a:ext>
            </a:extLst>
          </p:cNvPr>
          <p:cNvSpPr/>
          <p:nvPr/>
        </p:nvSpPr>
        <p:spPr bwMode="auto">
          <a:xfrm>
            <a:off x="2120794" y="6073135"/>
            <a:ext cx="1449733" cy="187570"/>
          </a:xfrm>
          <a:prstGeom prst="rect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5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F40AAF1-9FC3-A148-A6CA-B55E87F31084}"/>
              </a:ext>
            </a:extLst>
          </p:cNvPr>
          <p:cNvSpPr/>
          <p:nvPr/>
        </p:nvSpPr>
        <p:spPr bwMode="auto">
          <a:xfrm>
            <a:off x="605369" y="6073135"/>
            <a:ext cx="1459087" cy="187570"/>
          </a:xfrm>
          <a:prstGeom prst="rect">
            <a:avLst/>
          </a:prstGeom>
          <a:solidFill>
            <a:schemeClr val="bg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5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11"/>
          <a:srcRect l="6736" t="20169" r="6108" b="19528"/>
          <a:stretch/>
        </p:blipFill>
        <p:spPr>
          <a:xfrm>
            <a:off x="549028" y="6286868"/>
            <a:ext cx="1433384" cy="556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437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p:txStyles>
    <p:titleStyle>
      <a:lvl1pPr algn="l" defTabSz="727472" rtl="0" eaLnBrk="1" fontAlgn="base" hangingPunct="1">
        <a:spcBef>
          <a:spcPct val="0"/>
        </a:spcBef>
        <a:spcAft>
          <a:spcPct val="0"/>
        </a:spcAft>
        <a:defRPr sz="2400" b="0" i="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defTabSz="727472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AA2B3E"/>
          </a:solidFill>
          <a:latin typeface="Arial" panose="020B0604020202020204" pitchFamily="34" charset="0"/>
        </a:defRPr>
      </a:lvl2pPr>
      <a:lvl3pPr algn="l" defTabSz="727472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AA2B3E"/>
          </a:solidFill>
          <a:latin typeface="Arial" panose="020B0604020202020204" pitchFamily="34" charset="0"/>
        </a:defRPr>
      </a:lvl3pPr>
      <a:lvl4pPr algn="l" defTabSz="727472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AA2B3E"/>
          </a:solidFill>
          <a:latin typeface="Arial" panose="020B0604020202020204" pitchFamily="34" charset="0"/>
        </a:defRPr>
      </a:lvl4pPr>
      <a:lvl5pPr algn="l" defTabSz="727472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AA2B3E"/>
          </a:solidFill>
          <a:latin typeface="Arial" panose="020B0604020202020204" pitchFamily="34" charset="0"/>
        </a:defRPr>
      </a:lvl5pPr>
      <a:lvl6pPr marL="342900" algn="l" defTabSz="727472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AA2B3E"/>
          </a:solidFill>
          <a:latin typeface="Arial" panose="020B0604020202020204" pitchFamily="34" charset="0"/>
        </a:defRPr>
      </a:lvl6pPr>
      <a:lvl7pPr marL="685800" algn="l" defTabSz="727472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AA2B3E"/>
          </a:solidFill>
          <a:latin typeface="Arial" panose="020B0604020202020204" pitchFamily="34" charset="0"/>
        </a:defRPr>
      </a:lvl7pPr>
      <a:lvl8pPr marL="1028700" algn="l" defTabSz="727472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AA2B3E"/>
          </a:solidFill>
          <a:latin typeface="Arial" panose="020B0604020202020204" pitchFamily="34" charset="0"/>
        </a:defRPr>
      </a:lvl8pPr>
      <a:lvl9pPr marL="1371600" algn="l" defTabSz="727472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AA2B3E"/>
          </a:solidFill>
          <a:latin typeface="Arial" panose="020B0604020202020204" pitchFamily="34" charset="0"/>
        </a:defRPr>
      </a:lvl9pPr>
    </p:titleStyle>
    <p:bodyStyle>
      <a:lvl1pPr marL="182166" indent="-182166" algn="l" defTabSz="676275" rtl="0" eaLnBrk="1" fontAlgn="base" hangingPunct="1">
        <a:spcBef>
          <a:spcPts val="300"/>
        </a:spcBef>
        <a:spcAft>
          <a:spcPts val="150"/>
        </a:spcAft>
        <a:buClr>
          <a:schemeClr val="tx2"/>
        </a:buClr>
        <a:buSzPct val="120000"/>
        <a:buFont typeface="Lucida Grande" panose="020B0600040502020204" pitchFamily="34" charset="0"/>
        <a:buChar char="‣"/>
        <a:defRPr sz="21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95300" indent="-227410" algn="l" defTabSz="676275" rtl="0" eaLnBrk="1" fontAlgn="base" hangingPunct="1">
        <a:spcBef>
          <a:spcPts val="150"/>
        </a:spcBef>
        <a:spcAft>
          <a:spcPts val="150"/>
        </a:spcAft>
        <a:buClr>
          <a:schemeClr val="tx1"/>
        </a:buClr>
        <a:buSzPct val="110000"/>
        <a:buFont typeface="Arial" panose="020B0604020202020204" pitchFamily="34" charset="0"/>
        <a:buChar char="•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2pPr>
      <a:lvl3pPr marL="808435" indent="-227410" algn="l" defTabSz="676275" rtl="0" eaLnBrk="1" fontAlgn="base" hangingPunct="1">
        <a:spcBef>
          <a:spcPts val="150"/>
        </a:spcBef>
        <a:spcAft>
          <a:spcPts val="150"/>
        </a:spcAft>
        <a:buClr>
          <a:schemeClr val="accent1"/>
        </a:buClr>
        <a:buFont typeface="Arial" panose="020B0604020202020204" pitchFamily="34" charset="0"/>
        <a:buChar char="–"/>
        <a:defRPr sz="1500" b="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3pPr>
      <a:lvl4pPr marL="1078706" indent="-184547" algn="l" defTabSz="676275" rtl="0" eaLnBrk="1" fontAlgn="base" hangingPunct="1">
        <a:spcBef>
          <a:spcPts val="150"/>
        </a:spcBef>
        <a:spcAft>
          <a:spcPts val="150"/>
        </a:spcAft>
        <a:buClr>
          <a:schemeClr val="tx2"/>
        </a:buClr>
        <a:buFont typeface="Arial" panose="020B0604020202020204" pitchFamily="34" charset="0"/>
        <a:buChar char="•"/>
        <a:defRPr sz="135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4pPr>
      <a:lvl5pPr marL="1346597" indent="-182166" algn="l" defTabSz="676275" rtl="0" eaLnBrk="1" fontAlgn="base" hangingPunct="1">
        <a:spcBef>
          <a:spcPts val="150"/>
        </a:spcBef>
        <a:spcAft>
          <a:spcPts val="150"/>
        </a:spcAft>
        <a:buClr>
          <a:schemeClr val="tx2"/>
        </a:buClr>
        <a:buFont typeface="Franklin Gothic Book" panose="020B0503020102020204" pitchFamily="34" charset="0"/>
        <a:buChar char="–"/>
        <a:defRPr sz="12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0.png"/><Relationship Id="rId4" Type="http://schemas.openxmlformats.org/officeDocument/2006/relationships/image" Target="../media/image20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3D39C-A9F7-0AC6-822B-0338F6165C1A}"/>
              </a:ext>
            </a:extLst>
          </p:cNvPr>
          <p:cNvSpPr>
            <a:spLocks noGrp="1"/>
          </p:cNvSpPr>
          <p:nvPr>
            <p:ph type="ctrTitle" sz="quarter"/>
          </p:nvPr>
        </p:nvSpPr>
        <p:spPr>
          <a:xfrm>
            <a:off x="603505" y="3284440"/>
            <a:ext cx="10966453" cy="738664"/>
          </a:xfrm>
        </p:spPr>
        <p:txBody>
          <a:bodyPr/>
          <a:lstStyle/>
          <a:p>
            <a:r>
              <a:rPr lang="en-US" dirty="0"/>
              <a:t>A Two-Stage Modeling Approach to Risk Prediction with High-Dimensional</a:t>
            </a:r>
            <a:br>
              <a:rPr lang="en-US" dirty="0"/>
            </a:br>
            <a:r>
              <a:rPr lang="en-US" dirty="0"/>
              <a:t>Two-Phase Data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E53C084-0569-2CC0-F0DA-14120F49DB5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2774" y="4262628"/>
            <a:ext cx="10966451" cy="1533753"/>
          </a:xfrm>
        </p:spPr>
        <p:txBody>
          <a:bodyPr/>
          <a:lstStyle/>
          <a:p>
            <a:r>
              <a:rPr lang="en-US" sz="1400" dirty="0">
                <a:solidFill>
                  <a:srgbClr val="444444"/>
                </a:solidFill>
              </a:rPr>
              <a:t>Jill S. Hasler</a:t>
            </a:r>
            <a:r>
              <a:rPr lang="en-US" altLang="zh-CN" sz="1400" baseline="30000" dirty="0">
                <a:solidFill>
                  <a:srgbClr val="444444"/>
                </a:solidFill>
              </a:rPr>
              <a:t>1,2,</a:t>
            </a:r>
            <a:r>
              <a:rPr lang="en-US" sz="1400" baseline="30000" dirty="0">
                <a:solidFill>
                  <a:srgbClr val="444444"/>
                </a:solidFill>
              </a:rPr>
              <a:t>†</a:t>
            </a:r>
            <a:r>
              <a:rPr lang="en-US" sz="1400" dirty="0">
                <a:solidFill>
                  <a:srgbClr val="444444"/>
                </a:solidFill>
              </a:rPr>
              <a:t>, </a:t>
            </a:r>
            <a:r>
              <a:rPr lang="en-US" sz="1400" b="1" dirty="0">
                <a:solidFill>
                  <a:srgbClr val="444444"/>
                </a:solidFill>
              </a:rPr>
              <a:t>Chenyu Bi</a:t>
            </a:r>
            <a:r>
              <a:rPr lang="en-US" sz="1400" b="1" baseline="30000" dirty="0">
                <a:solidFill>
                  <a:srgbClr val="444444"/>
                </a:solidFill>
              </a:rPr>
              <a:t>1,†</a:t>
            </a:r>
            <a:r>
              <a:rPr lang="en-US" sz="1400" b="1" dirty="0">
                <a:solidFill>
                  <a:srgbClr val="444444"/>
                </a:solidFill>
              </a:rPr>
              <a:t>, </a:t>
            </a:r>
            <a:r>
              <a:rPr lang="en-US" sz="1400" dirty="0" err="1">
                <a:solidFill>
                  <a:srgbClr val="444444"/>
                </a:solidFill>
              </a:rPr>
              <a:t>Changcheng</a:t>
            </a:r>
            <a:r>
              <a:rPr lang="en-US" sz="1400" dirty="0">
                <a:solidFill>
                  <a:srgbClr val="444444"/>
                </a:solidFill>
              </a:rPr>
              <a:t> Li</a:t>
            </a:r>
            <a:r>
              <a:rPr lang="en-US" sz="1400" baseline="30000" dirty="0">
                <a:solidFill>
                  <a:srgbClr val="444444"/>
                </a:solidFill>
              </a:rPr>
              <a:t>3</a:t>
            </a:r>
            <a:r>
              <a:rPr lang="en-US" sz="1400" dirty="0">
                <a:solidFill>
                  <a:srgbClr val="444444"/>
                </a:solidFill>
              </a:rPr>
              <a:t>,</a:t>
            </a:r>
            <a:r>
              <a:rPr lang="zh-CN" altLang="en-US" sz="1400" dirty="0">
                <a:solidFill>
                  <a:srgbClr val="444444"/>
                </a:solidFill>
              </a:rPr>
              <a:t> </a:t>
            </a:r>
            <a:r>
              <a:rPr lang="en-US" sz="1400" dirty="0">
                <a:solidFill>
                  <a:srgbClr val="444444"/>
                </a:solidFill>
              </a:rPr>
              <a:t>Ravi B. Parikh</a:t>
            </a:r>
            <a:r>
              <a:rPr lang="en-US" sz="1400" baseline="30000" dirty="0">
                <a:solidFill>
                  <a:srgbClr val="444444"/>
                </a:solidFill>
              </a:rPr>
              <a:t>4</a:t>
            </a:r>
            <a:r>
              <a:rPr lang="en-US" sz="1400" dirty="0">
                <a:solidFill>
                  <a:srgbClr val="444444"/>
                </a:solidFill>
              </a:rPr>
              <a:t>, Weidong Ma</a:t>
            </a:r>
            <a:r>
              <a:rPr lang="en-US" sz="1400" baseline="30000" dirty="0">
                <a:solidFill>
                  <a:srgbClr val="444444"/>
                </a:solidFill>
              </a:rPr>
              <a:t>1</a:t>
            </a:r>
            <a:r>
              <a:rPr lang="en-US" sz="1400" dirty="0">
                <a:solidFill>
                  <a:srgbClr val="444444"/>
                </a:solidFill>
              </a:rPr>
              <a:t>, Jinbo Chen</a:t>
            </a:r>
            <a:r>
              <a:rPr lang="en-US" sz="1400" baseline="30000" dirty="0">
                <a:solidFill>
                  <a:srgbClr val="444444"/>
                </a:solidFill>
              </a:rPr>
              <a:t>1</a:t>
            </a:r>
          </a:p>
          <a:p>
            <a:br>
              <a:rPr lang="en-US" sz="1200" dirty="0"/>
            </a:br>
            <a:r>
              <a:rPr lang="en-US" altLang="zh-CN" sz="1200" baseline="30000" dirty="0"/>
              <a:t>1</a:t>
            </a:r>
            <a:r>
              <a:rPr lang="zh-CN" altLang="en-US" sz="1200" baseline="30000" dirty="0"/>
              <a:t> </a:t>
            </a:r>
            <a:r>
              <a:rPr lang="en-US" sz="1200" dirty="0"/>
              <a:t>University of Pennsylvania, USA</a:t>
            </a:r>
            <a:br>
              <a:rPr lang="en-US" sz="1200" dirty="0"/>
            </a:br>
            <a:r>
              <a:rPr lang="en-US" altLang="zh-CN" sz="1200" baseline="30000" dirty="0"/>
              <a:t>2</a:t>
            </a:r>
            <a:r>
              <a:rPr lang="zh-CN" altLang="en-US" sz="1200" baseline="30000" dirty="0"/>
              <a:t> </a:t>
            </a:r>
            <a:r>
              <a:rPr lang="en-US" sz="1200" dirty="0"/>
              <a:t>Fox Chase Cancer Center, USA</a:t>
            </a:r>
            <a:br>
              <a:rPr lang="en-US" sz="1200" dirty="0"/>
            </a:br>
            <a:r>
              <a:rPr lang="en-US" altLang="zh-CN" sz="1200" baseline="30000" dirty="0"/>
              <a:t>3</a:t>
            </a:r>
            <a:r>
              <a:rPr lang="zh-CN" altLang="en-US" sz="1200" baseline="30000" dirty="0"/>
              <a:t> </a:t>
            </a:r>
            <a:r>
              <a:rPr lang="en-US" sz="1200" dirty="0"/>
              <a:t>Dalian University of Technology, China</a:t>
            </a:r>
            <a:br>
              <a:rPr lang="en-US" sz="1200" dirty="0"/>
            </a:br>
            <a:r>
              <a:rPr lang="en-US" altLang="zh-CN" sz="1200" baseline="30000" dirty="0"/>
              <a:t>4</a:t>
            </a:r>
            <a:r>
              <a:rPr lang="zh-CN" altLang="en-US" sz="1200" dirty="0"/>
              <a:t> </a:t>
            </a:r>
            <a:r>
              <a:rPr lang="en-US" sz="1200" dirty="0"/>
              <a:t>Emory University, USA</a:t>
            </a:r>
            <a:br>
              <a:rPr lang="en-US" sz="1200" dirty="0"/>
            </a:br>
            <a:br>
              <a:rPr lang="en-US" sz="1200" dirty="0"/>
            </a:br>
            <a:r>
              <a:rPr lang="en-US" sz="1200" baseline="30000" dirty="0"/>
              <a:t>† </a:t>
            </a:r>
            <a:r>
              <a:rPr lang="en-US" sz="1200" dirty="0"/>
              <a:t>Co-first authors</a:t>
            </a:r>
            <a:endParaRPr lang="en-US" sz="1200" baseline="30000" dirty="0"/>
          </a:p>
        </p:txBody>
      </p:sp>
    </p:spTree>
    <p:extLst>
      <p:ext uri="{BB962C8B-B14F-4D97-AF65-F5344CB8AC3E}">
        <p14:creationId xmlns:p14="http://schemas.microsoft.com/office/powerpoint/2010/main" val="203151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02A4D-0239-AE55-F140-E003FA094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368" y="476873"/>
            <a:ext cx="11074576" cy="430887"/>
          </a:xfrm>
        </p:spPr>
        <p:txBody>
          <a:bodyPr/>
          <a:lstStyle/>
          <a:p>
            <a:r>
              <a:rPr lang="en-US" sz="2800" dirty="0">
                <a:latin typeface="Calibri"/>
                <a:ea typeface="+mn-lt"/>
                <a:cs typeface="+mn-lt"/>
              </a:rPr>
              <a:t>External Data: Improves Prediction but Often Incomplete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647366-811C-7603-0F89-A66BB05B4D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1673" y="4069207"/>
            <a:ext cx="11074576" cy="2069511"/>
          </a:xfrm>
        </p:spPr>
        <p:txBody>
          <a:bodyPr/>
          <a:lstStyle/>
          <a:p>
            <a:pPr marL="0" indent="0">
              <a:buNone/>
            </a:pPr>
            <a:r>
              <a:rPr lang="en-US" sz="2200" b="1" dirty="0">
                <a:latin typeface="Calibri Light" panose="020F0302020204030204" pitchFamily="34" charset="0"/>
                <a:ea typeface="+mn-lt"/>
                <a:cs typeface="Calibri Light" panose="020F0302020204030204" pitchFamily="34" charset="0"/>
              </a:rPr>
              <a:t>Advantages of combined data:</a:t>
            </a: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latin typeface="Calibri Light" panose="020F0302020204030204" pitchFamily="34" charset="0"/>
                <a:ea typeface="+mn-lt"/>
                <a:cs typeface="Calibri Light" panose="020F0302020204030204" pitchFamily="34" charset="0"/>
              </a:rPr>
              <a:t>EHRs provide rich data but miss granular patient information</a:t>
            </a: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latin typeface="Calibri Light" panose="020F0302020204030204" pitchFamily="34" charset="0"/>
                <a:ea typeface="+mn-lt"/>
                <a:cs typeface="Calibri Light" panose="020F0302020204030204" pitchFamily="34" charset="0"/>
              </a:rPr>
              <a:t>External data captures these missing details</a:t>
            </a:r>
          </a:p>
          <a:p>
            <a:pPr marL="0" indent="0">
              <a:buNone/>
            </a:pPr>
            <a:r>
              <a:rPr lang="zh-CN" altLang="en-US" sz="2200" b="1" dirty="0">
                <a:latin typeface="Calibri Light" panose="020F0302020204030204" pitchFamily="34" charset="0"/>
                <a:ea typeface="+mn-lt"/>
                <a:cs typeface="Calibri Light" panose="020F0302020204030204" pitchFamily="34" charset="0"/>
              </a:rPr>
              <a:t>     </a:t>
            </a:r>
            <a:r>
              <a:rPr lang="en-US" sz="2200" b="1" dirty="0">
                <a:latin typeface="Calibri Light" panose="020F0302020204030204" pitchFamily="34" charset="0"/>
                <a:ea typeface="+mn-lt"/>
                <a:cs typeface="Calibri Light" panose="020F0302020204030204" pitchFamily="34" charset="0"/>
              </a:rPr>
              <a:t>However, external data</a:t>
            </a:r>
            <a:r>
              <a:rPr lang="zh-CN" altLang="en-US" sz="2200" b="1" dirty="0">
                <a:latin typeface="Calibri Light" panose="020F0302020204030204" pitchFamily="34" charset="0"/>
                <a:ea typeface="+mn-lt"/>
                <a:cs typeface="Calibri Light" panose="020F0302020204030204" pitchFamily="34" charset="0"/>
              </a:rPr>
              <a:t> </a:t>
            </a:r>
            <a:r>
              <a:rPr lang="en-US" altLang="zh-CN" sz="2200" b="1" dirty="0">
                <a:latin typeface="Calibri Light" panose="020F0302020204030204" pitchFamily="34" charset="0"/>
                <a:ea typeface="+mn-lt"/>
                <a:cs typeface="Calibri Light" panose="020F0302020204030204" pitchFamily="34" charset="0"/>
              </a:rPr>
              <a:t>is</a:t>
            </a:r>
            <a:r>
              <a:rPr lang="zh-CN" altLang="en-US" sz="2200" b="1" dirty="0">
                <a:latin typeface="Calibri Light" panose="020F0302020204030204" pitchFamily="34" charset="0"/>
                <a:ea typeface="+mn-lt"/>
                <a:cs typeface="Calibri Light" panose="020F0302020204030204" pitchFamily="34" charset="0"/>
              </a:rPr>
              <a:t> </a:t>
            </a:r>
            <a:r>
              <a:rPr lang="en-US" altLang="zh-CN" sz="2200" b="1" dirty="0">
                <a:latin typeface="Calibri Light" panose="020F0302020204030204" pitchFamily="34" charset="0"/>
                <a:ea typeface="+mn-lt"/>
                <a:cs typeface="Calibri Light" panose="020F0302020204030204" pitchFamily="34" charset="0"/>
              </a:rPr>
              <a:t>often</a:t>
            </a:r>
            <a:r>
              <a:rPr lang="zh-CN" altLang="en-US" sz="2200" b="1" dirty="0">
                <a:latin typeface="Calibri Light" panose="020F0302020204030204" pitchFamily="34" charset="0"/>
                <a:ea typeface="+mn-lt"/>
                <a:cs typeface="Calibri Light" panose="020F0302020204030204" pitchFamily="34" charset="0"/>
              </a:rPr>
              <a:t> </a:t>
            </a:r>
            <a:r>
              <a:rPr lang="en-US" altLang="zh-CN" sz="2200" b="1" dirty="0">
                <a:latin typeface="Calibri Light" panose="020F0302020204030204" pitchFamily="34" charset="0"/>
                <a:ea typeface="+mn-lt"/>
                <a:cs typeface="Calibri Light" panose="020F0302020204030204" pitchFamily="34" charset="0"/>
              </a:rPr>
              <a:t>only</a:t>
            </a:r>
            <a:r>
              <a:rPr lang="zh-CN" altLang="en-US" sz="2200" b="1" dirty="0">
                <a:latin typeface="Calibri Light" panose="020F0302020204030204" pitchFamily="34" charset="0"/>
                <a:ea typeface="+mn-lt"/>
                <a:cs typeface="Calibri Light" panose="020F0302020204030204" pitchFamily="34" charset="0"/>
              </a:rPr>
              <a:t> </a:t>
            </a:r>
            <a:r>
              <a:rPr lang="en-US" altLang="zh-CN" sz="2200" b="1" dirty="0">
                <a:latin typeface="Calibri Light" panose="020F0302020204030204" pitchFamily="34" charset="0"/>
                <a:ea typeface="+mn-lt"/>
                <a:cs typeface="Calibri Light" panose="020F0302020204030204" pitchFamily="34" charset="0"/>
              </a:rPr>
              <a:t>available</a:t>
            </a:r>
            <a:r>
              <a:rPr lang="zh-CN" altLang="en-US" sz="2200" b="1" dirty="0">
                <a:latin typeface="Calibri Light" panose="020F0302020204030204" pitchFamily="34" charset="0"/>
                <a:ea typeface="+mn-lt"/>
                <a:cs typeface="Calibri Light" panose="020F0302020204030204" pitchFamily="34" charset="0"/>
              </a:rPr>
              <a:t> </a:t>
            </a:r>
            <a:r>
              <a:rPr lang="en-US" altLang="zh-CN" sz="2200" b="1" dirty="0">
                <a:latin typeface="Calibri Light" panose="020F0302020204030204" pitchFamily="34" charset="0"/>
                <a:ea typeface="+mn-lt"/>
                <a:cs typeface="Calibri Light" panose="020F0302020204030204" pitchFamily="34" charset="0"/>
              </a:rPr>
              <a:t>for</a:t>
            </a:r>
            <a:r>
              <a:rPr lang="zh-CN" altLang="en-US" sz="2200" b="1" dirty="0">
                <a:latin typeface="Calibri Light" panose="020F0302020204030204" pitchFamily="34" charset="0"/>
                <a:ea typeface="+mn-lt"/>
                <a:cs typeface="Calibri Light" panose="020F0302020204030204" pitchFamily="34" charset="0"/>
              </a:rPr>
              <a:t> </a:t>
            </a:r>
            <a:r>
              <a:rPr lang="en-US" altLang="zh-CN" sz="2200" b="1" dirty="0">
                <a:latin typeface="Calibri Light" panose="020F0302020204030204" pitchFamily="34" charset="0"/>
                <a:ea typeface="+mn-lt"/>
                <a:cs typeface="Calibri Light" panose="020F0302020204030204" pitchFamily="34" charset="0"/>
              </a:rPr>
              <a:t>a</a:t>
            </a:r>
            <a:r>
              <a:rPr lang="zh-CN" altLang="en-US" sz="2200" b="1" dirty="0">
                <a:latin typeface="Calibri Light" panose="020F0302020204030204" pitchFamily="34" charset="0"/>
                <a:ea typeface="+mn-lt"/>
                <a:cs typeface="Calibri Light" panose="020F0302020204030204" pitchFamily="34" charset="0"/>
              </a:rPr>
              <a:t> </a:t>
            </a:r>
            <a:r>
              <a:rPr lang="en-US" altLang="zh-CN" sz="2200" b="1" dirty="0">
                <a:latin typeface="Calibri Light" panose="020F0302020204030204" pitchFamily="34" charset="0"/>
                <a:ea typeface="+mn-lt"/>
                <a:cs typeface="Calibri Light" panose="020F0302020204030204" pitchFamily="34" charset="0"/>
              </a:rPr>
              <a:t>subset</a:t>
            </a:r>
            <a:r>
              <a:rPr lang="zh-CN" altLang="en-US" sz="2200" b="1" dirty="0">
                <a:latin typeface="Calibri Light" panose="020F0302020204030204" pitchFamily="34" charset="0"/>
                <a:ea typeface="+mn-lt"/>
                <a:cs typeface="Calibri Light" panose="020F0302020204030204" pitchFamily="34" charset="0"/>
              </a:rPr>
              <a:t> </a:t>
            </a:r>
            <a:r>
              <a:rPr lang="en-US" altLang="zh-CN" sz="2200" b="1" dirty="0">
                <a:latin typeface="Calibri Light" panose="020F0302020204030204" pitchFamily="34" charset="0"/>
                <a:ea typeface="+mn-lt"/>
                <a:cs typeface="Calibri Light" panose="020F0302020204030204" pitchFamily="34" charset="0"/>
              </a:rPr>
              <a:t>of</a:t>
            </a:r>
            <a:r>
              <a:rPr lang="zh-CN" altLang="en-US" sz="2200" b="1" dirty="0">
                <a:latin typeface="Calibri Light" panose="020F0302020204030204" pitchFamily="34" charset="0"/>
                <a:ea typeface="+mn-lt"/>
                <a:cs typeface="Calibri Light" panose="020F0302020204030204" pitchFamily="34" charset="0"/>
              </a:rPr>
              <a:t> </a:t>
            </a:r>
            <a:r>
              <a:rPr lang="en-US" altLang="zh-CN" sz="2200" b="1" dirty="0">
                <a:latin typeface="Calibri Light" panose="020F0302020204030204" pitchFamily="34" charset="0"/>
                <a:ea typeface="+mn-lt"/>
                <a:cs typeface="Calibri Light" panose="020F0302020204030204" pitchFamily="34" charset="0"/>
              </a:rPr>
              <a:t>patients</a:t>
            </a:r>
            <a:endParaRPr lang="en-US" sz="2200" b="1" dirty="0">
              <a:latin typeface="Calibri Light" panose="020F0302020204030204" pitchFamily="34" charset="0"/>
              <a:ea typeface="+mn-lt"/>
              <a:cs typeface="Calibri Light" panose="020F0302020204030204" pitchFamily="34" charset="0"/>
            </a:endParaRPr>
          </a:p>
          <a:p>
            <a:endParaRPr lang="en-US" dirty="0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F3144839-BD1F-5751-8060-E5799ED462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4776068"/>
              </p:ext>
            </p:extLst>
          </p:nvPr>
        </p:nvGraphicFramePr>
        <p:xfrm>
          <a:off x="1078209" y="1324997"/>
          <a:ext cx="5227550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299">
                  <a:extLst>
                    <a:ext uri="{9D8B030D-6E8A-4147-A177-3AD203B41FA5}">
                      <a16:colId xmlns:a16="http://schemas.microsoft.com/office/drawing/2014/main" val="4219362635"/>
                    </a:ext>
                  </a:extLst>
                </a:gridCol>
                <a:gridCol w="928775">
                  <a:extLst>
                    <a:ext uri="{9D8B030D-6E8A-4147-A177-3AD203B41FA5}">
                      <a16:colId xmlns:a16="http://schemas.microsoft.com/office/drawing/2014/main" val="507057227"/>
                    </a:ext>
                  </a:extLst>
                </a:gridCol>
                <a:gridCol w="867019">
                  <a:extLst>
                    <a:ext uri="{9D8B030D-6E8A-4147-A177-3AD203B41FA5}">
                      <a16:colId xmlns:a16="http://schemas.microsoft.com/office/drawing/2014/main" val="3006882644"/>
                    </a:ext>
                  </a:extLst>
                </a:gridCol>
                <a:gridCol w="929152">
                  <a:extLst>
                    <a:ext uri="{9D8B030D-6E8A-4147-A177-3AD203B41FA5}">
                      <a16:colId xmlns:a16="http://schemas.microsoft.com/office/drawing/2014/main" val="1786101053"/>
                    </a:ext>
                  </a:extLst>
                </a:gridCol>
                <a:gridCol w="613305">
                  <a:extLst>
                    <a:ext uri="{9D8B030D-6E8A-4147-A177-3AD203B41FA5}">
                      <a16:colId xmlns:a16="http://schemas.microsoft.com/office/drawing/2014/main" val="4103101860"/>
                    </a:ext>
                  </a:extLst>
                </a:gridCol>
              </a:tblGrid>
              <a:tr h="358269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Patient</a:t>
                      </a:r>
                      <a:r>
                        <a:rPr lang="zh-CN" altLang="en-US" sz="2000" b="0" i="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endParaRPr lang="en-US" sz="2000" b="0" i="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Sex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SBP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1176397"/>
                  </a:ext>
                </a:extLst>
              </a:tr>
              <a:tr h="35339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i="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A</a:t>
                      </a:r>
                      <a:endParaRPr lang="en-US" sz="2000" b="0" i="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b="0" i="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4525933"/>
                  </a:ext>
                </a:extLst>
              </a:tr>
              <a:tr h="35339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i="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B</a:t>
                      </a:r>
                      <a:endParaRPr lang="en-US" sz="2000" b="0" i="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114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b="0" i="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8293681"/>
                  </a:ext>
                </a:extLst>
              </a:tr>
              <a:tr h="28951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i="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C</a:t>
                      </a:r>
                      <a:endParaRPr lang="en-US" sz="2000" b="0" i="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b="0" i="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6194245"/>
                  </a:ext>
                </a:extLst>
              </a:tr>
              <a:tr h="353397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b="0" i="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b="0" i="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b="0" i="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b="0" i="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7796378"/>
                  </a:ext>
                </a:extLst>
              </a:tr>
            </a:tbl>
          </a:graphicData>
        </a:graphic>
      </p:graphicFrame>
      <p:pic>
        <p:nvPicPr>
          <p:cNvPr id="15" name="Picture 14" descr="A person with brown hair and a striped shirt&#10;&#10;AI-generated content may be incorrect.">
            <a:extLst>
              <a:ext uri="{FF2B5EF4-FFF2-40B4-BE49-F238E27FC236}">
                <a16:creationId xmlns:a16="http://schemas.microsoft.com/office/drawing/2014/main" id="{E5495F05-2935-F9C5-4558-E63DEB91B4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934" y="2559234"/>
            <a:ext cx="329997" cy="329997"/>
          </a:xfrm>
          <a:prstGeom prst="rect">
            <a:avLst/>
          </a:prstGeom>
        </p:spPr>
      </p:pic>
      <p:pic>
        <p:nvPicPr>
          <p:cNvPr id="16" name="Picture 15" descr="A person in a striped shirt&#10;&#10;AI-generated content may be incorrect.">
            <a:extLst>
              <a:ext uri="{FF2B5EF4-FFF2-40B4-BE49-F238E27FC236}">
                <a16:creationId xmlns:a16="http://schemas.microsoft.com/office/drawing/2014/main" id="{1AF87FF3-8CD5-02B6-D31C-DDD75A575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933" y="2156631"/>
            <a:ext cx="329998" cy="329998"/>
          </a:xfrm>
          <a:prstGeom prst="rect">
            <a:avLst/>
          </a:prstGeom>
        </p:spPr>
      </p:pic>
      <p:pic>
        <p:nvPicPr>
          <p:cNvPr id="17" name="Picture 16" descr="A person in a striped shirt&#10;&#10;AI-generated content may be incorrect.">
            <a:extLst>
              <a:ext uri="{FF2B5EF4-FFF2-40B4-BE49-F238E27FC236}">
                <a16:creationId xmlns:a16="http://schemas.microsoft.com/office/drawing/2014/main" id="{8CA82590-7D3B-6080-5652-5AA8C27896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933" y="1761718"/>
            <a:ext cx="329998" cy="329998"/>
          </a:xfrm>
          <a:prstGeom prst="rect">
            <a:avLst/>
          </a:prstGeom>
        </p:spPr>
      </p:pic>
      <p:sp>
        <p:nvSpPr>
          <p:cNvPr id="18" name="Left Brace 17">
            <a:extLst>
              <a:ext uri="{FF2B5EF4-FFF2-40B4-BE49-F238E27FC236}">
                <a16:creationId xmlns:a16="http://schemas.microsoft.com/office/drawing/2014/main" id="{0D612A5D-DAF2-63BC-294B-90F5FE4BE7BB}"/>
              </a:ext>
            </a:extLst>
          </p:cNvPr>
          <p:cNvSpPr/>
          <p:nvPr/>
        </p:nvSpPr>
        <p:spPr>
          <a:xfrm rot="16200000">
            <a:off x="4514426" y="1782944"/>
            <a:ext cx="252205" cy="3296864"/>
          </a:xfrm>
          <a:prstGeom prst="leftBrac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ED1F7B3-A246-84E8-6374-82EFB360D7A3}"/>
              </a:ext>
            </a:extLst>
          </p:cNvPr>
          <p:cNvSpPr txBox="1"/>
          <p:nvPr/>
        </p:nvSpPr>
        <p:spPr>
          <a:xfrm>
            <a:off x="3800734" y="3557479"/>
            <a:ext cx="191209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dirty="0">
                <a:solidFill>
                  <a:schemeClr val="accent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Complete</a:t>
            </a:r>
            <a:r>
              <a:rPr lang="zh-CN" altLang="en-US" dirty="0">
                <a:solidFill>
                  <a:schemeClr val="accent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dirty="0">
                <a:solidFill>
                  <a:schemeClr val="accent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EHR</a:t>
            </a:r>
            <a:r>
              <a:rPr lang="zh-CN" altLang="en-US" dirty="0">
                <a:solidFill>
                  <a:schemeClr val="accent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altLang="zh-CN" dirty="0">
                <a:solidFill>
                  <a:schemeClr val="accent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Data</a:t>
            </a:r>
            <a:endParaRPr lang="en-US" dirty="0">
              <a:solidFill>
                <a:schemeClr val="accent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0" name="Left Brace 19">
            <a:extLst>
              <a:ext uri="{FF2B5EF4-FFF2-40B4-BE49-F238E27FC236}">
                <a16:creationId xmlns:a16="http://schemas.microsoft.com/office/drawing/2014/main" id="{C8D84EB3-5D12-6742-556B-8168FE8B0DB6}"/>
              </a:ext>
            </a:extLst>
          </p:cNvPr>
          <p:cNvSpPr/>
          <p:nvPr/>
        </p:nvSpPr>
        <p:spPr>
          <a:xfrm rot="16200000">
            <a:off x="8638001" y="979622"/>
            <a:ext cx="252206" cy="4897314"/>
          </a:xfrm>
          <a:prstGeom prst="leftBrace">
            <a:avLst/>
          </a:prstGeom>
          <a:ln>
            <a:solidFill>
              <a:srgbClr val="99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9F21A97-D623-5FD7-3883-2DAE59AC5EB5}"/>
              </a:ext>
            </a:extLst>
          </p:cNvPr>
          <p:cNvSpPr txBox="1"/>
          <p:nvPr/>
        </p:nvSpPr>
        <p:spPr>
          <a:xfrm>
            <a:off x="7879765" y="3561933"/>
            <a:ext cx="217863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dirty="0">
                <a:solidFill>
                  <a:srgbClr val="99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Incomplete</a:t>
            </a:r>
            <a:r>
              <a:rPr lang="zh-CN" altLang="en-US" dirty="0">
                <a:solidFill>
                  <a:srgbClr val="99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dirty="0">
                <a:solidFill>
                  <a:srgbClr val="99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PRO</a:t>
            </a:r>
            <a:r>
              <a:rPr lang="zh-CN" altLang="en-US" dirty="0">
                <a:solidFill>
                  <a:srgbClr val="99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altLang="zh-CN" dirty="0">
                <a:solidFill>
                  <a:srgbClr val="99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Data</a:t>
            </a:r>
            <a:endParaRPr lang="en-US" dirty="0">
              <a:solidFill>
                <a:srgbClr val="99000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CD0B344B-B69E-2AC0-58A6-10B46A182A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673" y="5334542"/>
            <a:ext cx="251882" cy="251882"/>
          </a:xfrm>
          <a:prstGeom prst="rect">
            <a:avLst/>
          </a:prstGeom>
        </p:spPr>
      </p:pic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1B34E2C3-D70C-6F7C-9431-C36596A8FE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966680"/>
              </p:ext>
            </p:extLst>
          </p:nvPr>
        </p:nvGraphicFramePr>
        <p:xfrm>
          <a:off x="6298648" y="1324684"/>
          <a:ext cx="4914111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4714">
                  <a:extLst>
                    <a:ext uri="{9D8B030D-6E8A-4147-A177-3AD203B41FA5}">
                      <a16:colId xmlns:a16="http://schemas.microsoft.com/office/drawing/2014/main" val="3000997158"/>
                    </a:ext>
                  </a:extLst>
                </a:gridCol>
                <a:gridCol w="2361869">
                  <a:extLst>
                    <a:ext uri="{9D8B030D-6E8A-4147-A177-3AD203B41FA5}">
                      <a16:colId xmlns:a16="http://schemas.microsoft.com/office/drawing/2014/main" val="276431600"/>
                    </a:ext>
                  </a:extLst>
                </a:gridCol>
                <a:gridCol w="657528">
                  <a:extLst>
                    <a:ext uri="{9D8B030D-6E8A-4147-A177-3AD203B41FA5}">
                      <a16:colId xmlns:a16="http://schemas.microsoft.com/office/drawing/2014/main" val="1001465681"/>
                    </a:ext>
                  </a:extLst>
                </a:gridCol>
              </a:tblGrid>
              <a:tr h="386792"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US" sz="2000" b="0" i="0" kern="1200" dirty="0">
                          <a:solidFill>
                            <a:schemeClr val="lt1"/>
                          </a:solidFill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Pain score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US" sz="2000" b="0" i="0" kern="1200" dirty="0">
                          <a:solidFill>
                            <a:schemeClr val="lt1"/>
                          </a:solidFill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Fatigue score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US" sz="2000" b="0" i="0" kern="1200" dirty="0">
                          <a:solidFill>
                            <a:schemeClr val="lt1"/>
                          </a:solidFill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…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303165"/>
                  </a:ext>
                </a:extLst>
              </a:tr>
              <a:tr h="386792">
                <a:tc gridSpan="3"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US" sz="2000" b="0" i="0" kern="1200" dirty="0">
                          <a:solidFill>
                            <a:schemeClr val="lt1"/>
                          </a:solidFill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Missing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99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4899869"/>
                  </a:ext>
                </a:extLst>
              </a:tr>
              <a:tr h="386792"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endParaRPr lang="en-US" sz="2000" b="0" i="0" kern="1200" dirty="0">
                        <a:solidFill>
                          <a:schemeClr val="lt1"/>
                        </a:solidFill>
                        <a:latin typeface="Calibri Light" panose="020F0302020204030204" pitchFamily="34" charset="0"/>
                        <a:ea typeface="+mn-ea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1282673"/>
                  </a:ext>
                </a:extLst>
              </a:tr>
              <a:tr h="386792">
                <a:tc gridSpan="3">
                  <a:txBody>
                    <a:bodyPr/>
                    <a:lstStyle/>
                    <a:p>
                      <a:pPr marL="0" lvl="0" algn="ctr" defTabSz="6858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kern="1200" noProof="0" dirty="0">
                          <a:solidFill>
                            <a:schemeClr val="lt1"/>
                          </a:solidFill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Missing</a:t>
                      </a:r>
                    </a:p>
                  </a:txBody>
                  <a:tcPr>
                    <a:solidFill>
                      <a:srgbClr val="99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99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43861"/>
                  </a:ext>
                </a:extLst>
              </a:tr>
              <a:tr h="386792"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endParaRPr lang="en-US" sz="2000" b="0" i="0" kern="1200" dirty="0">
                        <a:solidFill>
                          <a:schemeClr val="lt1"/>
                        </a:solidFill>
                        <a:latin typeface="Calibri Light" panose="020F0302020204030204" pitchFamily="34" charset="0"/>
                        <a:ea typeface="+mn-ea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endParaRPr lang="en-US" sz="2000" b="0" i="0" kern="1200" dirty="0">
                        <a:solidFill>
                          <a:schemeClr val="lt1"/>
                        </a:solidFill>
                        <a:latin typeface="Calibri Light" panose="020F0302020204030204" pitchFamily="34" charset="0"/>
                        <a:ea typeface="+mn-ea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endParaRPr lang="en-US" sz="2000" b="0" i="0" kern="1200" dirty="0">
                        <a:solidFill>
                          <a:schemeClr val="lt1"/>
                        </a:solidFill>
                        <a:latin typeface="Calibri Light" panose="020F0302020204030204" pitchFamily="34" charset="0"/>
                        <a:ea typeface="+mn-ea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35673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5216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0" grpId="0" animBg="1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CFE65-A940-2697-B14C-0A74F6892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C4C3E-399C-C228-3183-9F0E43C57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368" y="476873"/>
            <a:ext cx="11074576" cy="430887"/>
          </a:xfrm>
        </p:spPr>
        <p:txBody>
          <a:bodyPr/>
          <a:lstStyle/>
          <a:p>
            <a:r>
              <a:rPr lang="en-US" sz="2800" dirty="0">
                <a:latin typeface="Calibri"/>
                <a:ea typeface="+mn-lt"/>
                <a:cs typeface="+mn-lt"/>
              </a:rPr>
              <a:t>Limitations of Common Approaches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6E2ADB4-5F07-3CD7-0417-2EFCC93E28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1673" y="1191566"/>
            <a:ext cx="11074576" cy="4331668"/>
          </a:xfrm>
        </p:spPr>
        <p:txBody>
          <a:bodyPr/>
          <a:lstStyle/>
          <a:p>
            <a:pPr marL="0" indent="0">
              <a:buNone/>
            </a:pPr>
            <a:r>
              <a:rPr lang="en-US" sz="2200" b="1" dirty="0">
                <a:latin typeface="Calibri Light" panose="020F0302020204030204" pitchFamily="34" charset="0"/>
                <a:ea typeface="+mn-lt"/>
                <a:cs typeface="Calibri Light" panose="020F0302020204030204" pitchFamily="34" charset="0"/>
              </a:rPr>
              <a:t>Complete</a:t>
            </a:r>
            <a:r>
              <a:rPr lang="en-US" altLang="zh-CN" sz="2200" b="1" dirty="0">
                <a:latin typeface="Calibri Light" panose="020F0302020204030204" pitchFamily="34" charset="0"/>
                <a:ea typeface="+mn-lt"/>
                <a:cs typeface="Calibri Light" panose="020F0302020204030204" pitchFamily="34" charset="0"/>
              </a:rPr>
              <a:t>-case</a:t>
            </a:r>
            <a:r>
              <a:rPr lang="zh-CN" altLang="en-US" sz="2200" b="1" dirty="0">
                <a:latin typeface="Calibri Light" panose="020F0302020204030204" pitchFamily="34" charset="0"/>
                <a:ea typeface="+mn-lt"/>
                <a:cs typeface="Calibri Light" panose="020F0302020204030204" pitchFamily="34" charset="0"/>
              </a:rPr>
              <a:t> </a:t>
            </a:r>
            <a:r>
              <a:rPr lang="en-US" altLang="zh-CN" sz="2200" b="1" dirty="0">
                <a:latin typeface="Calibri Light" panose="020F0302020204030204" pitchFamily="34" charset="0"/>
                <a:ea typeface="+mn-lt"/>
                <a:cs typeface="Calibri Light" panose="020F0302020204030204" pitchFamily="34" charset="0"/>
              </a:rPr>
              <a:t>Analysis</a:t>
            </a:r>
            <a:r>
              <a:rPr lang="en-US" sz="2200" b="1" dirty="0">
                <a:latin typeface="Calibri Light" panose="020F0302020204030204" pitchFamily="34" charset="0"/>
                <a:ea typeface="+mn-lt"/>
                <a:cs typeface="Calibri Light" panose="020F0302020204030204" pitchFamily="34" charset="0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libri Light" panose="020F0302020204030204" pitchFamily="34" charset="0"/>
                <a:ea typeface="+mn-lt"/>
                <a:cs typeface="Calibri Light" panose="020F0302020204030204" pitchFamily="34" charset="0"/>
              </a:rPr>
              <a:t>Reduced effective sample size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libri Light" panose="020F0302020204030204" pitchFamily="34" charset="0"/>
                <a:ea typeface="+mn-lt"/>
                <a:cs typeface="Calibri Light" panose="020F0302020204030204" pitchFamily="34" charset="0"/>
              </a:rPr>
              <a:t>Distribution shift between the external-data subset and full cohort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libri Light" panose="020F0302020204030204" pitchFamily="34" charset="0"/>
                <a:ea typeface="+mn-lt"/>
                <a:cs typeface="Calibri Light" panose="020F0302020204030204" pitchFamily="34" charset="0"/>
              </a:rPr>
              <a:t>Limited generalizability to the target population</a:t>
            </a:r>
          </a:p>
          <a:p>
            <a:pPr marL="0" indent="0">
              <a:buNone/>
            </a:pPr>
            <a:endParaRPr lang="en-US" sz="2000" dirty="0">
              <a:latin typeface="Calibri Light" panose="020F0302020204030204" pitchFamily="34" charset="0"/>
              <a:ea typeface="+mn-lt"/>
              <a:cs typeface="Calibri Light" panose="020F0302020204030204" pitchFamily="34" charset="0"/>
            </a:endParaRPr>
          </a:p>
          <a:p>
            <a:pPr marL="0" indent="0">
              <a:buNone/>
            </a:pPr>
            <a:r>
              <a:rPr lang="en-US" sz="2200" b="1" dirty="0">
                <a:latin typeface="Calibri Light" panose="020F0302020204030204" pitchFamily="34" charset="0"/>
                <a:ea typeface="+mn-lt"/>
                <a:cs typeface="Calibri Light" panose="020F0302020204030204" pitchFamily="34" charset="0"/>
              </a:rPr>
              <a:t>Imputation-based Analysis:</a:t>
            </a:r>
            <a:endParaRPr lang="en-US" altLang="en-US" sz="2200" b="1" dirty="0">
              <a:latin typeface="Calibri Light" panose="020F0302020204030204" pitchFamily="34" charset="0"/>
              <a:ea typeface="+mn-lt"/>
              <a:cs typeface="Calibri Light" panose="020F0302020204030204" pitchFamily="34" charset="0"/>
            </a:endParaRPr>
          </a:p>
          <a:p>
            <a:pPr lvl="0"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Calibri Light" panose="020F0302020204030204" pitchFamily="34" charset="0"/>
                <a:ea typeface="+mn-lt"/>
                <a:cs typeface="Calibri Light" panose="020F0302020204030204" pitchFamily="34" charset="0"/>
              </a:rPr>
              <a:t>Challenges with high-dimensional EHR predictors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Calibri Light" panose="020F0302020204030204" pitchFamily="34" charset="0"/>
                <a:ea typeface="+mn-lt"/>
                <a:cs typeface="Calibri Light" panose="020F0302020204030204" pitchFamily="34" charset="0"/>
              </a:rPr>
              <a:t>Instability under substantial missingness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Calibri Light" panose="020F0302020204030204" pitchFamily="34" charset="0"/>
                <a:ea typeface="+mn-lt"/>
                <a:cs typeface="Calibri Light" panose="020F0302020204030204" pitchFamily="34" charset="0"/>
              </a:rPr>
              <a:t>Limited accuracy under weak </a:t>
            </a:r>
            <a:r>
              <a:rPr lang="en-US" sz="2000" dirty="0">
                <a:latin typeface="Calibri Light" panose="020F0302020204030204" pitchFamily="34" charset="0"/>
                <a:ea typeface="+mn-lt"/>
                <a:cs typeface="Calibri Light" panose="020F0302020204030204" pitchFamily="34" charset="0"/>
              </a:rPr>
              <a:t>EHR–external data</a:t>
            </a:r>
            <a:r>
              <a:rPr lang="zh-CN" altLang="en-US" sz="2000" dirty="0">
                <a:latin typeface="Calibri Light" panose="020F0302020204030204" pitchFamily="34" charset="0"/>
                <a:ea typeface="+mn-lt"/>
                <a:cs typeface="Calibri Light" panose="020F0302020204030204" pitchFamily="34" charset="0"/>
              </a:rPr>
              <a:t> </a:t>
            </a:r>
            <a:r>
              <a:rPr lang="en-US" altLang="en-US" sz="2000" dirty="0">
                <a:latin typeface="Calibri Light" panose="020F0302020204030204" pitchFamily="34" charset="0"/>
                <a:ea typeface="+mn-lt"/>
                <a:cs typeface="Calibri Light" panose="020F0302020204030204" pitchFamily="34" charset="0"/>
              </a:rPr>
              <a:t>correlation</a:t>
            </a:r>
          </a:p>
          <a:p>
            <a:pPr marL="0" indent="0">
              <a:buNone/>
            </a:pPr>
            <a:endParaRPr lang="en-US" sz="2000" dirty="0">
              <a:latin typeface="Calibri Light" panose="020F0302020204030204" pitchFamily="34" charset="0"/>
              <a:ea typeface="+mn-lt"/>
              <a:cs typeface="Calibri Light" panose="020F0302020204030204" pitchFamily="34" charset="0"/>
            </a:endParaRPr>
          </a:p>
          <a:p>
            <a:pPr marL="0" indent="0">
              <a:buNone/>
            </a:pPr>
            <a:r>
              <a:rPr lang="en-US" sz="2200" b="1" dirty="0">
                <a:latin typeface="Calibri" panose="020F0502020204030204" pitchFamily="34" charset="0"/>
                <a:cs typeface="Calibri" panose="020F0502020204030204" pitchFamily="34" charset="0"/>
              </a:rPr>
              <a:t>Need a method that uses all data without direct external-data imputation</a:t>
            </a:r>
          </a:p>
        </p:txBody>
      </p:sp>
    </p:spTree>
    <p:extLst>
      <p:ext uri="{BB962C8B-B14F-4D97-AF65-F5344CB8AC3E}">
        <p14:creationId xmlns:p14="http://schemas.microsoft.com/office/powerpoint/2010/main" val="1449647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5E896-855C-F74F-3C79-88D5B6D05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61DE6-22A8-6291-8AD8-3A4427ECB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368" y="476873"/>
            <a:ext cx="11074576" cy="430887"/>
          </a:xfrm>
        </p:spPr>
        <p:txBody>
          <a:bodyPr/>
          <a:lstStyle/>
          <a:p>
            <a:r>
              <a:rPr lang="en-US" sz="2800" dirty="0">
                <a:latin typeface="Calibri"/>
                <a:ea typeface="+mn-lt"/>
                <a:cs typeface="+mn-lt"/>
              </a:rPr>
              <a:t>Reframing the Problem as Two-Phase Data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7108B2BC-2BDD-70C5-E2B1-553220352F2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65796826"/>
                  </p:ext>
                </p:extLst>
              </p:nvPr>
            </p:nvGraphicFramePr>
            <p:xfrm>
              <a:off x="751673" y="1547967"/>
              <a:ext cx="4522330" cy="248564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51664">
                      <a:extLst>
                        <a:ext uri="{9D8B030D-6E8A-4147-A177-3AD203B41FA5}">
                          <a16:colId xmlns:a16="http://schemas.microsoft.com/office/drawing/2014/main" val="4219362635"/>
                        </a:ext>
                      </a:extLst>
                    </a:gridCol>
                    <a:gridCol w="910273">
                      <a:extLst>
                        <a:ext uri="{9D8B030D-6E8A-4147-A177-3AD203B41FA5}">
                          <a16:colId xmlns:a16="http://schemas.microsoft.com/office/drawing/2014/main" val="507057227"/>
                        </a:ext>
                      </a:extLst>
                    </a:gridCol>
                    <a:gridCol w="849749">
                      <a:extLst>
                        <a:ext uri="{9D8B030D-6E8A-4147-A177-3AD203B41FA5}">
                          <a16:colId xmlns:a16="http://schemas.microsoft.com/office/drawing/2014/main" val="3006882644"/>
                        </a:ext>
                      </a:extLst>
                    </a:gridCol>
                    <a:gridCol w="910644">
                      <a:extLst>
                        <a:ext uri="{9D8B030D-6E8A-4147-A177-3AD203B41FA5}">
                          <a16:colId xmlns:a16="http://schemas.microsoft.com/office/drawing/2014/main" val="1786101053"/>
                        </a:ext>
                      </a:extLst>
                    </a:gridCol>
                  </a:tblGrid>
                  <a:tr h="36460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i="0" dirty="0"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Outcome</a:t>
                          </a: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i="0" dirty="0"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EHR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000" b="0" i="0" dirty="0">
                            <a:latin typeface="Calibri Light" panose="020F0302020204030204" pitchFamily="34" charset="0"/>
                            <a:cs typeface="Calibri Light" panose="020F0302020204030204" pitchFamily="34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000" b="0" i="0" dirty="0">
                            <a:latin typeface="Calibri Light" panose="020F0302020204030204" pitchFamily="34" charset="0"/>
                            <a:cs typeface="Calibri Light" panose="020F03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4851816"/>
                      </a:ext>
                    </a:extLst>
                  </a:tr>
                  <a:tr h="38949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solidFill>
                                <a:schemeClr val="bg1"/>
                              </a:solidFill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Y</a:t>
                          </a: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cs typeface="Calibri Light" panose="020F03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cs typeface="Calibri Light" panose="020F0302020204030204" pitchFamily="34" charset="0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cs typeface="Calibri Light" panose="020F030202020403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0" i="0" dirty="0">
                            <a:solidFill>
                              <a:schemeClr val="bg1"/>
                            </a:solidFill>
                            <a:latin typeface="Calibri Light" panose="020F0302020204030204" pitchFamily="34" charset="0"/>
                            <a:cs typeface="Calibri Light" panose="020F0302020204030204" pitchFamily="34" charset="0"/>
                          </a:endParaRPr>
                        </a:p>
                      </a:txBody>
                      <a:tcPr>
                        <a:solidFill>
                          <a:srgbClr val="326B8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solidFill>
                                <a:schemeClr val="bg1"/>
                              </a:solidFill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…</a:t>
                          </a:r>
                        </a:p>
                      </a:txBody>
                      <a:tcPr>
                        <a:solidFill>
                          <a:srgbClr val="326B8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cs typeface="Calibri Light" panose="020F03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cs typeface="Calibri Light" panose="020F0302020204030204" pitchFamily="34" charset="0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cs typeface="Calibri Light" panose="020F0302020204030204" pitchFamily="34" charset="0"/>
                                      </a:rPr>
                                      <m:t>p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0" i="0" dirty="0">
                            <a:solidFill>
                              <a:schemeClr val="bg1"/>
                            </a:solidFill>
                            <a:latin typeface="Calibri Light" panose="020F0302020204030204" pitchFamily="34" charset="0"/>
                            <a:cs typeface="Calibri Light" panose="020F0302020204030204" pitchFamily="34" charset="0"/>
                          </a:endParaRPr>
                        </a:p>
                      </a:txBody>
                      <a:tcPr>
                        <a:solidFill>
                          <a:srgbClr val="326B8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1176397"/>
                      </a:ext>
                    </a:extLst>
                  </a:tr>
                  <a:tr h="2983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Calibri Light" panose="020F03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 Light" panose="020F0302020204030204" pitchFamily="34" charset="0"/>
                                      </a:rPr>
                                      <m:t>𝓍</m:t>
                                    </m:r>
                                  </m:e>
                                  <m:sub>
                                    <m:r>
                                      <a:rPr lang="en-US" sz="20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Calibri Light" panose="020F0302020204030204" pitchFamily="34" charset="0"/>
                                      </a:rPr>
                                      <m:t>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0" i="0" kern="1200" dirty="0">
                            <a:solidFill>
                              <a:schemeClr val="dk1"/>
                            </a:solidFill>
                            <a:latin typeface="Calibri Light" panose="020F0302020204030204" pitchFamily="34" charset="0"/>
                            <a:ea typeface="+mn-ea"/>
                            <a:cs typeface="Calibri Light" panose="020F03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Calibri Light" panose="020F03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 Light" panose="020F0302020204030204" pitchFamily="34" charset="0"/>
                                      </a:rPr>
                                      <m:t>𝓍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0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 Light" panose="020F0302020204030204" pitchFamily="34" charset="0"/>
                                      </a:rPr>
                                      <m:t>p</m:t>
                                    </m:r>
                                    <m:r>
                                      <a:rPr lang="en-US" sz="20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Calibri Light" panose="020F030202020403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0" i="0" dirty="0">
                            <a:latin typeface="Calibri Light" panose="020F0302020204030204" pitchFamily="34" charset="0"/>
                            <a:cs typeface="Calibri Light" panose="020F03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44525933"/>
                      </a:ext>
                    </a:extLst>
                  </a:tr>
                  <a:tr h="2564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Calibri Light" panose="020F03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 Light" panose="020F0302020204030204" pitchFamily="34" charset="0"/>
                                      </a:rPr>
                                      <m:t>𝓍</m:t>
                                    </m:r>
                                  </m:e>
                                  <m:sub>
                                    <m:r>
                                      <a:rPr lang="en-US" sz="20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Calibri Light" panose="020F0302020204030204" pitchFamily="34" charset="0"/>
                                      </a:rPr>
                                      <m:t>12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0" i="0" dirty="0">
                            <a:latin typeface="Calibri Light" panose="020F0302020204030204" pitchFamily="34" charset="0"/>
                            <a:cs typeface="Calibri Light" panose="020F03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Calibri Light" panose="020F03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 Light" panose="020F0302020204030204" pitchFamily="34" charset="0"/>
                                      </a:rPr>
                                      <m:t>𝓍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0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 Light" panose="020F0302020204030204" pitchFamily="34" charset="0"/>
                                      </a:rPr>
                                      <m:t>p</m:t>
                                    </m:r>
                                    <m:r>
                                      <a:rPr lang="en-US" sz="20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 Light" panose="020F030202020403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0" i="0" dirty="0">
                            <a:latin typeface="Calibri Light" panose="020F0302020204030204" pitchFamily="34" charset="0"/>
                            <a:cs typeface="Calibri Light" panose="020F03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58293681"/>
                      </a:ext>
                    </a:extLst>
                  </a:tr>
                  <a:tr h="36460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Calibri Light" panose="020F03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 Light" panose="020F0302020204030204" pitchFamily="34" charset="0"/>
                                      </a:rPr>
                                      <m:t>𝓍</m:t>
                                    </m:r>
                                  </m:e>
                                  <m:sub>
                                    <m:r>
                                      <a:rPr lang="en-US" sz="20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Calibri Light" panose="020F0302020204030204" pitchFamily="34" charset="0"/>
                                      </a:rPr>
                                      <m:t>13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0" i="0" dirty="0">
                            <a:latin typeface="Calibri Light" panose="020F0302020204030204" pitchFamily="34" charset="0"/>
                            <a:cs typeface="Calibri Light" panose="020F03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Calibri Light" panose="020F03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 Light" panose="020F0302020204030204" pitchFamily="34" charset="0"/>
                                      </a:rPr>
                                      <m:t>𝓍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0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 Light" panose="020F0302020204030204" pitchFamily="34" charset="0"/>
                                      </a:rPr>
                                      <m:t>p</m:t>
                                    </m:r>
                                    <m:r>
                                      <a:rPr lang="en-US" sz="20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 Light" panose="020F0302020204030204" pitchFamily="34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0" i="0" dirty="0">
                            <a:latin typeface="Calibri Light" panose="020F0302020204030204" pitchFamily="34" charset="0"/>
                            <a:cs typeface="Calibri Light" panose="020F03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76194245"/>
                      </a:ext>
                    </a:extLst>
                  </a:tr>
                  <a:tr h="36460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i="0" dirty="0">
                            <a:latin typeface="Calibri Light" panose="020F0302020204030204" pitchFamily="34" charset="0"/>
                            <a:cs typeface="Calibri Light" panose="020F03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i="0" dirty="0">
                            <a:latin typeface="Calibri Light" panose="020F0302020204030204" pitchFamily="34" charset="0"/>
                            <a:cs typeface="Calibri Light" panose="020F03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i="0" dirty="0">
                            <a:latin typeface="Calibri Light" panose="020F0302020204030204" pitchFamily="34" charset="0"/>
                            <a:cs typeface="Calibri Light" panose="020F03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779637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7108B2BC-2BDD-70C5-E2B1-553220352F2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65796826"/>
                  </p:ext>
                </p:extLst>
              </p:nvPr>
            </p:nvGraphicFramePr>
            <p:xfrm>
              <a:off x="751673" y="1547967"/>
              <a:ext cx="4522330" cy="248564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51664">
                      <a:extLst>
                        <a:ext uri="{9D8B030D-6E8A-4147-A177-3AD203B41FA5}">
                          <a16:colId xmlns:a16="http://schemas.microsoft.com/office/drawing/2014/main" val="4219362635"/>
                        </a:ext>
                      </a:extLst>
                    </a:gridCol>
                    <a:gridCol w="910273">
                      <a:extLst>
                        <a:ext uri="{9D8B030D-6E8A-4147-A177-3AD203B41FA5}">
                          <a16:colId xmlns:a16="http://schemas.microsoft.com/office/drawing/2014/main" val="507057227"/>
                        </a:ext>
                      </a:extLst>
                    </a:gridCol>
                    <a:gridCol w="849749">
                      <a:extLst>
                        <a:ext uri="{9D8B030D-6E8A-4147-A177-3AD203B41FA5}">
                          <a16:colId xmlns:a16="http://schemas.microsoft.com/office/drawing/2014/main" val="3006882644"/>
                        </a:ext>
                      </a:extLst>
                    </a:gridCol>
                    <a:gridCol w="910644">
                      <a:extLst>
                        <a:ext uri="{9D8B030D-6E8A-4147-A177-3AD203B41FA5}">
                          <a16:colId xmlns:a16="http://schemas.microsoft.com/office/drawing/2014/main" val="1786101053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i="0" dirty="0"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Outcome</a:t>
                          </a: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i="0" dirty="0"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EHR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000" b="0" i="0" dirty="0">
                            <a:latin typeface="Calibri Light" panose="020F0302020204030204" pitchFamily="34" charset="0"/>
                            <a:cs typeface="Calibri Light" panose="020F0302020204030204" pitchFamily="34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000" b="0" i="0" dirty="0">
                            <a:latin typeface="Calibri Light" panose="020F0302020204030204" pitchFamily="34" charset="0"/>
                            <a:cs typeface="Calibri Light" panose="020F03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4851816"/>
                      </a:ext>
                    </a:extLst>
                  </a:tr>
                  <a:tr h="42329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solidFill>
                                <a:schemeClr val="bg1"/>
                              </a:solidFill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Y</a:t>
                          </a: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4167" t="-97059" r="-195833" b="-4147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solidFill>
                                <a:schemeClr val="bg1"/>
                              </a:solidFill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…</a:t>
                          </a:r>
                        </a:p>
                      </a:txBody>
                      <a:tcPr>
                        <a:solidFill>
                          <a:srgbClr val="326B8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97222" t="-97059" r="-2778" b="-41470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1176397"/>
                      </a:ext>
                    </a:extLst>
                  </a:tr>
                  <a:tr h="42329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4167" t="-197059" r="-195833" b="-3147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97222" t="-197059" r="-2778" b="-31470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44525933"/>
                      </a:ext>
                    </a:extLst>
                  </a:tr>
                  <a:tr h="42329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4167" t="-306061" r="-195833" b="-2242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97222" t="-306061" r="-2778" b="-22424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58293681"/>
                      </a:ext>
                    </a:extLst>
                  </a:tr>
                  <a:tr h="42329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4167" t="-394118" r="-195833" b="-1176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97222" t="-394118" r="-2778" b="-1176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619424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i="0" dirty="0">
                            <a:latin typeface="Calibri Light" panose="020F0302020204030204" pitchFamily="34" charset="0"/>
                            <a:cs typeface="Calibri Light" panose="020F03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i="0" dirty="0">
                            <a:latin typeface="Calibri Light" panose="020F0302020204030204" pitchFamily="34" charset="0"/>
                            <a:cs typeface="Calibri Light" panose="020F03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i="0" dirty="0">
                            <a:latin typeface="Calibri Light" panose="020F0302020204030204" pitchFamily="34" charset="0"/>
                            <a:cs typeface="Calibri Light" panose="020F03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779637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99D2279F-A069-0CE3-9BE4-00630A1F9B5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04485238"/>
                  </p:ext>
                </p:extLst>
              </p:nvPr>
            </p:nvGraphicFramePr>
            <p:xfrm>
              <a:off x="6917997" y="1547966"/>
              <a:ext cx="3883353" cy="249183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94451">
                      <a:extLst>
                        <a:ext uri="{9D8B030D-6E8A-4147-A177-3AD203B41FA5}">
                          <a16:colId xmlns:a16="http://schemas.microsoft.com/office/drawing/2014/main" val="627763386"/>
                        </a:ext>
                      </a:extLst>
                    </a:gridCol>
                    <a:gridCol w="1294451">
                      <a:extLst>
                        <a:ext uri="{9D8B030D-6E8A-4147-A177-3AD203B41FA5}">
                          <a16:colId xmlns:a16="http://schemas.microsoft.com/office/drawing/2014/main" val="107945871"/>
                        </a:ext>
                      </a:extLst>
                    </a:gridCol>
                    <a:gridCol w="1294451">
                      <a:extLst>
                        <a:ext uri="{9D8B030D-6E8A-4147-A177-3AD203B41FA5}">
                          <a16:colId xmlns:a16="http://schemas.microsoft.com/office/drawing/2014/main" val="2241916339"/>
                        </a:ext>
                      </a:extLst>
                    </a:gridCol>
                  </a:tblGrid>
                  <a:tr h="372275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i="0" dirty="0"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External Data</a:t>
                          </a:r>
                        </a:p>
                      </a:txBody>
                      <a:tcPr>
                        <a:solidFill>
                          <a:srgbClr val="99000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000" b="1" i="0" dirty="0">
                            <a:latin typeface="Calibri Light" panose="020F0302020204030204" pitchFamily="34" charset="0"/>
                            <a:cs typeface="Calibri Light" panose="020F0302020204030204" pitchFamily="34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000" b="1" i="0" dirty="0">
                            <a:latin typeface="Calibri Light" panose="020F0302020204030204" pitchFamily="34" charset="0"/>
                            <a:cs typeface="Calibri Light" panose="020F03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4851816"/>
                      </a:ext>
                    </a:extLst>
                  </a:tr>
                  <a:tr h="4103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cs typeface="Calibri Light" panose="020F03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cs typeface="Calibri Light" panose="020F0302020204030204" pitchFamily="34" charset="0"/>
                                      </a:rPr>
                                      <m:t>Z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cs typeface="Calibri Light" panose="020F030202020403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0" i="0" dirty="0">
                            <a:solidFill>
                              <a:schemeClr val="bg1"/>
                            </a:solidFill>
                            <a:latin typeface="Calibri Light" panose="020F0302020204030204" pitchFamily="34" charset="0"/>
                            <a:cs typeface="Calibri Light" panose="020F0302020204030204" pitchFamily="34" charset="0"/>
                          </a:endParaRPr>
                        </a:p>
                      </a:txBody>
                      <a:tcPr>
                        <a:solidFill>
                          <a:srgbClr val="99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>
                              <a:solidFill>
                                <a:schemeClr val="bg1"/>
                              </a:solidFill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…</a:t>
                          </a:r>
                          <a:endParaRPr lang="en-US" sz="2000" b="0" i="0" dirty="0">
                            <a:solidFill>
                              <a:schemeClr val="bg1"/>
                            </a:solidFill>
                            <a:latin typeface="Calibri Light" panose="020F0302020204030204" pitchFamily="34" charset="0"/>
                            <a:cs typeface="Calibri Light" panose="020F0302020204030204" pitchFamily="34" charset="0"/>
                          </a:endParaRPr>
                        </a:p>
                      </a:txBody>
                      <a:tcPr>
                        <a:solidFill>
                          <a:srgbClr val="99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cs typeface="Calibri Light" panose="020F03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cs typeface="Calibri Light" panose="020F0302020204030204" pitchFamily="34" charset="0"/>
                                      </a:rPr>
                                      <m:t>Z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cs typeface="Calibri Light" panose="020F0302020204030204" pitchFamily="34" charset="0"/>
                                      </a:rPr>
                                      <m:t>q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0" i="0" dirty="0">
                            <a:solidFill>
                              <a:schemeClr val="bg1"/>
                            </a:solidFill>
                            <a:latin typeface="Calibri Light" panose="020F0302020204030204" pitchFamily="34" charset="0"/>
                            <a:cs typeface="Calibri Light" panose="020F0302020204030204" pitchFamily="34" charset="0"/>
                          </a:endParaRPr>
                        </a:p>
                      </a:txBody>
                      <a:tcPr>
                        <a:solidFill>
                          <a:srgbClr val="990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1176397"/>
                      </a:ext>
                    </a:extLst>
                  </a:tr>
                  <a:tr h="42142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NA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…</a:t>
                          </a:r>
                          <a:endParaRPr lang="en-US" sz="2000" b="0" i="0" dirty="0">
                            <a:latin typeface="Calibri Light" panose="020F0302020204030204" pitchFamily="34" charset="0"/>
                            <a:cs typeface="Calibri Light" panose="020F03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NA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44525933"/>
                      </a:ext>
                    </a:extLst>
                  </a:tr>
                  <a:tr h="42291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Calibri Light" panose="020F03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 Light" panose="020F0302020204030204" pitchFamily="34" charset="0"/>
                                      </a:rPr>
                                      <m:t>𝓏</m:t>
                                    </m:r>
                                  </m:e>
                                  <m:sub>
                                    <m:r>
                                      <a:rPr lang="en-US" sz="20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Calibri Light" panose="020F0302020204030204" pitchFamily="34" charset="0"/>
                                      </a:rPr>
                                      <m:t>12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0" i="0" dirty="0">
                            <a:latin typeface="Calibri Light" panose="020F0302020204030204" pitchFamily="34" charset="0"/>
                            <a:cs typeface="Calibri Light" panose="020F03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…</a:t>
                          </a:r>
                          <a:endParaRPr lang="en-US" sz="2000" b="0" i="0" dirty="0">
                            <a:latin typeface="Calibri Light" panose="020F0302020204030204" pitchFamily="34" charset="0"/>
                            <a:cs typeface="Calibri Light" panose="020F03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Calibri Light" panose="020F03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 Light" panose="020F0302020204030204" pitchFamily="34" charset="0"/>
                                      </a:rPr>
                                      <m:t>𝓏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0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 Light" panose="020F0302020204030204" pitchFamily="34" charset="0"/>
                                      </a:rPr>
                                      <m:t>q</m:t>
                                    </m:r>
                                    <m:r>
                                      <a:rPr lang="en-US" sz="20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Calibri Light" panose="020F030202020403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0" i="0" dirty="0">
                            <a:latin typeface="Calibri Light" panose="020F0302020204030204" pitchFamily="34" charset="0"/>
                            <a:cs typeface="Calibri Light" panose="020F03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58293681"/>
                      </a:ext>
                    </a:extLst>
                  </a:tr>
                  <a:tr h="4225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NA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…</a:t>
                          </a:r>
                          <a:endParaRPr lang="en-US" sz="2000" b="0" i="0" dirty="0">
                            <a:latin typeface="Calibri Light" panose="020F0302020204030204" pitchFamily="34" charset="0"/>
                            <a:cs typeface="Calibri Light" panose="020F03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NA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76194245"/>
                      </a:ext>
                    </a:extLst>
                  </a:tr>
                  <a:tr h="405056"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i="0" dirty="0">
                            <a:latin typeface="Calibri Light" panose="020F0302020204030204" pitchFamily="34" charset="0"/>
                            <a:cs typeface="Calibri Light" panose="020F03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i="0" dirty="0">
                            <a:latin typeface="Calibri Light" panose="020F0302020204030204" pitchFamily="34" charset="0"/>
                            <a:cs typeface="Calibri Light" panose="020F03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i="0" dirty="0">
                            <a:latin typeface="Calibri Light" panose="020F0302020204030204" pitchFamily="34" charset="0"/>
                            <a:cs typeface="Calibri Light" panose="020F03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779637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99D2279F-A069-0CE3-9BE4-00630A1F9B5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04485238"/>
                  </p:ext>
                </p:extLst>
              </p:nvPr>
            </p:nvGraphicFramePr>
            <p:xfrm>
              <a:off x="6917997" y="1547966"/>
              <a:ext cx="3883353" cy="249183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94451">
                      <a:extLst>
                        <a:ext uri="{9D8B030D-6E8A-4147-A177-3AD203B41FA5}">
                          <a16:colId xmlns:a16="http://schemas.microsoft.com/office/drawing/2014/main" val="627763386"/>
                        </a:ext>
                      </a:extLst>
                    </a:gridCol>
                    <a:gridCol w="1294451">
                      <a:extLst>
                        <a:ext uri="{9D8B030D-6E8A-4147-A177-3AD203B41FA5}">
                          <a16:colId xmlns:a16="http://schemas.microsoft.com/office/drawing/2014/main" val="107945871"/>
                        </a:ext>
                      </a:extLst>
                    </a:gridCol>
                    <a:gridCol w="1294451">
                      <a:extLst>
                        <a:ext uri="{9D8B030D-6E8A-4147-A177-3AD203B41FA5}">
                          <a16:colId xmlns:a16="http://schemas.microsoft.com/office/drawing/2014/main" val="2241916339"/>
                        </a:ext>
                      </a:extLst>
                    </a:gridCol>
                  </a:tblGrid>
                  <a:tr h="396240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i="0" dirty="0"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External Data</a:t>
                          </a:r>
                        </a:p>
                      </a:txBody>
                      <a:tcPr>
                        <a:solidFill>
                          <a:srgbClr val="99000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000" b="1" i="0" dirty="0">
                            <a:latin typeface="Calibri Light" panose="020F0302020204030204" pitchFamily="34" charset="0"/>
                            <a:cs typeface="Calibri Light" panose="020F0302020204030204" pitchFamily="34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000" b="1" i="0" dirty="0">
                            <a:latin typeface="Calibri Light" panose="020F0302020204030204" pitchFamily="34" charset="0"/>
                            <a:cs typeface="Calibri Light" panose="020F03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4851816"/>
                      </a:ext>
                    </a:extLst>
                  </a:tr>
                  <a:tr h="42329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980" t="-97059" r="-202941" b="-3941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>
                              <a:solidFill>
                                <a:schemeClr val="bg1"/>
                              </a:solidFill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…</a:t>
                          </a:r>
                          <a:endParaRPr lang="en-US" sz="2000" b="0" i="0" dirty="0">
                            <a:solidFill>
                              <a:schemeClr val="bg1"/>
                            </a:solidFill>
                            <a:latin typeface="Calibri Light" panose="020F0302020204030204" pitchFamily="34" charset="0"/>
                            <a:cs typeface="Calibri Light" panose="020F0302020204030204" pitchFamily="34" charset="0"/>
                          </a:endParaRPr>
                        </a:p>
                      </a:txBody>
                      <a:tcPr>
                        <a:solidFill>
                          <a:srgbClr val="99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1961" t="-97059" r="-1961" b="-3941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1176397"/>
                      </a:ext>
                    </a:extLst>
                  </a:tr>
                  <a:tr h="42142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NA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…</a:t>
                          </a:r>
                          <a:endParaRPr lang="en-US" sz="2000" b="0" i="0" dirty="0">
                            <a:latin typeface="Calibri Light" panose="020F0302020204030204" pitchFamily="34" charset="0"/>
                            <a:cs typeface="Calibri Light" panose="020F03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NA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44525933"/>
                      </a:ext>
                    </a:extLst>
                  </a:tr>
                  <a:tr h="42329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980" t="-306061" r="-202941" b="-20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…</a:t>
                          </a:r>
                          <a:endParaRPr lang="en-US" sz="2000" b="0" i="0" dirty="0">
                            <a:latin typeface="Calibri Light" panose="020F0302020204030204" pitchFamily="34" charset="0"/>
                            <a:cs typeface="Calibri Light" panose="020F03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1961" t="-306061" r="-1961" b="-2030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58293681"/>
                      </a:ext>
                    </a:extLst>
                  </a:tr>
                  <a:tr h="4225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NA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…</a:t>
                          </a:r>
                          <a:endParaRPr lang="en-US" sz="2000" b="0" i="0" dirty="0">
                            <a:latin typeface="Calibri Light" panose="020F0302020204030204" pitchFamily="34" charset="0"/>
                            <a:cs typeface="Calibri Light" panose="020F03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NA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76194245"/>
                      </a:ext>
                    </a:extLst>
                  </a:tr>
                  <a:tr h="405056"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i="0" dirty="0">
                            <a:latin typeface="Calibri Light" panose="020F0302020204030204" pitchFamily="34" charset="0"/>
                            <a:cs typeface="Calibri Light" panose="020F03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i="0" dirty="0">
                            <a:latin typeface="Calibri Light" panose="020F0302020204030204" pitchFamily="34" charset="0"/>
                            <a:cs typeface="Calibri Light" panose="020F03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i="0" dirty="0">
                            <a:latin typeface="Calibri Light" panose="020F0302020204030204" pitchFamily="34" charset="0"/>
                            <a:cs typeface="Calibri Light" panose="020F03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779637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CEACE2D-37BF-63EE-5F86-4AC4C75133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1673" y="1046688"/>
            <a:ext cx="3054517" cy="535757"/>
          </a:xfrm>
        </p:spPr>
        <p:txBody>
          <a:bodyPr/>
          <a:lstStyle/>
          <a:p>
            <a:pPr marL="0" indent="0">
              <a:buNone/>
            </a:pPr>
            <a:r>
              <a:rPr lang="en-US" sz="2200" b="1" dirty="0">
                <a:latin typeface="Calibri Light" panose="020F0302020204030204" pitchFamily="34" charset="0"/>
                <a:ea typeface="+mn-lt"/>
                <a:cs typeface="Calibri Light" panose="020F0302020204030204" pitchFamily="34" charset="0"/>
              </a:rPr>
              <a:t>Phase I: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E30D44F-4007-1FA4-F6AD-AFDBCF8FFB88}"/>
              </a:ext>
            </a:extLst>
          </p:cNvPr>
          <p:cNvSpPr txBox="1">
            <a:spLocks/>
          </p:cNvSpPr>
          <p:nvPr/>
        </p:nvSpPr>
        <p:spPr bwMode="auto">
          <a:xfrm>
            <a:off x="751673" y="4069207"/>
            <a:ext cx="11074576" cy="2177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97648" rIns="0" bIns="97648" numCol="1" anchor="t" anchorCtr="0" compatLnSpc="1">
            <a:prstTxWarp prst="textNoShape">
              <a:avLst/>
            </a:prstTxWarp>
            <a:spAutoFit/>
          </a:bodyPr>
          <a:lstStyle>
            <a:lvl1pPr marL="182166" indent="-182166" algn="l" defTabSz="676275" rtl="0" eaLnBrk="1" fontAlgn="base" hangingPunct="1">
              <a:spcBef>
                <a:spcPts val="300"/>
              </a:spcBef>
              <a:spcAft>
                <a:spcPts val="150"/>
              </a:spcAft>
              <a:buClr>
                <a:schemeClr val="tx2"/>
              </a:buClr>
              <a:buSzPct val="120000"/>
              <a:buFont typeface="Lucida Grande" panose="020B0600040502020204" pitchFamily="34" charset="0"/>
              <a:buChar char="‣"/>
              <a:defRPr sz="21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300" indent="-227410" algn="l" defTabSz="676275" rtl="0" eaLnBrk="1" fontAlgn="base" hangingPunct="1">
              <a:spcBef>
                <a:spcPts val="150"/>
              </a:spcBef>
              <a:spcAft>
                <a:spcPts val="15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8435" indent="-227410" algn="l" defTabSz="676275" rtl="0" eaLnBrk="1" fontAlgn="base" hangingPunct="1">
              <a:spcBef>
                <a:spcPts val="150"/>
              </a:spcBef>
              <a:spcAft>
                <a:spcPts val="150"/>
              </a:spcAft>
              <a:buClr>
                <a:schemeClr val="accent1"/>
              </a:buClr>
              <a:buFont typeface="Arial" panose="020B0604020202020204" pitchFamily="34" charset="0"/>
              <a:buChar char="–"/>
              <a:defRPr sz="1500" b="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8706" indent="-184547" algn="l" defTabSz="676275" rtl="0" eaLnBrk="1" fontAlgn="base" hangingPunct="1">
              <a:spcBef>
                <a:spcPts val="150"/>
              </a:spcBef>
              <a:spcAft>
                <a:spcPts val="15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5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6597" indent="-182166" algn="l" defTabSz="676275" rtl="0" eaLnBrk="1" fontAlgn="base" hangingPunct="1">
              <a:spcBef>
                <a:spcPts val="150"/>
              </a:spcBef>
              <a:spcAft>
                <a:spcPts val="150"/>
              </a:spcAft>
              <a:buClr>
                <a:schemeClr val="tx2"/>
              </a:buClr>
              <a:buFont typeface="Franklin Gothic Book" panose="020B0503020102020204" pitchFamily="34" charset="0"/>
              <a:buChar char="–"/>
              <a:defRPr sz="12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b="1" dirty="0">
                <a:latin typeface="Calibri Light" panose="020F0302020204030204" pitchFamily="34" charset="0"/>
                <a:ea typeface="+mn-lt"/>
                <a:cs typeface="Calibri Light" panose="020F0302020204030204" pitchFamily="34" charset="0"/>
              </a:rPr>
              <a:t>Similar to classical two-phase studies, but with new challenges:</a:t>
            </a: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latin typeface="Calibri Light" panose="020F0302020204030204" pitchFamily="34" charset="0"/>
                <a:ea typeface="+mn-lt"/>
                <a:cs typeface="Calibri Light" panose="020F0302020204030204" pitchFamily="34" charset="0"/>
              </a:rPr>
              <a:t>High-dimensional Phase I predictors (EHR data) </a:t>
            </a: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latin typeface="Calibri Light" panose="020F0302020204030204" pitchFamily="34" charset="0"/>
                <a:ea typeface="+mn-lt"/>
                <a:cs typeface="Calibri Light" panose="020F0302020204030204" pitchFamily="34" charset="0"/>
              </a:rPr>
              <a:t>Phase II availability is observational, not designed sampling </a:t>
            </a:r>
            <a:endParaRPr lang="en-US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1500"/>
              </a:spcBef>
              <a:buNone/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Existing two-phase methods do not readily address this setting</a:t>
            </a:r>
          </a:p>
          <a:p>
            <a:pPr marL="0" indent="0">
              <a:buNone/>
            </a:pPr>
            <a:endParaRPr lang="en-US" sz="2000" dirty="0">
              <a:latin typeface="Calibri Light" panose="020F0302020204030204" pitchFamily="34" charset="0"/>
              <a:ea typeface="+mn-lt"/>
              <a:cs typeface="Calibri Light" panose="020F0302020204030204" pitchFamily="34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84904CA-D77C-7097-2B87-67B60CF0AF98}"/>
              </a:ext>
            </a:extLst>
          </p:cNvPr>
          <p:cNvSpPr txBox="1">
            <a:spLocks/>
          </p:cNvSpPr>
          <p:nvPr/>
        </p:nvSpPr>
        <p:spPr bwMode="auto">
          <a:xfrm>
            <a:off x="6917999" y="1012209"/>
            <a:ext cx="11074576" cy="5357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97648" rIns="0" bIns="97648" numCol="1" anchor="t" anchorCtr="0" compatLnSpc="1">
            <a:prstTxWarp prst="textNoShape">
              <a:avLst/>
            </a:prstTxWarp>
            <a:spAutoFit/>
          </a:bodyPr>
          <a:lstStyle>
            <a:lvl1pPr marL="182166" indent="-182166" algn="l" defTabSz="676275" rtl="0" eaLnBrk="1" fontAlgn="base" hangingPunct="1">
              <a:spcBef>
                <a:spcPts val="300"/>
              </a:spcBef>
              <a:spcAft>
                <a:spcPts val="150"/>
              </a:spcAft>
              <a:buClr>
                <a:schemeClr val="tx2"/>
              </a:buClr>
              <a:buSzPct val="120000"/>
              <a:buFont typeface="Lucida Grande" panose="020B0600040502020204" pitchFamily="34" charset="0"/>
              <a:buChar char="‣"/>
              <a:defRPr sz="21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300" indent="-227410" algn="l" defTabSz="676275" rtl="0" eaLnBrk="1" fontAlgn="base" hangingPunct="1">
              <a:spcBef>
                <a:spcPts val="150"/>
              </a:spcBef>
              <a:spcAft>
                <a:spcPts val="15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8435" indent="-227410" algn="l" defTabSz="676275" rtl="0" eaLnBrk="1" fontAlgn="base" hangingPunct="1">
              <a:spcBef>
                <a:spcPts val="150"/>
              </a:spcBef>
              <a:spcAft>
                <a:spcPts val="150"/>
              </a:spcAft>
              <a:buClr>
                <a:schemeClr val="accent1"/>
              </a:buClr>
              <a:buFont typeface="Arial" panose="020B0604020202020204" pitchFamily="34" charset="0"/>
              <a:buChar char="–"/>
              <a:defRPr sz="1500" b="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8706" indent="-184547" algn="l" defTabSz="676275" rtl="0" eaLnBrk="1" fontAlgn="base" hangingPunct="1">
              <a:spcBef>
                <a:spcPts val="150"/>
              </a:spcBef>
              <a:spcAft>
                <a:spcPts val="15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5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6597" indent="-182166" algn="l" defTabSz="676275" rtl="0" eaLnBrk="1" fontAlgn="base" hangingPunct="1">
              <a:spcBef>
                <a:spcPts val="150"/>
              </a:spcBef>
              <a:spcAft>
                <a:spcPts val="150"/>
              </a:spcAft>
              <a:buClr>
                <a:schemeClr val="tx2"/>
              </a:buClr>
              <a:buFont typeface="Franklin Gothic Book" panose="020B0503020102020204" pitchFamily="34" charset="0"/>
              <a:buChar char="–"/>
              <a:defRPr sz="12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Lucida Grande" panose="020B0600040502020204" pitchFamily="34" charset="0"/>
              <a:buNone/>
            </a:pPr>
            <a:r>
              <a:rPr lang="en-US" sz="2200" b="1" dirty="0">
                <a:latin typeface="Calibri Light" panose="020F0302020204030204" pitchFamily="34" charset="0"/>
                <a:ea typeface="+mn-lt"/>
                <a:cs typeface="Calibri Light" panose="020F0302020204030204" pitchFamily="34" charset="0"/>
              </a:rPr>
              <a:t>Phase II: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67F92A0-0CCA-C4D6-3F43-0D360AF65F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0100" y="2788793"/>
            <a:ext cx="431800" cy="427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183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10" grpId="0" build="allAtOnce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D8E7D-AC5B-AC04-319A-D692E9426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EEE22-C498-AABF-49E7-3F137FC2B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368" y="476873"/>
            <a:ext cx="11074576" cy="430887"/>
          </a:xfrm>
        </p:spPr>
        <p:txBody>
          <a:bodyPr/>
          <a:lstStyle/>
          <a:p>
            <a:r>
              <a:rPr lang="en-US" sz="2800" dirty="0">
                <a:latin typeface="Calibri"/>
                <a:ea typeface="+mn-lt"/>
                <a:cs typeface="+mn-lt"/>
              </a:rPr>
              <a:t>Our Two-Stage Modeling Framework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5E32A49D-A645-3EF5-0BBB-1F8911674E7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93505238"/>
                  </p:ext>
                </p:extLst>
              </p:nvPr>
            </p:nvGraphicFramePr>
            <p:xfrm>
              <a:off x="1717049" y="1212660"/>
              <a:ext cx="4425608" cy="174155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19790">
                      <a:extLst>
                        <a:ext uri="{9D8B030D-6E8A-4147-A177-3AD203B41FA5}">
                          <a16:colId xmlns:a16="http://schemas.microsoft.com/office/drawing/2014/main" val="4219362635"/>
                        </a:ext>
                      </a:extLst>
                    </a:gridCol>
                    <a:gridCol w="923938">
                      <a:extLst>
                        <a:ext uri="{9D8B030D-6E8A-4147-A177-3AD203B41FA5}">
                          <a16:colId xmlns:a16="http://schemas.microsoft.com/office/drawing/2014/main" val="507057227"/>
                        </a:ext>
                      </a:extLst>
                    </a:gridCol>
                    <a:gridCol w="874441">
                      <a:extLst>
                        <a:ext uri="{9D8B030D-6E8A-4147-A177-3AD203B41FA5}">
                          <a16:colId xmlns:a16="http://schemas.microsoft.com/office/drawing/2014/main" val="3006882644"/>
                        </a:ext>
                      </a:extLst>
                    </a:gridCol>
                    <a:gridCol w="907439">
                      <a:extLst>
                        <a:ext uri="{9D8B030D-6E8A-4147-A177-3AD203B41FA5}">
                          <a16:colId xmlns:a16="http://schemas.microsoft.com/office/drawing/2014/main" val="1786101053"/>
                        </a:ext>
                      </a:extLst>
                    </a:gridCol>
                  </a:tblGrid>
                  <a:tr h="30051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i="0" dirty="0"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Outcome</a:t>
                          </a: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i="0" dirty="0"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EHR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000" b="0" i="0" dirty="0">
                            <a:latin typeface="Calibri Light" panose="020F0302020204030204" pitchFamily="34" charset="0"/>
                            <a:cs typeface="Calibri Light" panose="020F0302020204030204" pitchFamily="34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000" b="0" i="0" dirty="0">
                            <a:latin typeface="Calibri Light" panose="020F0302020204030204" pitchFamily="34" charset="0"/>
                            <a:cs typeface="Calibri Light" panose="020F03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4851816"/>
                      </a:ext>
                    </a:extLst>
                  </a:tr>
                  <a:tr h="31998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i="0" dirty="0">
                              <a:solidFill>
                                <a:schemeClr val="bg1"/>
                              </a:solidFill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Y</a:t>
                          </a: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cs typeface="Calibri Light" panose="020F03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cs typeface="Calibri Light" panose="020F0302020204030204" pitchFamily="34" charset="0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cs typeface="Calibri Light" panose="020F030202020403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b="0" i="0" dirty="0">
                            <a:solidFill>
                              <a:schemeClr val="bg1"/>
                            </a:solidFill>
                            <a:latin typeface="Calibri Light" panose="020F0302020204030204" pitchFamily="34" charset="0"/>
                            <a:cs typeface="Calibri Light" panose="020F0302020204030204" pitchFamily="34" charset="0"/>
                          </a:endParaRPr>
                        </a:p>
                      </a:txBody>
                      <a:tcPr>
                        <a:solidFill>
                          <a:srgbClr val="326B8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i="0" dirty="0">
                              <a:solidFill>
                                <a:schemeClr val="bg1"/>
                              </a:solidFill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…</a:t>
                          </a:r>
                        </a:p>
                      </a:txBody>
                      <a:tcPr>
                        <a:solidFill>
                          <a:srgbClr val="326B8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cs typeface="Calibri Light" panose="020F03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cs typeface="Calibri Light" panose="020F0302020204030204" pitchFamily="34" charset="0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cs typeface="Calibri Light" panose="020F0302020204030204" pitchFamily="34" charset="0"/>
                                      </a:rPr>
                                      <m:t>p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b="0" i="0" dirty="0">
                            <a:solidFill>
                              <a:schemeClr val="bg1"/>
                            </a:solidFill>
                            <a:latin typeface="Calibri Light" panose="020F0302020204030204" pitchFamily="34" charset="0"/>
                            <a:cs typeface="Calibri Light" panose="020F0302020204030204" pitchFamily="34" charset="0"/>
                          </a:endParaRPr>
                        </a:p>
                      </a:txBody>
                      <a:tcPr>
                        <a:solidFill>
                          <a:srgbClr val="326B8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1176397"/>
                      </a:ext>
                    </a:extLst>
                  </a:tr>
                  <a:tr h="31998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i="0" dirty="0"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Calibri Light" panose="020F03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 Light" panose="020F0302020204030204" pitchFamily="34" charset="0"/>
                                      </a:rPr>
                                      <m:t>𝓍</m:t>
                                    </m:r>
                                  </m:e>
                                  <m:sub>
                                    <m:r>
                                      <a:rPr lang="en-US" sz="16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Calibri Light" panose="020F0302020204030204" pitchFamily="34" charset="0"/>
                                      </a:rPr>
                                      <m:t>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b="0" i="0" kern="1200" dirty="0">
                            <a:solidFill>
                              <a:schemeClr val="dk1"/>
                            </a:solidFill>
                            <a:latin typeface="Calibri Light" panose="020F0302020204030204" pitchFamily="34" charset="0"/>
                            <a:ea typeface="+mn-ea"/>
                            <a:cs typeface="Calibri Light" panose="020F03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i="0" dirty="0"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Calibri Light" panose="020F03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 Light" panose="020F0302020204030204" pitchFamily="34" charset="0"/>
                                      </a:rPr>
                                      <m:t>𝓍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16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 Light" panose="020F0302020204030204" pitchFamily="34" charset="0"/>
                                      </a:rPr>
                                      <m:t>p</m:t>
                                    </m:r>
                                    <m:r>
                                      <a:rPr lang="en-US" sz="16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Calibri Light" panose="020F030202020403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b="0" i="0" dirty="0">
                            <a:latin typeface="Calibri Light" panose="020F0302020204030204" pitchFamily="34" charset="0"/>
                            <a:cs typeface="Calibri Light" panose="020F03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44525933"/>
                      </a:ext>
                    </a:extLst>
                  </a:tr>
                  <a:tr h="31998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i="0" dirty="0"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Calibri Light" panose="020F03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 Light" panose="020F0302020204030204" pitchFamily="34" charset="0"/>
                                      </a:rPr>
                                      <m:t>𝓍</m:t>
                                    </m:r>
                                  </m:e>
                                  <m:sub>
                                    <m:r>
                                      <a:rPr lang="en-US" sz="16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Calibri Light" panose="020F0302020204030204" pitchFamily="34" charset="0"/>
                                      </a:rPr>
                                      <m:t>12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b="0" i="0" dirty="0">
                            <a:latin typeface="Calibri Light" panose="020F0302020204030204" pitchFamily="34" charset="0"/>
                            <a:cs typeface="Calibri Light" panose="020F03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i="0" dirty="0"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Calibri Light" panose="020F03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 Light" panose="020F0302020204030204" pitchFamily="34" charset="0"/>
                                      </a:rPr>
                                      <m:t>𝓍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16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 Light" panose="020F0302020204030204" pitchFamily="34" charset="0"/>
                                      </a:rPr>
                                      <m:t>p</m:t>
                                    </m:r>
                                    <m:r>
                                      <a:rPr lang="en-US" sz="16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 Light" panose="020F030202020403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b="0" i="0" dirty="0">
                            <a:latin typeface="Calibri Light" panose="020F0302020204030204" pitchFamily="34" charset="0"/>
                            <a:cs typeface="Calibri Light" panose="020F03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58293681"/>
                      </a:ext>
                    </a:extLst>
                  </a:tr>
                  <a:tr h="30051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i="0" dirty="0"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i="0" dirty="0">
                            <a:latin typeface="Calibri Light" panose="020F0302020204030204" pitchFamily="34" charset="0"/>
                            <a:cs typeface="Calibri Light" panose="020F03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i="0" dirty="0">
                            <a:latin typeface="Calibri Light" panose="020F0302020204030204" pitchFamily="34" charset="0"/>
                            <a:cs typeface="Calibri Light" panose="020F03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i="0" dirty="0">
                            <a:latin typeface="Calibri Light" panose="020F0302020204030204" pitchFamily="34" charset="0"/>
                            <a:cs typeface="Calibri Light" panose="020F03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779637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5E32A49D-A645-3EF5-0BBB-1F8911674E7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93505238"/>
                  </p:ext>
                </p:extLst>
              </p:nvPr>
            </p:nvGraphicFramePr>
            <p:xfrm>
              <a:off x="1717049" y="1212660"/>
              <a:ext cx="4425608" cy="174155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19790">
                      <a:extLst>
                        <a:ext uri="{9D8B030D-6E8A-4147-A177-3AD203B41FA5}">
                          <a16:colId xmlns:a16="http://schemas.microsoft.com/office/drawing/2014/main" val="4219362635"/>
                        </a:ext>
                      </a:extLst>
                    </a:gridCol>
                    <a:gridCol w="923938">
                      <a:extLst>
                        <a:ext uri="{9D8B030D-6E8A-4147-A177-3AD203B41FA5}">
                          <a16:colId xmlns:a16="http://schemas.microsoft.com/office/drawing/2014/main" val="507057227"/>
                        </a:ext>
                      </a:extLst>
                    </a:gridCol>
                    <a:gridCol w="874441">
                      <a:extLst>
                        <a:ext uri="{9D8B030D-6E8A-4147-A177-3AD203B41FA5}">
                          <a16:colId xmlns:a16="http://schemas.microsoft.com/office/drawing/2014/main" val="3006882644"/>
                        </a:ext>
                      </a:extLst>
                    </a:gridCol>
                    <a:gridCol w="907439">
                      <a:extLst>
                        <a:ext uri="{9D8B030D-6E8A-4147-A177-3AD203B41FA5}">
                          <a16:colId xmlns:a16="http://schemas.microsoft.com/office/drawing/2014/main" val="1786101053"/>
                        </a:ext>
                      </a:extLst>
                    </a:gridCol>
                  </a:tblGrid>
                  <a:tr h="3352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i="0" dirty="0"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Outcome</a:t>
                          </a: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i="0" dirty="0"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EHR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000" b="0" i="0" dirty="0">
                            <a:latin typeface="Calibri Light" panose="020F0302020204030204" pitchFamily="34" charset="0"/>
                            <a:cs typeface="Calibri Light" panose="020F0302020204030204" pitchFamily="34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000" b="0" i="0" dirty="0">
                            <a:latin typeface="Calibri Light" panose="020F0302020204030204" pitchFamily="34" charset="0"/>
                            <a:cs typeface="Calibri Light" panose="020F03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4851816"/>
                      </a:ext>
                    </a:extLst>
                  </a:tr>
                  <a:tr h="35699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i="0" dirty="0">
                              <a:solidFill>
                                <a:schemeClr val="bg1"/>
                              </a:solidFill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Y</a:t>
                          </a: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90278" t="-100000" r="-198611" b="-317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i="0" dirty="0">
                              <a:solidFill>
                                <a:schemeClr val="bg1"/>
                              </a:solidFill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…</a:t>
                          </a:r>
                        </a:p>
                      </a:txBody>
                      <a:tcPr>
                        <a:solidFill>
                          <a:srgbClr val="326B8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86111" t="-100000" r="-2778" b="-3178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1176397"/>
                      </a:ext>
                    </a:extLst>
                  </a:tr>
                  <a:tr h="35699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i="0" dirty="0"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90278" t="-200000" r="-198611" b="-217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i="0" dirty="0"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86111" t="-200000" r="-2778" b="-2178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44525933"/>
                      </a:ext>
                    </a:extLst>
                  </a:tr>
                  <a:tr h="35699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i="0" dirty="0"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90278" t="-300000" r="-198611" b="-117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i="0" dirty="0"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86111" t="-300000" r="-2778" b="-1178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58293681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i="0" dirty="0"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i="0" dirty="0">
                            <a:latin typeface="Calibri Light" panose="020F0302020204030204" pitchFamily="34" charset="0"/>
                            <a:cs typeface="Calibri Light" panose="020F03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i="0" dirty="0">
                            <a:latin typeface="Calibri Light" panose="020F0302020204030204" pitchFamily="34" charset="0"/>
                            <a:cs typeface="Calibri Light" panose="020F03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i="0" dirty="0">
                            <a:latin typeface="Calibri Light" panose="020F0302020204030204" pitchFamily="34" charset="0"/>
                            <a:cs typeface="Calibri Light" panose="020F03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779637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6B400F22-0ACF-A268-23A1-9F097627D0D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45711664"/>
                  </p:ext>
                </p:extLst>
              </p:nvPr>
            </p:nvGraphicFramePr>
            <p:xfrm>
              <a:off x="6142656" y="1213973"/>
              <a:ext cx="2903730" cy="17389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30356">
                      <a:extLst>
                        <a:ext uri="{9D8B030D-6E8A-4147-A177-3AD203B41FA5}">
                          <a16:colId xmlns:a16="http://schemas.microsoft.com/office/drawing/2014/main" val="627763386"/>
                        </a:ext>
                      </a:extLst>
                    </a:gridCol>
                    <a:gridCol w="861752">
                      <a:extLst>
                        <a:ext uri="{9D8B030D-6E8A-4147-A177-3AD203B41FA5}">
                          <a16:colId xmlns:a16="http://schemas.microsoft.com/office/drawing/2014/main" val="107945871"/>
                        </a:ext>
                      </a:extLst>
                    </a:gridCol>
                    <a:gridCol w="1011622">
                      <a:extLst>
                        <a:ext uri="{9D8B030D-6E8A-4147-A177-3AD203B41FA5}">
                          <a16:colId xmlns:a16="http://schemas.microsoft.com/office/drawing/2014/main" val="2241916339"/>
                        </a:ext>
                      </a:extLst>
                    </a:gridCol>
                  </a:tblGrid>
                  <a:tr h="249272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i="0" dirty="0"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External Data</a:t>
                          </a:r>
                        </a:p>
                      </a:txBody>
                      <a:tcPr>
                        <a:solidFill>
                          <a:srgbClr val="99000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000" b="1" i="0" dirty="0">
                            <a:latin typeface="Calibri Light" panose="020F0302020204030204" pitchFamily="34" charset="0"/>
                            <a:cs typeface="Calibri Light" panose="020F0302020204030204" pitchFamily="34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000" b="1" i="0" dirty="0">
                            <a:latin typeface="Calibri Light" panose="020F0302020204030204" pitchFamily="34" charset="0"/>
                            <a:cs typeface="Calibri Light" panose="020F03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4851816"/>
                      </a:ext>
                    </a:extLst>
                  </a:tr>
                  <a:tr h="26541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cs typeface="Calibri Light" panose="020F03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cs typeface="Calibri Light" panose="020F0302020204030204" pitchFamily="34" charset="0"/>
                                      </a:rPr>
                                      <m:t>Z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cs typeface="Calibri Light" panose="020F030202020403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b="0" i="0" dirty="0">
                            <a:solidFill>
                              <a:schemeClr val="bg1"/>
                            </a:solidFill>
                            <a:latin typeface="Calibri Light" panose="020F0302020204030204" pitchFamily="34" charset="0"/>
                            <a:cs typeface="Calibri Light" panose="020F0302020204030204" pitchFamily="34" charset="0"/>
                          </a:endParaRPr>
                        </a:p>
                      </a:txBody>
                      <a:tcPr>
                        <a:solidFill>
                          <a:srgbClr val="99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i="0" dirty="0">
                              <a:solidFill>
                                <a:schemeClr val="bg1"/>
                              </a:solidFill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…</a:t>
                          </a:r>
                        </a:p>
                      </a:txBody>
                      <a:tcPr>
                        <a:solidFill>
                          <a:srgbClr val="99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cs typeface="Calibri Light" panose="020F03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cs typeface="Calibri Light" panose="020F0302020204030204" pitchFamily="34" charset="0"/>
                                      </a:rPr>
                                      <m:t>Z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cs typeface="Calibri Light" panose="020F0302020204030204" pitchFamily="34" charset="0"/>
                                      </a:rPr>
                                      <m:t>q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b="0" i="0" dirty="0">
                            <a:solidFill>
                              <a:schemeClr val="bg1"/>
                            </a:solidFill>
                            <a:latin typeface="Calibri Light" panose="020F0302020204030204" pitchFamily="34" charset="0"/>
                            <a:cs typeface="Calibri Light" panose="020F0302020204030204" pitchFamily="34" charset="0"/>
                          </a:endParaRPr>
                        </a:p>
                      </a:txBody>
                      <a:tcPr>
                        <a:solidFill>
                          <a:srgbClr val="990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1176397"/>
                      </a:ext>
                    </a:extLst>
                  </a:tr>
                  <a:tr h="35436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i="0" dirty="0"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NA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i="0" dirty="0"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i="0" dirty="0"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NA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44525933"/>
                      </a:ext>
                    </a:extLst>
                  </a:tr>
                  <a:tr h="26541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Calibri Light" panose="020F03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 Light" panose="020F0302020204030204" pitchFamily="34" charset="0"/>
                                      </a:rPr>
                                      <m:t>𝓏</m:t>
                                    </m:r>
                                  </m:e>
                                  <m:sub>
                                    <m:r>
                                      <a:rPr lang="en-US" sz="16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Calibri Light" panose="020F0302020204030204" pitchFamily="34" charset="0"/>
                                      </a:rPr>
                                      <m:t>12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b="0" i="0" dirty="0">
                            <a:latin typeface="Calibri Light" panose="020F0302020204030204" pitchFamily="34" charset="0"/>
                            <a:cs typeface="Calibri Light" panose="020F03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i="0" dirty="0"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Calibri Light" panose="020F03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 Light" panose="020F0302020204030204" pitchFamily="34" charset="0"/>
                                      </a:rPr>
                                      <m:t>𝓏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16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 Light" panose="020F0302020204030204" pitchFamily="34" charset="0"/>
                                      </a:rPr>
                                      <m:t>q</m:t>
                                    </m:r>
                                    <m:r>
                                      <a:rPr lang="en-US" sz="16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Calibri Light" panose="020F030202020403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b="0" i="0" dirty="0">
                            <a:latin typeface="Calibri Light" panose="020F0302020204030204" pitchFamily="34" charset="0"/>
                            <a:cs typeface="Calibri Light" panose="020F03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58293681"/>
                      </a:ext>
                    </a:extLst>
                  </a:tr>
                  <a:tr h="249272"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i="0" dirty="0">
                            <a:latin typeface="Calibri Light" panose="020F0302020204030204" pitchFamily="34" charset="0"/>
                            <a:cs typeface="Calibri Light" panose="020F03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i="0" dirty="0">
                            <a:latin typeface="Calibri Light" panose="020F0302020204030204" pitchFamily="34" charset="0"/>
                            <a:cs typeface="Calibri Light" panose="020F03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i="0" dirty="0">
                            <a:latin typeface="Calibri Light" panose="020F0302020204030204" pitchFamily="34" charset="0"/>
                            <a:cs typeface="Calibri Light" panose="020F03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779637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6B400F22-0ACF-A268-23A1-9F097627D0D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45711664"/>
                  </p:ext>
                </p:extLst>
              </p:nvPr>
            </p:nvGraphicFramePr>
            <p:xfrm>
              <a:off x="6142656" y="1213973"/>
              <a:ext cx="2903730" cy="17389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30356">
                      <a:extLst>
                        <a:ext uri="{9D8B030D-6E8A-4147-A177-3AD203B41FA5}">
                          <a16:colId xmlns:a16="http://schemas.microsoft.com/office/drawing/2014/main" val="627763386"/>
                        </a:ext>
                      </a:extLst>
                    </a:gridCol>
                    <a:gridCol w="861752">
                      <a:extLst>
                        <a:ext uri="{9D8B030D-6E8A-4147-A177-3AD203B41FA5}">
                          <a16:colId xmlns:a16="http://schemas.microsoft.com/office/drawing/2014/main" val="107945871"/>
                        </a:ext>
                      </a:extLst>
                    </a:gridCol>
                    <a:gridCol w="1011622">
                      <a:extLst>
                        <a:ext uri="{9D8B030D-6E8A-4147-A177-3AD203B41FA5}">
                          <a16:colId xmlns:a16="http://schemas.microsoft.com/office/drawing/2014/main" val="2241916339"/>
                        </a:ext>
                      </a:extLst>
                    </a:gridCol>
                  </a:tblGrid>
                  <a:tr h="335280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i="0" dirty="0"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External Data</a:t>
                          </a:r>
                        </a:p>
                      </a:txBody>
                      <a:tcPr>
                        <a:solidFill>
                          <a:srgbClr val="99000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000" b="1" i="0" dirty="0">
                            <a:latin typeface="Calibri Light" panose="020F0302020204030204" pitchFamily="34" charset="0"/>
                            <a:cs typeface="Calibri Light" panose="020F0302020204030204" pitchFamily="34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000" b="1" i="0" dirty="0">
                            <a:latin typeface="Calibri Light" panose="020F0302020204030204" pitchFamily="34" charset="0"/>
                            <a:cs typeface="Calibri Light" panose="020F03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4851816"/>
                      </a:ext>
                    </a:extLst>
                  </a:tr>
                  <a:tr h="35699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220" t="-100000" r="-182927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i="0" dirty="0">
                              <a:solidFill>
                                <a:schemeClr val="bg1"/>
                              </a:solidFill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…</a:t>
                          </a:r>
                        </a:p>
                      </a:txBody>
                      <a:tcPr>
                        <a:solidFill>
                          <a:srgbClr val="99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88750" t="-100000" r="-2500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1176397"/>
                      </a:ext>
                    </a:extLst>
                  </a:tr>
                  <a:tr h="35436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i="0" dirty="0"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NA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i="0" dirty="0"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i="0" dirty="0"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NA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44525933"/>
                      </a:ext>
                    </a:extLst>
                  </a:tr>
                  <a:tr h="35699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220" t="-300000" r="-182927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i="0" dirty="0"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88750" t="-300000" r="-2500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58293681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i="0" dirty="0">
                            <a:latin typeface="Calibri Light" panose="020F0302020204030204" pitchFamily="34" charset="0"/>
                            <a:cs typeface="Calibri Light" panose="020F03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i="0" dirty="0">
                            <a:latin typeface="Calibri Light" panose="020F0302020204030204" pitchFamily="34" charset="0"/>
                            <a:cs typeface="Calibri Light" panose="020F03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i="0" dirty="0">
                            <a:latin typeface="Calibri Light" panose="020F0302020204030204" pitchFamily="34" charset="0"/>
                            <a:cs typeface="Calibri Light" panose="020F03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779637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BD2478E9-CD2A-D5FF-4DD9-EF0CE0C6760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47006946"/>
                  </p:ext>
                </p:extLst>
              </p:nvPr>
            </p:nvGraphicFramePr>
            <p:xfrm>
              <a:off x="9046386" y="1220398"/>
              <a:ext cx="1420619" cy="173249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20619">
                      <a:extLst>
                        <a:ext uri="{9D8B030D-6E8A-4147-A177-3AD203B41FA5}">
                          <a16:colId xmlns:a16="http://schemas.microsoft.com/office/drawing/2014/main" val="3128327128"/>
                        </a:ext>
                      </a:extLst>
                    </a:gridCol>
                  </a:tblGrid>
                  <a:tr h="27435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i="0" dirty="0"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Availability</a:t>
                          </a:r>
                        </a:p>
                      </a:txBody>
                      <a:tcPr>
                        <a:solidFill>
                          <a:srgbClr val="990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24851816"/>
                      </a:ext>
                    </a:extLst>
                  </a:tr>
                  <a:tr h="35327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16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Calibri Light" panose="020F0302020204030204" pitchFamily="34" charset="0"/>
                                  </a:rPr>
                                  <m:t>R</m:t>
                                </m:r>
                              </m:oMath>
                            </m:oMathPara>
                          </a14:m>
                          <a:endParaRPr lang="en-US" sz="1600" b="0" i="0" dirty="0">
                            <a:solidFill>
                              <a:schemeClr val="bg1"/>
                            </a:solidFill>
                            <a:latin typeface="Calibri Light" panose="020F0302020204030204" pitchFamily="34" charset="0"/>
                            <a:cs typeface="Calibri Light" panose="020F0302020204030204" pitchFamily="34" charset="0"/>
                          </a:endParaRPr>
                        </a:p>
                      </a:txBody>
                      <a:tcPr>
                        <a:solidFill>
                          <a:srgbClr val="990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1176397"/>
                      </a:ext>
                    </a:extLst>
                  </a:tr>
                  <a:tr h="3543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b="0" i="0" dirty="0"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0</a:t>
                          </a:r>
                          <a:endParaRPr lang="en-US" sz="1600" b="0" i="0" dirty="0">
                            <a:latin typeface="Calibri Light" panose="020F0302020204030204" pitchFamily="34" charset="0"/>
                            <a:cs typeface="Calibri Light" panose="020F03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44525933"/>
                      </a:ext>
                    </a:extLst>
                  </a:tr>
                  <a:tr h="3543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b="0" i="0" dirty="0"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1</a:t>
                          </a:r>
                          <a:endParaRPr lang="en-US" sz="1600" b="0" i="0" dirty="0">
                            <a:latin typeface="Calibri Light" panose="020F0302020204030204" pitchFamily="34" charset="0"/>
                            <a:cs typeface="Calibri Light" panose="020F03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58293681"/>
                      </a:ext>
                    </a:extLst>
                  </a:tr>
                  <a:tr h="274353"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i="0" dirty="0">
                            <a:latin typeface="Calibri Light" panose="020F0302020204030204" pitchFamily="34" charset="0"/>
                            <a:cs typeface="Calibri Light" panose="020F03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779637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BD2478E9-CD2A-D5FF-4DD9-EF0CE0C6760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47006946"/>
                  </p:ext>
                </p:extLst>
              </p:nvPr>
            </p:nvGraphicFramePr>
            <p:xfrm>
              <a:off x="9046386" y="1220398"/>
              <a:ext cx="1420619" cy="173249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20619">
                      <a:extLst>
                        <a:ext uri="{9D8B030D-6E8A-4147-A177-3AD203B41FA5}">
                          <a16:colId xmlns:a16="http://schemas.microsoft.com/office/drawing/2014/main" val="3128327128"/>
                        </a:ext>
                      </a:extLst>
                    </a:gridCol>
                  </a:tblGrid>
                  <a:tr h="3352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i="0" dirty="0"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Availability</a:t>
                          </a:r>
                        </a:p>
                      </a:txBody>
                      <a:tcPr>
                        <a:solidFill>
                          <a:srgbClr val="990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24851816"/>
                      </a:ext>
                    </a:extLst>
                  </a:tr>
                  <a:tr h="35327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885" t="-107407" r="-1770" b="-311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1176397"/>
                      </a:ext>
                    </a:extLst>
                  </a:tr>
                  <a:tr h="3543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b="0" i="0" dirty="0"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0</a:t>
                          </a:r>
                          <a:endParaRPr lang="en-US" sz="1600" b="0" i="0" dirty="0">
                            <a:latin typeface="Calibri Light" panose="020F0302020204030204" pitchFamily="34" charset="0"/>
                            <a:cs typeface="Calibri Light" panose="020F03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44525933"/>
                      </a:ext>
                    </a:extLst>
                  </a:tr>
                  <a:tr h="3543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b="0" i="0" dirty="0"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1</a:t>
                          </a:r>
                          <a:endParaRPr lang="en-US" sz="1600" b="0" i="0" dirty="0">
                            <a:latin typeface="Calibri Light" panose="020F0302020204030204" pitchFamily="34" charset="0"/>
                            <a:cs typeface="Calibri Light" panose="020F03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58293681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i="0" dirty="0">
                            <a:latin typeface="Calibri Light" panose="020F0302020204030204" pitchFamily="34" charset="0"/>
                            <a:cs typeface="Calibri Light" panose="020F03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779637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2">
                <a:extLst>
                  <a:ext uri="{FF2B5EF4-FFF2-40B4-BE49-F238E27FC236}">
                    <a16:creationId xmlns:a16="http://schemas.microsoft.com/office/drawing/2014/main" id="{AD88D14E-23CB-B04D-2C18-52508C301B3B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877402" y="3259111"/>
                <a:ext cx="5169066" cy="26123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0" tIns="97648" rIns="0" bIns="97648" numCol="1" anchor="t" anchorCtr="0" compatLnSpc="1">
                <a:prstTxWarp prst="textNoShape">
                  <a:avLst/>
                </a:prstTxWarp>
                <a:spAutoFit/>
              </a:bodyPr>
              <a:lstStyle>
                <a:lvl1pPr marL="182166" indent="-182166" algn="l" defTabSz="676275" rtl="0" eaLnBrk="1" fontAlgn="base" hangingPunct="1">
                  <a:spcBef>
                    <a:spcPts val="300"/>
                  </a:spcBef>
                  <a:spcAft>
                    <a:spcPts val="150"/>
                  </a:spcAft>
                  <a:buClr>
                    <a:schemeClr val="tx2"/>
                  </a:buClr>
                  <a:buSzPct val="120000"/>
                  <a:buFont typeface="Lucida Grande" panose="020B0600040502020204" pitchFamily="34" charset="0"/>
                  <a:buChar char="‣"/>
                  <a:defRPr sz="21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95300" indent="-227410" algn="l" defTabSz="676275" rtl="0" eaLnBrk="1" fontAlgn="base" hangingPunct="1">
                  <a:spcBef>
                    <a:spcPts val="150"/>
                  </a:spcBef>
                  <a:spcAft>
                    <a:spcPts val="150"/>
                  </a:spcAft>
                  <a:buClr>
                    <a:schemeClr val="tx1"/>
                  </a:buClr>
                  <a:buSzPct val="110000"/>
                  <a:buFont typeface="Arial" panose="020B0604020202020204" pitchFamily="34" charset="0"/>
                  <a:buChar char="•"/>
                  <a:defRPr sz="1800" kern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808435" indent="-227410" algn="l" defTabSz="676275" rtl="0" eaLnBrk="1" fontAlgn="base" hangingPunct="1">
                  <a:spcBef>
                    <a:spcPts val="150"/>
                  </a:spcBef>
                  <a:spcAft>
                    <a:spcPts val="15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–"/>
                  <a:defRPr sz="1500" b="0" kern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078706" indent="-184547" algn="l" defTabSz="676275" rtl="0" eaLnBrk="1" fontAlgn="base" hangingPunct="1">
                  <a:spcBef>
                    <a:spcPts val="150"/>
                  </a:spcBef>
                  <a:spcAft>
                    <a:spcPts val="150"/>
                  </a:spcAft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1350" kern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346597" indent="-182166" algn="l" defTabSz="676275" rtl="0" eaLnBrk="1" fontAlgn="base" hangingPunct="1">
                  <a:spcBef>
                    <a:spcPts val="150"/>
                  </a:spcBef>
                  <a:spcAft>
                    <a:spcPts val="150"/>
                  </a:spcAft>
                  <a:buClr>
                    <a:schemeClr val="tx2"/>
                  </a:buClr>
                  <a:buFont typeface="Franklin Gothic Book" panose="020B0503020102020204" pitchFamily="34" charset="0"/>
                  <a:buChar char="–"/>
                  <a:defRPr sz="1200" kern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200" dirty="0">
                    <a:latin typeface="Calibri" panose="020F0502020204030204" pitchFamily="34" charset="0"/>
                    <a:ea typeface="+mn-lt"/>
                    <a:cs typeface="Calibri" panose="020F0502020204030204" pitchFamily="34" charset="0"/>
                  </a:rPr>
                  <a:t>Stage I: </a:t>
                </a:r>
                <a:r>
                  <a:rPr lang="en-US" sz="2200" b="1" dirty="0">
                    <a:latin typeface="Calibri Light" panose="020F0302020204030204" pitchFamily="34" charset="0"/>
                    <a:ea typeface="+mn-lt"/>
                    <a:cs typeface="Calibri Light" panose="020F0302020204030204" pitchFamily="34" charset="0"/>
                  </a:rPr>
                  <a:t>Use Phase I Data to Learn Initial Risk</a:t>
                </a:r>
              </a:p>
              <a:p>
                <a:pPr marL="0" indent="0">
                  <a:spcBef>
                    <a:spcPts val="900"/>
                  </a:spcBef>
                  <a:spcAft>
                    <a:spcPts val="135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  <a:ea typeface="+mn-lt"/>
                          <a:cs typeface="Calibri Light" panose="020F0302020204030204" pitchFamily="34" charset="0"/>
                        </a:rPr>
                        <m:t> </m:t>
                      </m:r>
                      <m:acc>
                        <m:accPr>
                          <m:chr m:val="̂"/>
                          <m:ctrlPr>
                            <a:rPr lang="en-US" sz="2000" i="1" smtClean="0">
                              <a:latin typeface="Cambria Math" panose="02040503050406030204" pitchFamily="18" charset="0"/>
                              <a:ea typeface="+mn-lt"/>
                              <a:cs typeface="Calibri Light" panose="020F0302020204030204" pitchFamily="34" charset="0"/>
                            </a:rPr>
                          </m:ctrlPr>
                        </m:acc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  <a:ea typeface="+mn-lt"/>
                              <a:cs typeface="Calibri Light" panose="020F0302020204030204" pitchFamily="34" charset="0"/>
                            </a:rPr>
                            <m:t>ℓ</m:t>
                          </m:r>
                        </m:e>
                      </m:acc>
                      <m:r>
                        <a:rPr lang="en-US" sz="2000" b="0" i="1" smtClean="0">
                          <a:latin typeface="Cambria Math" panose="02040503050406030204" pitchFamily="18" charset="0"/>
                          <a:ea typeface="+mn-lt"/>
                          <a:cs typeface="Calibri Light" panose="020F0302020204030204" pitchFamily="34" charset="0"/>
                        </a:rPr>
                        <m:t>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+mn-lt"/>
                          <a:cs typeface="Calibri Light" panose="020F0302020204030204" pitchFamily="34" charset="0"/>
                        </a:rPr>
                        <m:t>𝑋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+mn-lt"/>
                          <a:cs typeface="Calibri Light" panose="020F0302020204030204" pitchFamily="34" charset="0"/>
                        </a:rPr>
                        <m:t>)=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+mn-lt"/>
                          <a:cs typeface="Calibri Light" panose="020F0302020204030204" pitchFamily="34" charset="0"/>
                        </a:rPr>
                        <m:t>𝑙𝑜𝑔𝑖𝑡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+mn-lt"/>
                          <a:cs typeface="Calibri Light" panose="020F0302020204030204" pitchFamily="34" charset="0"/>
                        </a:rPr>
                        <m:t>{</m:t>
                      </m:r>
                      <m:acc>
                        <m:accPr>
                          <m:chr m:val="̂"/>
                          <m:ctrlPr>
                            <a:rPr lang="en-US" sz="2000" i="1" smtClean="0">
                              <a:latin typeface="Cambria Math" panose="02040503050406030204" pitchFamily="18" charset="0"/>
                              <a:ea typeface="+mn-lt"/>
                              <a:cs typeface="Calibri Light" panose="020F0302020204030204" pitchFamily="34" charset="0"/>
                            </a:rPr>
                          </m:ctrlPr>
                        </m:accPr>
                        <m:e>
                          <m:r>
                            <a:rPr lang="en-US" sz="2000" b="0" i="1">
                              <a:latin typeface="Cambria Math" panose="02040503050406030204" pitchFamily="18" charset="0"/>
                              <a:ea typeface="+mn-lt"/>
                              <a:cs typeface="Calibri Light" panose="020F0302020204030204" pitchFamily="34" charset="0"/>
                            </a:rPr>
                            <m:t>𝑃</m:t>
                          </m:r>
                        </m:e>
                      </m:acc>
                      <m:r>
                        <a:rPr lang="en-US" sz="2000" b="0" i="1" smtClean="0">
                          <a:latin typeface="Cambria Math" panose="02040503050406030204" pitchFamily="18" charset="0"/>
                          <a:ea typeface="+mn-lt"/>
                          <a:cs typeface="Calibri Light" panose="020F0302020204030204" pitchFamily="34" charset="0"/>
                        </a:rPr>
                        <m:t>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+mn-lt"/>
                          <a:cs typeface="Calibri Light" panose="020F0302020204030204" pitchFamily="34" charset="0"/>
                        </a:rPr>
                        <m:t>𝑌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+mn-lt"/>
                          <a:cs typeface="Calibri Light" panose="020F0302020204030204" pitchFamily="34" charset="0"/>
                        </a:rPr>
                        <m:t>=1|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+mn-lt"/>
                          <a:cs typeface="Calibri Light" panose="020F0302020204030204" pitchFamily="34" charset="0"/>
                        </a:rPr>
                        <m:t>𝑋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+mn-lt"/>
                          <a:cs typeface="Calibri Light" panose="020F0302020204030204" pitchFamily="34" charset="0"/>
                        </a:rPr>
                        <m:t>)}</m:t>
                      </m:r>
                    </m:oMath>
                  </m:oMathPara>
                </a14:m>
                <a:endParaRPr lang="en-US" sz="2000" dirty="0">
                  <a:latin typeface="Calibri Light" panose="020F0302020204030204" pitchFamily="34" charset="0"/>
                  <a:ea typeface="+mn-lt"/>
                  <a:cs typeface="Calibri Light" panose="020F0302020204030204" pitchFamily="34" charset="0"/>
                </a:endParaRPr>
              </a:p>
              <a:p>
                <a:pPr marL="285750" indent="-285750">
                  <a:buFont typeface="Arial"/>
                  <a:buChar char="•"/>
                </a:pPr>
                <a:r>
                  <a:rPr lang="en-US" sz="2000" dirty="0">
                    <a:latin typeface="Calibri Light" panose="020F0302020204030204" pitchFamily="34" charset="0"/>
                    <a:ea typeface="+mn-lt"/>
                    <a:cs typeface="Calibri Light" panose="020F0302020204030204" pitchFamily="34" charset="0"/>
                  </a:rPr>
                  <a:t>Use all patients</a:t>
                </a:r>
              </a:p>
              <a:p>
                <a:pPr marL="285750" indent="-285750">
                  <a:buFont typeface="Arial"/>
                  <a:buChar char="•"/>
                </a:pPr>
                <a:r>
                  <a:rPr lang="en-US" sz="2000" dirty="0">
                    <a:latin typeface="Calibri Light" panose="020F0302020204030204" pitchFamily="34" charset="0"/>
                    <a:ea typeface="+mn-lt"/>
                    <a:cs typeface="Calibri Light" panose="020F0302020204030204" pitchFamily="34" charset="0"/>
                  </a:rPr>
                  <a:t>Convert high-dimensional EHR predictors into one informative score</a:t>
                </a:r>
              </a:p>
              <a:p>
                <a:pPr marL="285750" indent="-285750">
                  <a:buFont typeface="Arial"/>
                  <a:buChar char="•"/>
                </a:pPr>
                <a:r>
                  <a:rPr lang="en-US" sz="2000" dirty="0">
                    <a:latin typeface="Calibri Light" panose="020F0302020204030204" pitchFamily="34" charset="0"/>
                    <a:ea typeface="+mn-lt"/>
                    <a:cs typeface="Calibri Light" panose="020F0302020204030204" pitchFamily="34" charset="0"/>
                  </a:rPr>
                  <a:t>Use</a:t>
                </a:r>
                <a:r>
                  <a:rPr lang="zh-CN" altLang="en-US" sz="2000" dirty="0">
                    <a:latin typeface="Calibri Light" panose="020F0302020204030204" pitchFamily="34" charset="0"/>
                    <a:ea typeface="+mn-lt"/>
                    <a:cs typeface="Calibri Light" panose="020F0302020204030204" pitchFamily="34" charset="0"/>
                  </a:rPr>
                  <a:t> </a:t>
                </a:r>
                <a:r>
                  <a:rPr lang="en-US" altLang="zh-CN" sz="2000" dirty="0">
                    <a:latin typeface="Calibri Light" panose="020F0302020204030204" pitchFamily="34" charset="0"/>
                    <a:ea typeface="+mn-lt"/>
                    <a:cs typeface="Calibri Light" panose="020F0302020204030204" pitchFamily="34" charset="0"/>
                  </a:rPr>
                  <a:t>s</a:t>
                </a:r>
                <a:r>
                  <a:rPr lang="en-US" sz="2000" dirty="0">
                    <a:latin typeface="Calibri Light" panose="020F0302020204030204" pitchFamily="34" charset="0"/>
                    <a:ea typeface="+mn-lt"/>
                    <a:cs typeface="Calibri Light" panose="020F0302020204030204" pitchFamily="34" charset="0"/>
                  </a:rPr>
                  <a:t>ample</a:t>
                </a:r>
                <a:r>
                  <a:rPr lang="en-US" altLang="zh-CN" sz="2000" dirty="0">
                    <a:latin typeface="Calibri Light" panose="020F0302020204030204" pitchFamily="34" charset="0"/>
                    <a:ea typeface="+mn-lt"/>
                    <a:cs typeface="Calibri Light" panose="020F0302020204030204" pitchFamily="34" charset="0"/>
                  </a:rPr>
                  <a:t>-splitting</a:t>
                </a:r>
                <a:r>
                  <a:rPr lang="zh-CN" altLang="en-US" sz="2000" dirty="0">
                    <a:latin typeface="Calibri Light" panose="020F0302020204030204" pitchFamily="34" charset="0"/>
                    <a:ea typeface="+mn-lt"/>
                    <a:cs typeface="Calibri Light" panose="020F0302020204030204" pitchFamily="34" charset="0"/>
                  </a:rPr>
                  <a:t> </a:t>
                </a:r>
                <a:r>
                  <a:rPr lang="en-US" altLang="zh-CN" sz="2000" dirty="0">
                    <a:latin typeface="Calibri Light" panose="020F0302020204030204" pitchFamily="34" charset="0"/>
                    <a:ea typeface="+mn-lt"/>
                    <a:cs typeface="Calibri Light" panose="020F0302020204030204" pitchFamily="34" charset="0"/>
                  </a:rPr>
                  <a:t>to</a:t>
                </a:r>
                <a:r>
                  <a:rPr lang="zh-CN" altLang="en-US" sz="2000" dirty="0">
                    <a:latin typeface="Calibri Light" panose="020F0302020204030204" pitchFamily="34" charset="0"/>
                    <a:ea typeface="+mn-lt"/>
                    <a:cs typeface="Calibri Light" panose="020F0302020204030204" pitchFamily="34" charset="0"/>
                  </a:rPr>
                  <a:t> </a:t>
                </a:r>
                <a:r>
                  <a:rPr lang="en-US" altLang="zh-CN" sz="2000" dirty="0">
                    <a:latin typeface="Calibri Light" panose="020F0302020204030204" pitchFamily="34" charset="0"/>
                    <a:ea typeface="+mn-lt"/>
                    <a:cs typeface="Calibri Light" panose="020F0302020204030204" pitchFamily="34" charset="0"/>
                  </a:rPr>
                  <a:t>reduce</a:t>
                </a:r>
                <a:r>
                  <a:rPr lang="zh-CN" altLang="en-US" sz="2000" dirty="0">
                    <a:latin typeface="Calibri Light" panose="020F0302020204030204" pitchFamily="34" charset="0"/>
                    <a:ea typeface="+mn-lt"/>
                    <a:cs typeface="Calibri Light" panose="020F0302020204030204" pitchFamily="34" charset="0"/>
                  </a:rPr>
                  <a:t> </a:t>
                </a:r>
                <a:r>
                  <a:rPr lang="en-US" altLang="zh-CN" sz="2000" dirty="0">
                    <a:latin typeface="Calibri Light" panose="020F0302020204030204" pitchFamily="34" charset="0"/>
                    <a:ea typeface="+mn-lt"/>
                    <a:cs typeface="Calibri Light" panose="020F0302020204030204" pitchFamily="34" charset="0"/>
                  </a:rPr>
                  <a:t>overfitting</a:t>
                </a:r>
                <a:endParaRPr lang="en-US" sz="2000" dirty="0">
                  <a:latin typeface="Calibri Light" panose="020F0302020204030204" pitchFamily="34" charset="0"/>
                  <a:ea typeface="+mn-lt"/>
                  <a:cs typeface="Calibri Light" panose="020F0302020204030204" pitchFamily="34" charset="0"/>
                </a:endParaRPr>
              </a:p>
            </p:txBody>
          </p:sp>
        </mc:Choice>
        <mc:Fallback xmlns="">
          <p:sp>
            <p:nvSpPr>
              <p:cNvPr id="16" name="Content Placeholder 2">
                <a:extLst>
                  <a:ext uri="{FF2B5EF4-FFF2-40B4-BE49-F238E27FC236}">
                    <a16:creationId xmlns:a16="http://schemas.microsoft.com/office/drawing/2014/main" id="{AD88D14E-23CB-B04D-2C18-52508C301B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77402" y="3259111"/>
                <a:ext cx="5169066" cy="2612352"/>
              </a:xfrm>
              <a:prstGeom prst="rect">
                <a:avLst/>
              </a:prstGeom>
              <a:blipFill>
                <a:blip r:embed="rId6"/>
                <a:stretch>
                  <a:fillRect l="-3431" b="-193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F946F887-42D3-6C7F-4684-D4AF1E064C05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6560820" y="3259111"/>
                <a:ext cx="5307328" cy="198827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0" tIns="97648" rIns="0" bIns="97648" numCol="1" anchor="t" anchorCtr="0" compatLnSpc="1">
                <a:prstTxWarp prst="textNoShape">
                  <a:avLst/>
                </a:prstTxWarp>
                <a:spAutoFit/>
              </a:bodyPr>
              <a:lstStyle>
                <a:lvl1pPr marL="182166" indent="-182166" algn="l" defTabSz="676275" rtl="0" eaLnBrk="1" fontAlgn="base" hangingPunct="1">
                  <a:spcBef>
                    <a:spcPts val="300"/>
                  </a:spcBef>
                  <a:spcAft>
                    <a:spcPts val="150"/>
                  </a:spcAft>
                  <a:buClr>
                    <a:schemeClr val="tx2"/>
                  </a:buClr>
                  <a:buSzPct val="120000"/>
                  <a:buFont typeface="Lucida Grande" panose="020B0600040502020204" pitchFamily="34" charset="0"/>
                  <a:buChar char="‣"/>
                  <a:defRPr sz="21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95300" indent="-227410" algn="l" defTabSz="676275" rtl="0" eaLnBrk="1" fontAlgn="base" hangingPunct="1">
                  <a:spcBef>
                    <a:spcPts val="150"/>
                  </a:spcBef>
                  <a:spcAft>
                    <a:spcPts val="150"/>
                  </a:spcAft>
                  <a:buClr>
                    <a:schemeClr val="tx1"/>
                  </a:buClr>
                  <a:buSzPct val="110000"/>
                  <a:buFont typeface="Arial" panose="020B0604020202020204" pitchFamily="34" charset="0"/>
                  <a:buChar char="•"/>
                  <a:defRPr sz="1800" kern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808435" indent="-227410" algn="l" defTabSz="676275" rtl="0" eaLnBrk="1" fontAlgn="base" hangingPunct="1">
                  <a:spcBef>
                    <a:spcPts val="150"/>
                  </a:spcBef>
                  <a:spcAft>
                    <a:spcPts val="15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–"/>
                  <a:defRPr sz="1500" b="0" kern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078706" indent="-184547" algn="l" defTabSz="676275" rtl="0" eaLnBrk="1" fontAlgn="base" hangingPunct="1">
                  <a:spcBef>
                    <a:spcPts val="150"/>
                  </a:spcBef>
                  <a:spcAft>
                    <a:spcPts val="150"/>
                  </a:spcAft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1350" kern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346597" indent="-182166" algn="l" defTabSz="676275" rtl="0" eaLnBrk="1" fontAlgn="base" hangingPunct="1">
                  <a:spcBef>
                    <a:spcPts val="150"/>
                  </a:spcBef>
                  <a:spcAft>
                    <a:spcPts val="150"/>
                  </a:spcAft>
                  <a:buClr>
                    <a:schemeClr val="tx2"/>
                  </a:buClr>
                  <a:buFont typeface="Franklin Gothic Book" panose="020B0503020102020204" pitchFamily="34" charset="0"/>
                  <a:buChar char="–"/>
                  <a:defRPr sz="1200" kern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200" dirty="0">
                    <a:latin typeface="Calibri" panose="020F0502020204030204" pitchFamily="34" charset="0"/>
                    <a:ea typeface="+mn-lt"/>
                    <a:cs typeface="Calibri" panose="020F0502020204030204" pitchFamily="34" charset="0"/>
                  </a:rPr>
                  <a:t>Stage II: Refine Prediction Using Phase II Data</a:t>
                </a:r>
              </a:p>
              <a:p>
                <a:pPr marL="0" indent="0">
                  <a:spcBef>
                    <a:spcPts val="900"/>
                  </a:spcBef>
                  <a:spcAft>
                    <a:spcPts val="135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  <a:ea typeface="+mn-lt"/>
                          <a:cs typeface="Calibri Light" panose="020F0302020204030204" pitchFamily="34" charset="0"/>
                        </a:rPr>
                        <m:t>𝑙𝑜𝑔𝑖𝑡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+mn-lt"/>
                          <a:cs typeface="Calibri Light" panose="020F0302020204030204" pitchFamily="34" charset="0"/>
                        </a:rPr>
                        <m:t>{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+mn-lt"/>
                          <a:cs typeface="Calibri Light" panose="020F0302020204030204" pitchFamily="34" charset="0"/>
                        </a:rPr>
                        <m:t>𝑃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+mn-lt"/>
                          <a:cs typeface="Calibri Light" panose="020F0302020204030204" pitchFamily="34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+mn-lt"/>
                          <a:cs typeface="Calibri Light" panose="020F0302020204030204" pitchFamily="34" charset="0"/>
                        </a:rPr>
                        <m:t>𝑌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+mn-lt"/>
                          <a:cs typeface="Calibri Light" panose="020F0302020204030204" pitchFamily="34" charset="0"/>
                        </a:rPr>
                        <m:t>=1|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+mn-lt"/>
                          <a:cs typeface="Calibri Light" panose="020F0302020204030204" pitchFamily="34" charset="0"/>
                        </a:rPr>
                        <m:t>𝑋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+mn-lt"/>
                          <a:cs typeface="Calibri Light" panose="020F0302020204030204" pitchFamily="34" charset="0"/>
                        </a:rPr>
                        <m:t>,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+mn-lt"/>
                          <a:cs typeface="Calibri Light" panose="020F0302020204030204" pitchFamily="34" charset="0"/>
                        </a:rPr>
                        <m:t>𝑍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+mn-lt"/>
                          <a:cs typeface="Calibri Light" panose="020F0302020204030204" pitchFamily="34" charset="0"/>
                        </a:rPr>
                        <m:t>)}=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+mn-lt"/>
                              <a:cs typeface="Calibri Light" panose="020F0302020204030204" pitchFamily="34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+mn-lt"/>
                              <a:cs typeface="Calibri Light" panose="020F0302020204030204" pitchFamily="34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+mn-lt"/>
                              <a:cs typeface="Calibri Light" panose="020F0302020204030204" pitchFamily="34" charset="0"/>
                            </a:rPr>
                            <m:t>0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  <a:ea typeface="+mn-lt"/>
                          <a:cs typeface="Calibri Light" panose="020F030202020403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+mn-lt"/>
                              <a:cs typeface="Calibri Light" panose="020F0302020204030204" pitchFamily="34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+mn-lt"/>
                              <a:cs typeface="Calibri Light" panose="020F0302020204030204" pitchFamily="34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+mn-lt"/>
                              <a:cs typeface="Calibri Light" panose="020F0302020204030204" pitchFamily="34" charset="0"/>
                            </a:rPr>
                            <m:t>1</m:t>
                          </m:r>
                        </m:sub>
                      </m:sSub>
                      <m:acc>
                        <m:accPr>
                          <m:chr m:val="̂"/>
                          <m:ctrlPr>
                            <a:rPr lang="en-US" sz="2000" i="1">
                              <a:latin typeface="Cambria Math" panose="02040503050406030204" pitchFamily="18" charset="0"/>
                              <a:ea typeface="+mn-lt"/>
                              <a:cs typeface="Calibri Light" panose="020F0302020204030204" pitchFamily="34" charset="0"/>
                            </a:rPr>
                          </m:ctrlPr>
                        </m:acc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+mn-lt"/>
                              <a:cs typeface="Calibri Light" panose="020F0302020204030204" pitchFamily="34" charset="0"/>
                            </a:rPr>
                            <m:t>ℓ</m:t>
                          </m:r>
                        </m:e>
                      </m:acc>
                      <m:r>
                        <a:rPr lang="en-US" sz="2000" i="1">
                          <a:latin typeface="Cambria Math" panose="02040503050406030204" pitchFamily="18" charset="0"/>
                          <a:ea typeface="+mn-lt"/>
                          <a:cs typeface="Calibri Light" panose="020F0302020204030204" pitchFamily="34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+mn-lt"/>
                          <a:cs typeface="Calibri Light" panose="020F0302020204030204" pitchFamily="34" charset="0"/>
                        </a:rPr>
                        <m:t>𝑋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+mn-lt"/>
                          <a:cs typeface="Calibri Light" panose="020F0302020204030204" pitchFamily="34" charset="0"/>
                        </a:rPr>
                        <m:t>)+</m:t>
                      </m:r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  <a:ea typeface="+mn-lt"/>
                              <a:cs typeface="Calibri Light" panose="020F0302020204030204" pitchFamily="34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+mn-lt"/>
                              <a:cs typeface="Calibri Light" panose="020F0302020204030204" pitchFamily="34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+mn-lt"/>
                              <a:cs typeface="Calibri Light" panose="020F0302020204030204" pitchFamily="34" charset="0"/>
                            </a:rPr>
                            <m:t>2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  <a:ea typeface="+mn-lt"/>
                              <a:cs typeface="Calibri Light" panose="020F0302020204030204" pitchFamily="34" charset="0"/>
                            </a:rPr>
                            <m:t>𝑇</m:t>
                          </m:r>
                        </m:sup>
                      </m:sSubSup>
                      <m:r>
                        <a:rPr lang="en-US" sz="2000" i="1">
                          <a:latin typeface="Cambria Math" panose="02040503050406030204" pitchFamily="18" charset="0"/>
                          <a:ea typeface="+mn-lt"/>
                          <a:cs typeface="Calibri Light" panose="020F0302020204030204" pitchFamily="34" charset="0"/>
                        </a:rPr>
                        <m:t>𝑍</m:t>
                      </m:r>
                    </m:oMath>
                  </m:oMathPara>
                </a14:m>
                <a:endParaRPr lang="en-US" sz="2000" i="1" dirty="0">
                  <a:latin typeface="Cambria Math" panose="02040503050406030204" pitchFamily="18" charset="0"/>
                  <a:ea typeface="+mn-lt"/>
                  <a:cs typeface="Calibri Light" panose="020F0302020204030204" pitchFamily="34" charset="0"/>
                </a:endParaRPr>
              </a:p>
              <a:p>
                <a:pPr marL="285750" indent="-285750">
                  <a:buFont typeface="Arial"/>
                  <a:buChar char="•"/>
                </a:pPr>
                <a:r>
                  <a:rPr lang="en-US" sz="2000" dirty="0">
                    <a:latin typeface="Calibri Light" panose="020F0302020204030204" pitchFamily="34" charset="0"/>
                    <a:ea typeface="+mn-lt"/>
                    <a:cs typeface="Calibri Light" panose="020F0302020204030204" pitchFamily="34" charset="0"/>
                  </a:rPr>
                  <a:t>Use</a:t>
                </a:r>
                <a:r>
                  <a:rPr lang="zh-CN" altLang="en-US" sz="2000" dirty="0">
                    <a:latin typeface="Calibri Light" panose="020F0302020204030204" pitchFamily="34" charset="0"/>
                    <a:ea typeface="+mn-lt"/>
                    <a:cs typeface="Calibri Light" panose="020F0302020204030204" pitchFamily="34" charset="0"/>
                  </a:rPr>
                  <a:t> </a:t>
                </a:r>
                <a:r>
                  <a:rPr lang="en-US" altLang="zh-CN" sz="2000" dirty="0">
                    <a:latin typeface="Calibri Light" panose="020F0302020204030204" pitchFamily="34" charset="0"/>
                    <a:ea typeface="+mn-lt"/>
                    <a:cs typeface="Calibri Light" panose="020F0302020204030204" pitchFamily="34" charset="0"/>
                  </a:rPr>
                  <a:t>patients</a:t>
                </a:r>
                <a:r>
                  <a:rPr lang="zh-CN" altLang="en-US" sz="2000" dirty="0">
                    <a:latin typeface="Calibri Light" panose="020F0302020204030204" pitchFamily="34" charset="0"/>
                    <a:ea typeface="+mn-lt"/>
                    <a:cs typeface="Calibri Light" panose="020F0302020204030204" pitchFamily="34" charset="0"/>
                  </a:rPr>
                  <a:t> </a:t>
                </a:r>
                <a:r>
                  <a:rPr lang="en-US" altLang="zh-CN" sz="2000" dirty="0">
                    <a:latin typeface="Calibri Light" panose="020F0302020204030204" pitchFamily="34" charset="0"/>
                    <a:ea typeface="+mn-lt"/>
                    <a:cs typeface="Calibri Light" panose="020F0302020204030204" pitchFamily="34" charset="0"/>
                  </a:rPr>
                  <a:t>with</a:t>
                </a:r>
                <a:r>
                  <a:rPr lang="zh-CN" altLang="en-US" sz="2000" dirty="0">
                    <a:latin typeface="Calibri Light" panose="020F0302020204030204" pitchFamily="34" charset="0"/>
                    <a:ea typeface="+mn-lt"/>
                    <a:cs typeface="Calibri Light" panose="020F0302020204030204" pitchFamily="34" charset="0"/>
                  </a:rPr>
                  <a:t> </a:t>
                </a:r>
                <a:r>
                  <a:rPr lang="en-US" altLang="zh-CN" sz="2000" dirty="0">
                    <a:latin typeface="Calibri Light" panose="020F0302020204030204" pitchFamily="34" charset="0"/>
                    <a:ea typeface="+mn-lt"/>
                    <a:cs typeface="Calibri Light" panose="020F0302020204030204" pitchFamily="34" charset="0"/>
                  </a:rPr>
                  <a:t>both</a:t>
                </a:r>
                <a:r>
                  <a:rPr lang="zh-CN" altLang="en-US" sz="2000" dirty="0">
                    <a:latin typeface="Calibri Light" panose="020F0302020204030204" pitchFamily="34" charset="0"/>
                    <a:ea typeface="+mn-lt"/>
                    <a:cs typeface="Calibri Light" panose="020F0302020204030204" pitchFamily="34" charset="0"/>
                  </a:rPr>
                  <a:t> </a:t>
                </a:r>
                <a:r>
                  <a:rPr lang="en-US" altLang="zh-CN" sz="2000" dirty="0">
                    <a:latin typeface="Calibri Light" panose="020F0302020204030204" pitchFamily="34" charset="0"/>
                    <a:ea typeface="+mn-lt"/>
                    <a:cs typeface="Calibri Light" panose="020F0302020204030204" pitchFamily="34" charset="0"/>
                  </a:rPr>
                  <a:t>Phase</a:t>
                </a:r>
                <a:r>
                  <a:rPr lang="zh-CN" altLang="en-US" sz="2000" dirty="0">
                    <a:latin typeface="Calibri Light" panose="020F0302020204030204" pitchFamily="34" charset="0"/>
                    <a:ea typeface="+mn-lt"/>
                    <a:cs typeface="Calibri Light" panose="020F0302020204030204" pitchFamily="34" charset="0"/>
                  </a:rPr>
                  <a:t> </a:t>
                </a:r>
                <a:r>
                  <a:rPr lang="en-US" altLang="zh-CN" sz="2000" dirty="0">
                    <a:latin typeface="Calibri Light" panose="020F0302020204030204" pitchFamily="34" charset="0"/>
                    <a:ea typeface="+mn-lt"/>
                    <a:cs typeface="Calibri Light" panose="020F0302020204030204" pitchFamily="34" charset="0"/>
                  </a:rPr>
                  <a:t>I</a:t>
                </a:r>
                <a:r>
                  <a:rPr lang="zh-CN" altLang="en-US" sz="2000" dirty="0">
                    <a:latin typeface="Calibri Light" panose="020F0302020204030204" pitchFamily="34" charset="0"/>
                    <a:ea typeface="+mn-lt"/>
                    <a:cs typeface="Calibri Light" panose="020F0302020204030204" pitchFamily="34" charset="0"/>
                  </a:rPr>
                  <a:t> </a:t>
                </a:r>
                <a:r>
                  <a:rPr lang="en-US" altLang="zh-CN" sz="2000" dirty="0">
                    <a:latin typeface="Calibri Light" panose="020F0302020204030204" pitchFamily="34" charset="0"/>
                    <a:ea typeface="+mn-lt"/>
                    <a:cs typeface="Calibri Light" panose="020F0302020204030204" pitchFamily="34" charset="0"/>
                  </a:rPr>
                  <a:t>and</a:t>
                </a:r>
                <a:r>
                  <a:rPr lang="zh-CN" altLang="en-US" sz="2000" dirty="0">
                    <a:latin typeface="Calibri Light" panose="020F0302020204030204" pitchFamily="34" charset="0"/>
                    <a:ea typeface="+mn-lt"/>
                    <a:cs typeface="Calibri Light" panose="020F0302020204030204" pitchFamily="34" charset="0"/>
                  </a:rPr>
                  <a:t> </a:t>
                </a:r>
                <a:r>
                  <a:rPr lang="en-US" altLang="zh-CN" sz="2000" dirty="0">
                    <a:latin typeface="Calibri Light" panose="020F0302020204030204" pitchFamily="34" charset="0"/>
                    <a:ea typeface="+mn-lt"/>
                    <a:cs typeface="Calibri Light" panose="020F0302020204030204" pitchFamily="34" charset="0"/>
                  </a:rPr>
                  <a:t>II</a:t>
                </a:r>
                <a:r>
                  <a:rPr lang="zh-CN" altLang="en-US" sz="2000" dirty="0">
                    <a:latin typeface="Calibri Light" panose="020F0302020204030204" pitchFamily="34" charset="0"/>
                    <a:ea typeface="+mn-lt"/>
                    <a:cs typeface="Calibri Light" panose="020F0302020204030204" pitchFamily="34" charset="0"/>
                  </a:rPr>
                  <a:t> </a:t>
                </a:r>
                <a:r>
                  <a:rPr lang="en-US" altLang="zh-CN" sz="2000" dirty="0">
                    <a:latin typeface="Calibri Light" panose="020F0302020204030204" pitchFamily="34" charset="0"/>
                    <a:ea typeface="+mn-lt"/>
                    <a:cs typeface="Calibri Light" panose="020F0302020204030204" pitchFamily="34" charset="0"/>
                  </a:rPr>
                  <a:t>data</a:t>
                </a:r>
                <a:endParaRPr lang="en-US" sz="2000" dirty="0">
                  <a:latin typeface="Calibri Light" panose="020F0302020204030204" pitchFamily="34" charset="0"/>
                  <a:ea typeface="+mn-lt"/>
                  <a:cs typeface="Calibri Light" panose="020F0302020204030204" pitchFamily="34" charset="0"/>
                </a:endParaRPr>
              </a:p>
              <a:p>
                <a:pPr marL="285750" indent="-285750">
                  <a:spcBef>
                    <a:spcPts val="900"/>
                  </a:spcBef>
                  <a:buFont typeface="Arial"/>
                  <a:buChar char="•"/>
                </a:pPr>
                <a:r>
                  <a:rPr lang="en-US" sz="2000" dirty="0">
                    <a:latin typeface="Calibri Light" panose="020F0302020204030204" pitchFamily="34" charset="0"/>
                    <a:ea typeface="+mn-lt"/>
                    <a:cs typeface="Calibri Light" panose="020F0302020204030204" pitchFamily="34" charset="0"/>
                  </a:rPr>
                  <a:t>Similar to model recalibration</a:t>
                </a:r>
                <a:r>
                  <a:rPr lang="zh-CN" altLang="en-US" sz="2000" dirty="0">
                    <a:latin typeface="Calibri Light" panose="020F0302020204030204" pitchFamily="34" charset="0"/>
                    <a:ea typeface="+mn-lt"/>
                    <a:cs typeface="Calibri Light" panose="020F0302020204030204" pitchFamily="34" charset="0"/>
                  </a:rPr>
                  <a:t> </a:t>
                </a:r>
                <a:r>
                  <a:rPr lang="en-US" altLang="zh-CN" sz="2000" dirty="0">
                    <a:latin typeface="Calibri Light" panose="020F0302020204030204" pitchFamily="34" charset="0"/>
                    <a:ea typeface="+mn-lt"/>
                    <a:cs typeface="Calibri Light" panose="020F0302020204030204" pitchFamily="34" charset="0"/>
                  </a:rPr>
                  <a:t>and</a:t>
                </a:r>
                <a:r>
                  <a:rPr lang="zh-CN" altLang="en-US" sz="2000" dirty="0">
                    <a:latin typeface="Calibri Light" panose="020F0302020204030204" pitchFamily="34" charset="0"/>
                    <a:ea typeface="+mn-lt"/>
                    <a:cs typeface="Calibri Light" panose="020F0302020204030204" pitchFamily="34" charset="0"/>
                  </a:rPr>
                  <a:t> </a:t>
                </a:r>
                <a:r>
                  <a:rPr lang="en-US" altLang="zh-CN" sz="2000" dirty="0">
                    <a:latin typeface="Calibri Light" panose="020F0302020204030204" pitchFamily="34" charset="0"/>
                    <a:ea typeface="+mn-lt"/>
                    <a:cs typeface="Calibri Light" panose="020F0302020204030204" pitchFamily="34" charset="0"/>
                  </a:rPr>
                  <a:t>revision</a:t>
                </a:r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F946F887-42D3-6C7F-4684-D4AF1E064C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60820" y="3259111"/>
                <a:ext cx="5307328" cy="1988271"/>
              </a:xfrm>
              <a:prstGeom prst="rect">
                <a:avLst/>
              </a:prstGeom>
              <a:blipFill>
                <a:blip r:embed="rId7"/>
                <a:stretch>
                  <a:fillRect l="-3103" b="-253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31710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1D83F-2EEF-3166-525E-18A5B8D88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D6927-11A4-7210-D7FE-A39E52442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368" y="476873"/>
            <a:ext cx="11074576" cy="430887"/>
          </a:xfrm>
        </p:spPr>
        <p:txBody>
          <a:bodyPr/>
          <a:lstStyle/>
          <a:p>
            <a:r>
              <a:rPr lang="en-US" sz="2800" dirty="0">
                <a:latin typeface="Calibri"/>
                <a:ea typeface="+mn-lt"/>
                <a:cs typeface="+mn-lt"/>
              </a:rPr>
              <a:t>Model</a:t>
            </a:r>
            <a:r>
              <a:rPr lang="zh-CN" altLang="en-US" sz="2800" dirty="0">
                <a:latin typeface="Calibri"/>
                <a:ea typeface="+mn-lt"/>
                <a:cs typeface="+mn-lt"/>
              </a:rPr>
              <a:t> </a:t>
            </a:r>
            <a:r>
              <a:rPr lang="en-US" altLang="zh-CN" sz="2800" dirty="0">
                <a:latin typeface="Calibri"/>
                <a:ea typeface="+mn-lt"/>
                <a:cs typeface="+mn-lt"/>
              </a:rPr>
              <a:t>Fitting</a:t>
            </a:r>
            <a:r>
              <a:rPr lang="zh-CN" altLang="en-US" sz="2800" dirty="0">
                <a:latin typeface="Calibri"/>
                <a:ea typeface="+mn-lt"/>
                <a:cs typeface="+mn-lt"/>
              </a:rPr>
              <a:t> </a:t>
            </a:r>
            <a:r>
              <a:rPr lang="en-US" altLang="zh-CN" sz="2800" dirty="0">
                <a:latin typeface="Calibri"/>
                <a:ea typeface="+mn-lt"/>
                <a:cs typeface="+mn-lt"/>
              </a:rPr>
              <a:t>–</a:t>
            </a:r>
            <a:r>
              <a:rPr lang="zh-CN" altLang="en-US" sz="2800" dirty="0">
                <a:latin typeface="Calibri"/>
                <a:ea typeface="+mn-lt"/>
                <a:cs typeface="+mn-lt"/>
              </a:rPr>
              <a:t> </a:t>
            </a:r>
            <a:r>
              <a:rPr lang="en-US" altLang="zh-CN" sz="2800" dirty="0">
                <a:latin typeface="Calibri"/>
                <a:ea typeface="+mn-lt"/>
                <a:cs typeface="+mn-lt"/>
              </a:rPr>
              <a:t>Selection</a:t>
            </a:r>
            <a:r>
              <a:rPr lang="zh-CN" altLang="en-US" sz="2800" dirty="0">
                <a:latin typeface="Calibri"/>
                <a:ea typeface="+mn-lt"/>
                <a:cs typeface="+mn-lt"/>
              </a:rPr>
              <a:t> </a:t>
            </a:r>
            <a:r>
              <a:rPr lang="en-US" altLang="zh-CN" sz="2800" dirty="0">
                <a:latin typeface="Calibri"/>
                <a:ea typeface="+mn-lt"/>
                <a:cs typeface="+mn-lt"/>
              </a:rPr>
              <a:t>Bias</a:t>
            </a:r>
            <a:r>
              <a:rPr lang="zh-CN" altLang="en-US" sz="2800" dirty="0">
                <a:latin typeface="Calibri"/>
                <a:ea typeface="+mn-lt"/>
                <a:cs typeface="+mn-lt"/>
              </a:rPr>
              <a:t> </a:t>
            </a:r>
            <a:r>
              <a:rPr lang="en-US" altLang="zh-CN" sz="2800" dirty="0">
                <a:latin typeface="Calibri"/>
                <a:ea typeface="+mn-lt"/>
                <a:cs typeface="+mn-lt"/>
              </a:rPr>
              <a:t>Correction</a:t>
            </a:r>
            <a:endParaRPr lang="en-US" sz="2800" dirty="0">
              <a:latin typeface="Calibri"/>
              <a:ea typeface="+mn-lt"/>
              <a:cs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Content Placeholder 2">
                <a:extLst>
                  <a:ext uri="{FF2B5EF4-FFF2-40B4-BE49-F238E27FC236}">
                    <a16:creationId xmlns:a16="http://schemas.microsoft.com/office/drawing/2014/main" id="{16EA4E6C-D663-897F-0113-02236FF9E4D4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605368" y="1334686"/>
                <a:ext cx="5955452" cy="10734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0" tIns="97648" rIns="0" bIns="97648" numCol="1" anchor="t" anchorCtr="0" compatLnSpc="1">
                <a:prstTxWarp prst="textNoShape">
                  <a:avLst/>
                </a:prstTxWarp>
                <a:spAutoFit/>
              </a:bodyPr>
              <a:lstStyle>
                <a:lvl1pPr marL="182166" indent="-182166" algn="l" defTabSz="676275" rtl="0" eaLnBrk="1" fontAlgn="base" hangingPunct="1">
                  <a:spcBef>
                    <a:spcPts val="300"/>
                  </a:spcBef>
                  <a:spcAft>
                    <a:spcPts val="150"/>
                  </a:spcAft>
                  <a:buClr>
                    <a:schemeClr val="tx2"/>
                  </a:buClr>
                  <a:buSzPct val="120000"/>
                  <a:buFont typeface="Lucida Grande" panose="020B0600040502020204" pitchFamily="34" charset="0"/>
                  <a:buChar char="‣"/>
                  <a:defRPr sz="21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95300" indent="-227410" algn="l" defTabSz="676275" rtl="0" eaLnBrk="1" fontAlgn="base" hangingPunct="1">
                  <a:spcBef>
                    <a:spcPts val="150"/>
                  </a:spcBef>
                  <a:spcAft>
                    <a:spcPts val="150"/>
                  </a:spcAft>
                  <a:buClr>
                    <a:schemeClr val="tx1"/>
                  </a:buClr>
                  <a:buSzPct val="110000"/>
                  <a:buFont typeface="Arial" panose="020B0604020202020204" pitchFamily="34" charset="0"/>
                  <a:buChar char="•"/>
                  <a:defRPr sz="1800" kern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808435" indent="-227410" algn="l" defTabSz="676275" rtl="0" eaLnBrk="1" fontAlgn="base" hangingPunct="1">
                  <a:spcBef>
                    <a:spcPts val="150"/>
                  </a:spcBef>
                  <a:spcAft>
                    <a:spcPts val="15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–"/>
                  <a:defRPr sz="1500" b="0" kern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078706" indent="-184547" algn="l" defTabSz="676275" rtl="0" eaLnBrk="1" fontAlgn="base" hangingPunct="1">
                  <a:spcBef>
                    <a:spcPts val="150"/>
                  </a:spcBef>
                  <a:spcAft>
                    <a:spcPts val="150"/>
                  </a:spcAft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1350" kern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346597" indent="-182166" algn="l" defTabSz="676275" rtl="0" eaLnBrk="1" fontAlgn="base" hangingPunct="1">
                  <a:spcBef>
                    <a:spcPts val="150"/>
                  </a:spcBef>
                  <a:spcAft>
                    <a:spcPts val="150"/>
                  </a:spcAft>
                  <a:buClr>
                    <a:schemeClr val="tx2"/>
                  </a:buClr>
                  <a:buFont typeface="Franklin Gothic Book" panose="020B0503020102020204" pitchFamily="34" charset="0"/>
                  <a:buChar char="–"/>
                  <a:defRPr sz="1200" kern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200" dirty="0">
                    <a:latin typeface="Calibri" panose="020F0502020204030204" pitchFamily="34" charset="0"/>
                    <a:ea typeface="+mn-lt"/>
                    <a:cs typeface="Calibri" panose="020F0502020204030204" pitchFamily="34" charset="0"/>
                  </a:rPr>
                  <a:t>Stage I: </a:t>
                </a:r>
                <a14:m>
                  <m:oMath xmlns:m="http://schemas.openxmlformats.org/officeDocument/2006/math">
                    <m:r>
                      <a:rPr lang="zh-CN" altLang="en-US" sz="2000" b="0" i="0" smtClean="0">
                        <a:latin typeface="Cambria Math" panose="02040503050406030204" pitchFamily="18" charset="0"/>
                        <a:ea typeface="+mn-lt"/>
                        <a:cs typeface="Calibri Light" panose="020F0302020204030204" pitchFamily="34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+mn-lt"/>
                        <a:cs typeface="Calibri Light" panose="020F0302020204030204" pitchFamily="34" charset="0"/>
                      </a:rPr>
                      <m:t> </m:t>
                    </m:r>
                    <m:acc>
                      <m:accPr>
                        <m:chr m:val="̂"/>
                        <m:ctrlPr>
                          <a:rPr lang="en-US" sz="2000" i="1" smtClean="0">
                            <a:latin typeface="Cambria Math" panose="02040503050406030204" pitchFamily="18" charset="0"/>
                            <a:ea typeface="+mn-lt"/>
                            <a:cs typeface="Calibri Light" panose="020F0302020204030204" pitchFamily="34" charset="0"/>
                          </a:rPr>
                        </m:ctrlPr>
                      </m:acc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  <a:ea typeface="+mn-lt"/>
                            <a:cs typeface="Calibri Light" panose="020F0302020204030204" pitchFamily="34" charset="0"/>
                          </a:rPr>
                          <m:t>ℓ</m:t>
                        </m:r>
                      </m:e>
                    </m:acc>
                    <m:r>
                      <a:rPr lang="en-US" sz="2000" b="0" i="1" smtClean="0">
                        <a:latin typeface="Cambria Math" panose="02040503050406030204" pitchFamily="18" charset="0"/>
                        <a:ea typeface="+mn-lt"/>
                        <a:cs typeface="Calibri Light" panose="020F0302020204030204" pitchFamily="34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+mn-lt"/>
                        <a:cs typeface="Calibri Light" panose="020F0302020204030204" pitchFamily="34" charset="0"/>
                      </a:rPr>
                      <m:t>𝑋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+mn-lt"/>
                        <a:cs typeface="Calibri Light" panose="020F0302020204030204" pitchFamily="34" charset="0"/>
                      </a:rPr>
                      <m:t>)=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+mn-lt"/>
                        <a:cs typeface="Calibri Light" panose="020F0302020204030204" pitchFamily="34" charset="0"/>
                      </a:rPr>
                      <m:t>𝑙𝑜𝑔𝑖𝑡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+mn-lt"/>
                        <a:cs typeface="Calibri Light" panose="020F0302020204030204" pitchFamily="34" charset="0"/>
                      </a:rPr>
                      <m:t>{</m:t>
                    </m:r>
                    <m:acc>
                      <m:accPr>
                        <m:chr m:val="̂"/>
                        <m:ctrlPr>
                          <a:rPr lang="en-US" sz="2000" i="1" smtClean="0">
                            <a:latin typeface="Cambria Math" panose="02040503050406030204" pitchFamily="18" charset="0"/>
                            <a:ea typeface="+mn-lt"/>
                            <a:cs typeface="Calibri Light" panose="020F0302020204030204" pitchFamily="34" charset="0"/>
                          </a:rPr>
                        </m:ctrlPr>
                      </m:accPr>
                      <m:e>
                        <m:r>
                          <a:rPr lang="en-US" sz="2000" b="0" i="1">
                            <a:latin typeface="Cambria Math" panose="02040503050406030204" pitchFamily="18" charset="0"/>
                            <a:ea typeface="+mn-lt"/>
                            <a:cs typeface="Calibri Light" panose="020F0302020204030204" pitchFamily="34" charset="0"/>
                          </a:rPr>
                          <m:t>𝑃</m:t>
                        </m:r>
                      </m:e>
                    </m:acc>
                    <m:r>
                      <a:rPr lang="en-US" sz="2000" b="0" i="1" smtClean="0">
                        <a:latin typeface="Cambria Math" panose="02040503050406030204" pitchFamily="18" charset="0"/>
                        <a:ea typeface="+mn-lt"/>
                        <a:cs typeface="Calibri Light" panose="020F0302020204030204" pitchFamily="34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+mn-lt"/>
                        <a:cs typeface="Calibri Light" panose="020F0302020204030204" pitchFamily="34" charset="0"/>
                      </a:rPr>
                      <m:t>𝑌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+mn-lt"/>
                        <a:cs typeface="Calibri Light" panose="020F0302020204030204" pitchFamily="34" charset="0"/>
                      </a:rPr>
                      <m:t>=1|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+mn-lt"/>
                        <a:cs typeface="Calibri Light" panose="020F0302020204030204" pitchFamily="34" charset="0"/>
                      </a:rPr>
                      <m:t>𝑋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+mn-lt"/>
                        <a:cs typeface="Calibri Light" panose="020F0302020204030204" pitchFamily="34" charset="0"/>
                      </a:rPr>
                      <m:t>)}</m:t>
                    </m:r>
                  </m:oMath>
                </a14:m>
                <a:endParaRPr lang="en-US" sz="2000" dirty="0">
                  <a:latin typeface="Calibri Light" panose="020F0302020204030204" pitchFamily="34" charset="0"/>
                  <a:ea typeface="+mn-lt"/>
                  <a:cs typeface="Calibri Light" panose="020F0302020204030204" pitchFamily="34" charset="0"/>
                </a:endParaRPr>
              </a:p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200" dirty="0">
                    <a:latin typeface="Calibri" panose="020F0502020204030204" pitchFamily="34" charset="0"/>
                    <a:ea typeface="+mn-lt"/>
                    <a:cs typeface="Calibri" panose="020F0502020204030204" pitchFamily="34" charset="0"/>
                  </a:rPr>
                  <a:t>Stage II: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+mn-lt"/>
                        <a:cs typeface="Calibri Light" panose="020F0302020204030204" pitchFamily="34" charset="0"/>
                      </a:rPr>
                      <m:t>𝑙𝑜𝑔𝑖𝑡</m:t>
                    </m:r>
                    <m:r>
                      <a:rPr lang="en-US" sz="2000" i="1">
                        <a:latin typeface="Cambria Math" panose="02040503050406030204" pitchFamily="18" charset="0"/>
                        <a:ea typeface="+mn-lt"/>
                        <a:cs typeface="Calibri Light" panose="020F0302020204030204" pitchFamily="34" charset="0"/>
                      </a:rPr>
                      <m:t>{</m:t>
                    </m:r>
                    <m:r>
                      <a:rPr lang="en-US" sz="2000" i="1">
                        <a:latin typeface="Cambria Math" panose="02040503050406030204" pitchFamily="18" charset="0"/>
                        <a:ea typeface="+mn-lt"/>
                        <a:cs typeface="Calibri Light" panose="020F0302020204030204" pitchFamily="34" charset="0"/>
                      </a:rPr>
                      <m:t>𝑃</m:t>
                    </m:r>
                    <m:r>
                      <a:rPr lang="en-US" sz="2000" i="1">
                        <a:latin typeface="Cambria Math" panose="02040503050406030204" pitchFamily="18" charset="0"/>
                        <a:ea typeface="+mn-lt"/>
                        <a:cs typeface="Calibri Light" panose="020F0302020204030204" pitchFamily="34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  <a:ea typeface="+mn-lt"/>
                        <a:cs typeface="Calibri Light" panose="020F0302020204030204" pitchFamily="34" charset="0"/>
                      </a:rPr>
                      <m:t>𝑌</m:t>
                    </m:r>
                    <m:r>
                      <a:rPr lang="en-US" sz="2000" i="1">
                        <a:latin typeface="Cambria Math" panose="02040503050406030204" pitchFamily="18" charset="0"/>
                        <a:ea typeface="+mn-lt"/>
                        <a:cs typeface="Calibri Light" panose="020F0302020204030204" pitchFamily="34" charset="0"/>
                      </a:rPr>
                      <m:t>=1|</m:t>
                    </m:r>
                    <m:r>
                      <a:rPr lang="en-US" sz="2000" i="1">
                        <a:latin typeface="Cambria Math" panose="02040503050406030204" pitchFamily="18" charset="0"/>
                        <a:ea typeface="+mn-lt"/>
                        <a:cs typeface="Calibri Light" panose="020F0302020204030204" pitchFamily="34" charset="0"/>
                      </a:rPr>
                      <m:t>𝑋</m:t>
                    </m:r>
                    <m:r>
                      <a:rPr lang="en-US" sz="2000" i="1">
                        <a:latin typeface="Cambria Math" panose="02040503050406030204" pitchFamily="18" charset="0"/>
                        <a:ea typeface="+mn-lt"/>
                        <a:cs typeface="Calibri Light" panose="020F0302020204030204" pitchFamily="34" charset="0"/>
                      </a:rPr>
                      <m:t>,</m:t>
                    </m:r>
                    <m:r>
                      <a:rPr lang="en-US" sz="2000" i="1">
                        <a:latin typeface="Cambria Math" panose="02040503050406030204" pitchFamily="18" charset="0"/>
                        <a:ea typeface="+mn-lt"/>
                        <a:cs typeface="Calibri Light" panose="020F0302020204030204" pitchFamily="34" charset="0"/>
                      </a:rPr>
                      <m:t>𝑍</m:t>
                    </m:r>
                    <m:r>
                      <a:rPr lang="en-US" sz="2000" i="1">
                        <a:latin typeface="Cambria Math" panose="02040503050406030204" pitchFamily="18" charset="0"/>
                        <a:ea typeface="+mn-lt"/>
                        <a:cs typeface="Calibri Light" panose="020F0302020204030204" pitchFamily="34" charset="0"/>
                      </a:rPr>
                      <m:t>)}=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+mn-lt"/>
                            <a:cs typeface="Calibri Light" panose="020F0302020204030204" pitchFamily="34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+mn-lt"/>
                            <a:cs typeface="Calibri Light" panose="020F0302020204030204" pitchFamily="34" charset="0"/>
                          </a:rPr>
                          <m:t>𝛽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+mn-lt"/>
                            <a:cs typeface="Calibri Light" panose="020F0302020204030204" pitchFamily="34" charset="0"/>
                          </a:rPr>
                          <m:t>0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ea typeface="+mn-lt"/>
                        <a:cs typeface="Calibri Light" panose="020F0302020204030204" pitchFamily="34" charset="0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+mn-lt"/>
                            <a:cs typeface="Calibri Light" panose="020F0302020204030204" pitchFamily="34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+mn-lt"/>
                            <a:cs typeface="Calibri Light" panose="020F0302020204030204" pitchFamily="34" charset="0"/>
                          </a:rPr>
                          <m:t>𝛽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+mn-lt"/>
                            <a:cs typeface="Calibri Light" panose="020F0302020204030204" pitchFamily="34" charset="0"/>
                          </a:rPr>
                          <m:t>1</m:t>
                        </m:r>
                      </m:sub>
                    </m:sSub>
                    <m:acc>
                      <m:accPr>
                        <m:chr m:val="̂"/>
                        <m:ctrlPr>
                          <a:rPr lang="en-US" sz="2000" i="1">
                            <a:latin typeface="Cambria Math" panose="02040503050406030204" pitchFamily="18" charset="0"/>
                            <a:ea typeface="+mn-lt"/>
                            <a:cs typeface="Calibri Light" panose="020F0302020204030204" pitchFamily="34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+mn-lt"/>
                            <a:cs typeface="Calibri Light" panose="020F0302020204030204" pitchFamily="34" charset="0"/>
                          </a:rPr>
                          <m:t>ℓ</m:t>
                        </m:r>
                      </m:e>
                    </m:acc>
                    <m:r>
                      <a:rPr lang="en-US" sz="2000" i="1">
                        <a:latin typeface="Cambria Math" panose="02040503050406030204" pitchFamily="18" charset="0"/>
                        <a:ea typeface="+mn-lt"/>
                        <a:cs typeface="Calibri Light" panose="020F0302020204030204" pitchFamily="34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  <a:ea typeface="+mn-lt"/>
                        <a:cs typeface="Calibri Light" panose="020F0302020204030204" pitchFamily="34" charset="0"/>
                      </a:rPr>
                      <m:t>𝑋</m:t>
                    </m:r>
                    <m:r>
                      <a:rPr lang="en-US" sz="2000" i="1">
                        <a:latin typeface="Cambria Math" panose="02040503050406030204" pitchFamily="18" charset="0"/>
                        <a:ea typeface="+mn-lt"/>
                        <a:cs typeface="Calibri Light" panose="020F0302020204030204" pitchFamily="34" charset="0"/>
                      </a:rPr>
                      <m:t>)+</m:t>
                    </m:r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  <a:ea typeface="+mn-lt"/>
                            <a:cs typeface="Calibri Light" panose="020F0302020204030204" pitchFamily="34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+mn-lt"/>
                            <a:cs typeface="Calibri Light" panose="020F0302020204030204" pitchFamily="34" charset="0"/>
                          </a:rPr>
                          <m:t>𝛽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+mn-lt"/>
                            <a:cs typeface="Calibri Light" panose="020F0302020204030204" pitchFamily="34" charset="0"/>
                          </a:rPr>
                          <m:t>2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+mn-lt"/>
                            <a:cs typeface="Calibri Light" panose="020F0302020204030204" pitchFamily="34" charset="0"/>
                          </a:rPr>
                          <m:t>𝑇</m:t>
                        </m:r>
                      </m:sup>
                    </m:sSubSup>
                    <m:r>
                      <a:rPr lang="en-US" sz="2000" i="1">
                        <a:latin typeface="Cambria Math" panose="02040503050406030204" pitchFamily="18" charset="0"/>
                        <a:ea typeface="+mn-lt"/>
                        <a:cs typeface="Calibri Light" panose="020F0302020204030204" pitchFamily="34" charset="0"/>
                      </a:rPr>
                      <m:t>𝑍</m:t>
                    </m:r>
                  </m:oMath>
                </a14:m>
                <a:endParaRPr lang="en-US" sz="2000" i="1" dirty="0">
                  <a:latin typeface="Cambria Math" panose="02040503050406030204" pitchFamily="18" charset="0"/>
                  <a:ea typeface="+mn-lt"/>
                  <a:cs typeface="Calibri Light" panose="020F0302020204030204" pitchFamily="34" charset="0"/>
                </a:endParaRPr>
              </a:p>
            </p:txBody>
          </p:sp>
        </mc:Choice>
        <mc:Fallback>
          <p:sp>
            <p:nvSpPr>
              <p:cNvPr id="16" name="Content Placeholder 2">
                <a:extLst>
                  <a:ext uri="{FF2B5EF4-FFF2-40B4-BE49-F238E27FC236}">
                    <a16:creationId xmlns:a16="http://schemas.microsoft.com/office/drawing/2014/main" id="{16EA4E6C-D663-897F-0113-02236FF9E4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5368" y="1334686"/>
                <a:ext cx="5955452" cy="1073469"/>
              </a:xfrm>
              <a:prstGeom prst="rect">
                <a:avLst/>
              </a:prstGeom>
              <a:blipFill>
                <a:blip r:embed="rId3"/>
                <a:stretch>
                  <a:fillRect l="-2766" b="-470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527EDD-D9E5-D8DE-F1E6-F7878AC7F723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605368" y="2665586"/>
                <a:ext cx="11074576" cy="28865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0" tIns="97648" rIns="0" bIns="97648" numCol="1" anchor="t" anchorCtr="0" compatLnSpc="1">
                <a:prstTxWarp prst="textNoShape">
                  <a:avLst/>
                </a:prstTxWarp>
                <a:spAutoFit/>
              </a:bodyPr>
              <a:lstStyle>
                <a:lvl1pPr marL="182166" indent="-182166" algn="l" defTabSz="676275" rtl="0" eaLnBrk="1" fontAlgn="base" hangingPunct="1">
                  <a:spcBef>
                    <a:spcPts val="300"/>
                  </a:spcBef>
                  <a:spcAft>
                    <a:spcPts val="150"/>
                  </a:spcAft>
                  <a:buClr>
                    <a:schemeClr val="tx2"/>
                  </a:buClr>
                  <a:buSzPct val="120000"/>
                  <a:buFont typeface="Lucida Grande" panose="020B0600040502020204" pitchFamily="34" charset="0"/>
                  <a:buChar char="‣"/>
                  <a:defRPr sz="21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95300" indent="-227410" algn="l" defTabSz="676275" rtl="0" eaLnBrk="1" fontAlgn="base" hangingPunct="1">
                  <a:spcBef>
                    <a:spcPts val="150"/>
                  </a:spcBef>
                  <a:spcAft>
                    <a:spcPts val="150"/>
                  </a:spcAft>
                  <a:buClr>
                    <a:schemeClr val="tx1"/>
                  </a:buClr>
                  <a:buSzPct val="110000"/>
                  <a:buFont typeface="Arial" panose="020B0604020202020204" pitchFamily="34" charset="0"/>
                  <a:buChar char="•"/>
                  <a:defRPr sz="1800" kern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808435" indent="-227410" algn="l" defTabSz="676275" rtl="0" eaLnBrk="1" fontAlgn="base" hangingPunct="1">
                  <a:spcBef>
                    <a:spcPts val="150"/>
                  </a:spcBef>
                  <a:spcAft>
                    <a:spcPts val="15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–"/>
                  <a:defRPr sz="1500" b="0" kern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078706" indent="-184547" algn="l" defTabSz="676275" rtl="0" eaLnBrk="1" fontAlgn="base" hangingPunct="1">
                  <a:spcBef>
                    <a:spcPts val="150"/>
                  </a:spcBef>
                  <a:spcAft>
                    <a:spcPts val="150"/>
                  </a:spcAft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1350" kern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346597" indent="-182166" algn="l" defTabSz="676275" rtl="0" eaLnBrk="1" fontAlgn="base" hangingPunct="1">
                  <a:spcBef>
                    <a:spcPts val="150"/>
                  </a:spcBef>
                  <a:spcAft>
                    <a:spcPts val="150"/>
                  </a:spcAft>
                  <a:buClr>
                    <a:schemeClr val="tx2"/>
                  </a:buClr>
                  <a:buFont typeface="Franklin Gothic Book" panose="020B0503020102020204" pitchFamily="34" charset="0"/>
                  <a:buChar char="–"/>
                  <a:defRPr sz="1200" kern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altLang="zh-CN" sz="2000" dirty="0">
                    <a:latin typeface="Calibri Light" panose="020F0302020204030204" pitchFamily="34" charset="0"/>
                    <a:ea typeface="+mn-lt"/>
                    <a:cs typeface="Calibri Light" panose="020F0302020204030204" pitchFamily="34" charset="0"/>
                  </a:rPr>
                  <a:t>The estimated parameters </a:t>
                </a:r>
                <a14:m>
                  <m:oMath xmlns:m="http://schemas.openxmlformats.org/officeDocument/2006/math">
                    <m:r>
                      <a:rPr lang="en-US" altLang="zh-C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 Light" panose="020F0302020204030204" pitchFamily="34" charset="0"/>
                      </a:rPr>
                      <m:t>𝛽</m:t>
                    </m:r>
                  </m:oMath>
                </a14:m>
                <a:r>
                  <a:rPr lang="en-US" altLang="zh-CN" sz="2000" dirty="0">
                    <a:latin typeface="Calibri Light" panose="020F0302020204030204" pitchFamily="34" charset="0"/>
                    <a:ea typeface="+mn-lt"/>
                    <a:cs typeface="Calibri Light" panose="020F0302020204030204" pitchFamily="34" charset="0"/>
                  </a:rPr>
                  <a:t> can be obtained (Breslow and Cain, 1988) :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1800" i="1" smtClean="0">
                              <a:latin typeface="Cambria Math" panose="02040503050406030204" pitchFamily="18" charset="0"/>
                              <a:ea typeface="+mn-lt"/>
                              <a:cs typeface="Calibri Light" panose="020F030202020403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800" b="0" i="1" smtClean="0">
                              <a:latin typeface="Cambria Math" panose="02040503050406030204" pitchFamily="18" charset="0"/>
                              <a:ea typeface="+mn-lt"/>
                              <a:cs typeface="Calibri Light" panose="020F0302020204030204" pitchFamily="34" charset="0"/>
                            </a:rPr>
                            <m:t>𝑖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+mn-lt"/>
                              <a:cs typeface="Calibri Light" panose="020F030202020403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+mn-lt"/>
                              <a:cs typeface="Calibri Light" panose="020F0302020204030204" pitchFamily="34" charset="0"/>
                            </a:rPr>
                            <m:t>𝑁</m:t>
                          </m:r>
                        </m:sup>
                        <m:e>
                          <m:eqArr>
                            <m:eqArrPr>
                              <m:ctrlPr>
                                <a:rPr lang="en-US" sz="1800" i="1" smtClean="0">
                                  <a:latin typeface="Cambria Math" panose="02040503050406030204" pitchFamily="18" charset="0"/>
                                  <a:ea typeface="+mn-lt"/>
                                  <a:cs typeface="Calibri Light" panose="020F0302020204030204" pitchFamily="34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sz="1800" i="1" smtClean="0">
                                      <a:latin typeface="Cambria Math" panose="02040503050406030204" pitchFamily="18" charset="0"/>
                                      <a:ea typeface="+mn-lt"/>
                                      <a:cs typeface="Calibri Light" panose="020F030202020403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+mn-lt"/>
                                      <a:cs typeface="Calibri Light" panose="020F0302020204030204" pitchFamily="34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+mn-lt"/>
                                      <a:cs typeface="Calibri Light" panose="020F0302020204030204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+mn-lt"/>
                                  <a:cs typeface="Calibri Light" panose="020F0302020204030204" pitchFamily="34" charset="0"/>
                                </a:rPr>
                                <m:t>(1,</m:t>
                              </m:r>
                              <m:sSubSup>
                                <m:sSubSup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+mn-lt"/>
                                      <a:cs typeface="Calibri Light" panose="020F0302020204030204" pitchFamily="34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+mn-lt"/>
                                      <a:cs typeface="Calibri Light" panose="020F0302020204030204" pitchFamily="34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+mn-lt"/>
                                      <a:cs typeface="Calibri Light" panose="020F0302020204030204" pitchFamily="34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+mn-lt"/>
                                      <a:cs typeface="Calibri Light" panose="020F0302020204030204" pitchFamily="34" charset="0"/>
                                    </a:rPr>
                                    <m:t>𝑇</m:t>
                                  </m:r>
                                </m:sup>
                              </m:sSub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+mn-lt"/>
                                  <a:cs typeface="Calibri Light" panose="020F0302020204030204" pitchFamily="34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+mn-lt"/>
                                      <a:cs typeface="Calibri Light" panose="020F0302020204030204" pitchFamily="34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+mn-lt"/>
                                      <a:cs typeface="Calibri Light" panose="020F0302020204030204" pitchFamily="34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+mn-lt"/>
                                      <a:cs typeface="Calibri Light" panose="020F0302020204030204" pitchFamily="34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+mn-lt"/>
                                      <a:cs typeface="Calibri Light" panose="020F0302020204030204" pitchFamily="34" charset="0"/>
                                    </a:rPr>
                                    <m:t>𝑇</m:t>
                                  </m:r>
                                </m:sup>
                              </m:sSubSup>
                              <m:sSup>
                                <m:sSup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+mn-lt"/>
                                      <a:cs typeface="Calibri Light" panose="020F03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+mn-lt"/>
                                      <a:cs typeface="Calibri Light" panose="020F0302020204030204" pitchFamily="34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+mn-lt"/>
                                      <a:cs typeface="Calibri Light" panose="020F0302020204030204" pitchFamily="34" charset="0"/>
                                    </a:rPr>
                                    <m:t>𝑇</m:t>
                                  </m:r>
                                </m:sup>
                              </m:sSup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+mn-lt"/>
                                      <a:cs typeface="Calibri Light" panose="020F0302020204030204" pitchFamily="34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ea typeface="+mn-lt"/>
                                          <a:cs typeface="Calibri Light" panose="020F030202020403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ea typeface="+mn-lt"/>
                                          <a:cs typeface="Calibri Light" panose="020F0302020204030204" pitchFamily="34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ea typeface="+mn-lt"/>
                                          <a:cs typeface="Calibri Light" panose="020F0302020204030204" pitchFamily="34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+mn-lt"/>
                                      <a:cs typeface="Calibri Light" panose="020F0302020204030204" pitchFamily="34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ea typeface="+mn-lt"/>
                                          <a:cs typeface="Calibri Light" panose="020F0302020204030204" pitchFamily="34" charset="0"/>
                                        </a:rPr>
                                      </m:ctrlPr>
                                    </m:fPr>
                                    <m:num>
                                      <m:func>
                                        <m:func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  <a:ea typeface="+mn-lt"/>
                                              <a:cs typeface="Calibri Light" panose="020F0302020204030204" pitchFamily="34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800" b="0" i="0" smtClean="0">
                                              <a:latin typeface="Cambria Math" panose="02040503050406030204" pitchFamily="18" charset="0"/>
                                              <a:ea typeface="+mn-lt"/>
                                              <a:cs typeface="Calibri Light" panose="020F0302020204030204" pitchFamily="34" charset="0"/>
                                            </a:rPr>
                                            <m:t>exp</m:t>
                                          </m:r>
                                        </m:fName>
                                        <m:e>
                                          <m:d>
                                            <m:dPr>
                                              <m:begChr m:val="{"/>
                                              <m:endChr m:val="}"/>
                                              <m:ctrlP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  <a:ea typeface="+mn-lt"/>
                                                  <a:cs typeface="Calibri Light" panose="020F0302020204030204" pitchFamily="34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  <a:ea typeface="+mn-lt"/>
                                                  <a:cs typeface="Calibri Light" panose="020F0302020204030204" pitchFamily="34" charset="0"/>
                                                </a:rPr>
                                                <m:t>𝑙𝑜𝑔𝑖𝑡</m:t>
                                              </m:r>
                                              <m: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  <a:ea typeface="+mn-lt"/>
                                                  <a:cs typeface="Calibri Light" panose="020F0302020204030204" pitchFamily="34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  <a:ea typeface="+mn-lt"/>
                                                  <a:cs typeface="Calibri Light" panose="020F0302020204030204" pitchFamily="34" charset="0"/>
                                                </a:rPr>
                                                <m:t>𝑃</m:t>
                                              </m:r>
                                              <m: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  <a:ea typeface="+mn-lt"/>
                                                  <a:cs typeface="Calibri Light" panose="020F0302020204030204" pitchFamily="34" charset="0"/>
                                                </a:rPr>
                                                <m:t>(</m:t>
                                              </m:r>
                                              <m: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  <a:ea typeface="+mn-lt"/>
                                                  <a:cs typeface="Calibri Light" panose="020F0302020204030204" pitchFamily="34" charset="0"/>
                                                </a:rPr>
                                                <m:t>𝑌</m:t>
                                              </m:r>
                                              <m: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  <a:ea typeface="+mn-lt"/>
                                                  <a:cs typeface="Calibri Light" panose="020F0302020204030204" pitchFamily="34" charset="0"/>
                                                </a:rPr>
                                                <m:t>=1|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sz="1800" b="0" i="1" smtClean="0">
                                                      <a:latin typeface="Cambria Math" panose="02040503050406030204" pitchFamily="18" charset="0"/>
                                                      <a:ea typeface="+mn-lt"/>
                                                      <a:cs typeface="Calibri Light" panose="020F0302020204030204" pitchFamily="34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1800" b="0" i="1" smtClean="0">
                                                      <a:latin typeface="Cambria Math" panose="02040503050406030204" pitchFamily="18" charset="0"/>
                                                      <a:ea typeface="+mn-lt"/>
                                                      <a:cs typeface="Calibri Light" panose="020F0302020204030204" pitchFamily="34" charset="0"/>
                                                    </a:rPr>
                                                    <m:t>𝑋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800" b="0" i="1" smtClean="0">
                                                      <a:latin typeface="Cambria Math" panose="02040503050406030204" pitchFamily="18" charset="0"/>
                                                      <a:ea typeface="+mn-lt"/>
                                                      <a:cs typeface="Calibri Light" panose="020F0302020204030204" pitchFamily="34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  <a:ea typeface="+mn-lt"/>
                                                  <a:cs typeface="Calibri Light" panose="020F0302020204030204" pitchFamily="34" charset="0"/>
                                                </a:rPr>
                                                <m:t>,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sz="1800" b="0" i="1" smtClean="0">
                                                      <a:latin typeface="Cambria Math" panose="02040503050406030204" pitchFamily="18" charset="0"/>
                                                      <a:ea typeface="+mn-lt"/>
                                                      <a:cs typeface="Calibri Light" panose="020F0302020204030204" pitchFamily="34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1800" b="0" i="1" smtClean="0">
                                                      <a:latin typeface="Cambria Math" panose="02040503050406030204" pitchFamily="18" charset="0"/>
                                                      <a:ea typeface="+mn-lt"/>
                                                      <a:cs typeface="Calibri Light" panose="020F0302020204030204" pitchFamily="34" charset="0"/>
                                                    </a:rPr>
                                                    <m:t>𝑍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800" b="0" i="1" smtClean="0">
                                                      <a:latin typeface="Cambria Math" panose="02040503050406030204" pitchFamily="18" charset="0"/>
                                                      <a:ea typeface="+mn-lt"/>
                                                      <a:cs typeface="Calibri Light" panose="020F0302020204030204" pitchFamily="34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  <a:ea typeface="+mn-lt"/>
                                                  <a:cs typeface="Calibri Light" panose="020F0302020204030204" pitchFamily="34" charset="0"/>
                                                </a:rPr>
                                                <m:t>)+</m:t>
                                              </m:r>
                                              <m:acc>
                                                <m:accPr>
                                                  <m:chr m:val="̂"/>
                                                  <m:ctrlPr>
                                                    <a:rPr lang="en-US" sz="1800" b="0" i="1" smtClean="0">
                                                      <a:solidFill>
                                                        <a:srgbClr val="C00000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+mn-lt"/>
                                                      <a:cs typeface="Calibri Light" panose="020F0302020204030204" pitchFamily="34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sz="1800" b="0" i="1" smtClean="0">
                                                      <a:solidFill>
                                                        <a:srgbClr val="C00000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+mn-lt"/>
                                                      <a:cs typeface="Calibri Light" panose="020F0302020204030204" pitchFamily="34" charset="0"/>
                                                    </a:rPr>
                                                    <m:t>𝑜</m:t>
                                                  </m:r>
                                                </m:e>
                                              </m:acc>
                                              <m:r>
                                                <m:rPr>
                                                  <m:brk m:alnAt="23"/>
                                                </m:rPr>
                                                <a:rPr lang="en-US" sz="1800" b="0" i="1" smtClean="0">
                                                  <a:solidFill>
                                                    <a:srgbClr val="C0000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+mn-lt"/>
                                                  <a:cs typeface="Calibri Light" panose="020F0302020204030204" pitchFamily="34" charset="0"/>
                                                </a:rPr>
                                                <m:t>(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sz="1800" b="0" i="1" smtClean="0">
                                                      <a:solidFill>
                                                        <a:srgbClr val="C00000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+mn-lt"/>
                                                      <a:cs typeface="Calibri Light" panose="020F0302020204030204" pitchFamily="34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1800" b="0" i="1" smtClean="0">
                                                      <a:solidFill>
                                                        <a:srgbClr val="C00000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+mn-lt"/>
                                                      <a:cs typeface="Calibri Light" panose="020F0302020204030204" pitchFamily="34" charset="0"/>
                                                    </a:rPr>
                                                    <m:t>𝑋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800" b="0" i="1" smtClean="0">
                                                      <a:solidFill>
                                                        <a:srgbClr val="C00000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+mn-lt"/>
                                                      <a:cs typeface="Calibri Light" panose="020F0302020204030204" pitchFamily="34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  <m:r>
                                                <m:rPr>
                                                  <m:brk m:alnAt="23"/>
                                                </m:rPr>
                                                <a:rPr lang="en-US" sz="1800" b="0" i="1" smtClean="0">
                                                  <a:solidFill>
                                                    <a:srgbClr val="C0000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+mn-lt"/>
                                                  <a:cs typeface="Calibri Light" panose="020F0302020204030204" pitchFamily="34" charset="0"/>
                                                </a:rPr>
                                                <m:t>)</m:t>
                                              </m:r>
                                            </m:e>
                                          </m:d>
                                        </m:e>
                                      </m:func>
                                    </m:num>
                                    <m:den>
                                      <m:r>
                                        <a:rPr lang="en-US" sz="1800" b="0" i="0" smtClean="0">
                                          <a:latin typeface="Cambria Math" panose="02040503050406030204" pitchFamily="18" charset="0"/>
                                          <a:ea typeface="+mn-lt"/>
                                          <a:cs typeface="Calibri Light" panose="020F0302020204030204" pitchFamily="34" charset="0"/>
                                        </a:rPr>
                                        <m:t>1+</m:t>
                                      </m:r>
                                      <m:func>
                                        <m:func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  <a:ea typeface="+mn-lt"/>
                                              <a:cs typeface="Calibri Light" panose="020F0302020204030204" pitchFamily="34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800">
                                              <a:latin typeface="Cambria Math" panose="02040503050406030204" pitchFamily="18" charset="0"/>
                                              <a:ea typeface="+mn-lt"/>
                                              <a:cs typeface="Calibri Light" panose="020F0302020204030204" pitchFamily="34" charset="0"/>
                                            </a:rPr>
                                            <m:t>exp</m:t>
                                          </m:r>
                                        </m:fName>
                                        <m:e>
                                          <m:d>
                                            <m:dPr>
                                              <m:begChr m:val="{"/>
                                              <m:endChr m:val="}"/>
                                              <m:ctrlP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  <a:ea typeface="+mn-lt"/>
                                                  <a:cs typeface="Calibri Light" panose="020F0302020204030204" pitchFamily="34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  <a:ea typeface="+mn-lt"/>
                                                  <a:cs typeface="Calibri Light" panose="020F0302020204030204" pitchFamily="34" charset="0"/>
                                                </a:rPr>
                                                <m:t>𝑙𝑜𝑔𝑖𝑡</m:t>
                                              </m:r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  <a:ea typeface="+mn-lt"/>
                                                  <a:cs typeface="Calibri Light" panose="020F0302020204030204" pitchFamily="34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  <a:ea typeface="+mn-lt"/>
                                                  <a:cs typeface="Calibri Light" panose="020F0302020204030204" pitchFamily="34" charset="0"/>
                                                </a:rPr>
                                                <m:t>𝑃</m:t>
                                              </m:r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  <a:ea typeface="+mn-lt"/>
                                                  <a:cs typeface="Calibri Light" panose="020F0302020204030204" pitchFamily="34" charset="0"/>
                                                </a:rPr>
                                                <m:t>(</m:t>
                                              </m:r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  <a:ea typeface="+mn-lt"/>
                                                  <a:cs typeface="Calibri Light" panose="020F0302020204030204" pitchFamily="34" charset="0"/>
                                                </a:rPr>
                                                <m:t>𝑌</m:t>
                                              </m:r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  <a:ea typeface="+mn-lt"/>
                                                  <a:cs typeface="Calibri Light" panose="020F0302020204030204" pitchFamily="34" charset="0"/>
                                                </a:rPr>
                                                <m:t>=1|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  <a:ea typeface="+mn-lt"/>
                                                      <a:cs typeface="Calibri Light" panose="020F0302020204030204" pitchFamily="34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  <a:ea typeface="+mn-lt"/>
                                                      <a:cs typeface="Calibri Light" panose="020F0302020204030204" pitchFamily="34" charset="0"/>
                                                    </a:rPr>
                                                    <m:t>𝑋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  <a:ea typeface="+mn-lt"/>
                                                      <a:cs typeface="Calibri Light" panose="020F0302020204030204" pitchFamily="34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  <a:ea typeface="+mn-lt"/>
                                                  <a:cs typeface="Calibri Light" panose="020F0302020204030204" pitchFamily="34" charset="0"/>
                                                </a:rPr>
                                                <m:t>,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  <a:ea typeface="+mn-lt"/>
                                                      <a:cs typeface="Calibri Light" panose="020F0302020204030204" pitchFamily="34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  <a:ea typeface="+mn-lt"/>
                                                      <a:cs typeface="Calibri Light" panose="020F0302020204030204" pitchFamily="34" charset="0"/>
                                                    </a:rPr>
                                                    <m:t>𝑍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  <a:ea typeface="+mn-lt"/>
                                                      <a:cs typeface="Calibri Light" panose="020F0302020204030204" pitchFamily="34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  <a:ea typeface="+mn-lt"/>
                                                  <a:cs typeface="Calibri Light" panose="020F0302020204030204" pitchFamily="34" charset="0"/>
                                                </a:rPr>
                                                <m:t>)+</m:t>
                                              </m:r>
                                              <m:acc>
                                                <m:accPr>
                                                  <m:chr m:val="̂"/>
                                                  <m:ctrlPr>
                                                    <a:rPr lang="en-US" sz="1800" i="1" smtClean="0">
                                                      <a:solidFill>
                                                        <a:srgbClr val="C00000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+mn-lt"/>
                                                      <a:cs typeface="Calibri Light" panose="020F0302020204030204" pitchFamily="34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sz="1800" i="1">
                                                      <a:solidFill>
                                                        <a:srgbClr val="C00000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+mn-lt"/>
                                                      <a:cs typeface="Calibri Light" panose="020F0302020204030204" pitchFamily="34" charset="0"/>
                                                    </a:rPr>
                                                    <m:t>𝑜</m:t>
                                                  </m:r>
                                                </m:e>
                                              </m:acc>
                                              <m:r>
                                                <m:rPr>
                                                  <m:brk m:alnAt="23"/>
                                                </m:rPr>
                                                <a:rPr lang="en-US" sz="1800" i="1">
                                                  <a:solidFill>
                                                    <a:srgbClr val="C0000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+mn-lt"/>
                                                  <a:cs typeface="Calibri Light" panose="020F0302020204030204" pitchFamily="34" charset="0"/>
                                                </a:rPr>
                                                <m:t>(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sz="1800" i="1">
                                                      <a:solidFill>
                                                        <a:srgbClr val="C00000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+mn-lt"/>
                                                      <a:cs typeface="Calibri Light" panose="020F0302020204030204" pitchFamily="34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1800" i="1">
                                                      <a:solidFill>
                                                        <a:srgbClr val="C00000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+mn-lt"/>
                                                      <a:cs typeface="Calibri Light" panose="020F0302020204030204" pitchFamily="34" charset="0"/>
                                                    </a:rPr>
                                                    <m:t>𝑋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800" i="1">
                                                      <a:solidFill>
                                                        <a:srgbClr val="C00000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+mn-lt"/>
                                                      <a:cs typeface="Calibri Light" panose="020F0302020204030204" pitchFamily="34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  <m:r>
                                                <m:rPr>
                                                  <m:brk m:alnAt="23"/>
                                                </m:rPr>
                                                <a:rPr lang="en-US" sz="1800" i="1">
                                                  <a:solidFill>
                                                    <a:srgbClr val="C0000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+mn-lt"/>
                                                  <a:cs typeface="Calibri Light" panose="020F0302020204030204" pitchFamily="34" charset="0"/>
                                                </a:rPr>
                                                <m:t>)</m:t>
                                              </m:r>
                                            </m:e>
                                          </m:d>
                                        </m:e>
                                      </m:func>
                                    </m:den>
                                  </m:f>
                                </m:e>
                              </m:d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+mn-lt"/>
                                  <a:cs typeface="Calibri Light" panose="020F0302020204030204" pitchFamily="34" charset="0"/>
                                </a:rPr>
                                <m:t>=0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+mn-lt"/>
                                  <a:cs typeface="Calibri Light" panose="020F0302020204030204" pitchFamily="34" charset="0"/>
                                </a:rPr>
                                <m:t> </m:t>
                              </m:r>
                            </m:e>
                          </m:eqArr>
                        </m:e>
                      </m:nary>
                    </m:oMath>
                  </m:oMathPara>
                </a14:m>
                <a:endParaRPr lang="en-US" sz="2000" dirty="0">
                  <a:latin typeface="Calibri Light" panose="020F0302020204030204" pitchFamily="34" charset="0"/>
                  <a:ea typeface="+mn-lt"/>
                  <a:cs typeface="Calibri Light" panose="020F0302020204030204" pitchFamily="34" charset="0"/>
                </a:endParaRPr>
              </a:p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000" dirty="0">
                    <a:latin typeface="Calibri Light" panose="020F0302020204030204" pitchFamily="34" charset="0"/>
                    <a:ea typeface="+mn-lt"/>
                    <a:cs typeface="Calibri Light" panose="020F0302020204030204" pitchFamily="34" charset="0"/>
                  </a:rPr>
                  <a:t>where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  <a:ea typeface="+mn-lt"/>
                          <a:cs typeface="Calibri Light" panose="020F0302020204030204" pitchFamily="34" charset="0"/>
                        </a:rPr>
                        <m:t>𝑜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+mn-lt"/>
                              <a:cs typeface="Calibri Light" panose="020F0302020204030204" pitchFamily="34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+mn-lt"/>
                              <a:cs typeface="Calibri Light" panose="020F0302020204030204" pitchFamily="34" charset="0"/>
                            </a:rPr>
                            <m:t>𝑥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  <a:ea typeface="+mn-lt"/>
                          <a:cs typeface="Calibri Light" panose="020F0302020204030204" pitchFamily="34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+mn-lt"/>
                          <a:cs typeface="Calibri Light" panose="020F0302020204030204" pitchFamily="34" charset="0"/>
                        </a:rPr>
                        <m:t>𝑙𝑜𝑔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+mn-lt"/>
                              <a:cs typeface="Calibri Light" panose="020F0302020204030204" pitchFamily="34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+mn-lt"/>
                                  <a:cs typeface="Calibri Light" panose="020F0302020204030204" pitchFamily="34" charset="0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+mn-lt"/>
                                  <a:cs typeface="Calibri Light" panose="020F0302020204030204" pitchFamily="34" charset="0"/>
                                </a:rPr>
                                <m:t>𝑃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+mn-lt"/>
                                  <a:cs typeface="Calibri Light" panose="020F0302020204030204" pitchFamily="34" charset="0"/>
                                </a:rPr>
                                <m:t>(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+mn-lt"/>
                                  <a:cs typeface="Calibri Light" panose="020F0302020204030204" pitchFamily="34" charset="0"/>
                                </a:rPr>
                                <m:t>𝑅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+mn-lt"/>
                                  <a:cs typeface="Calibri Light" panose="020F0302020204030204" pitchFamily="34" charset="0"/>
                                </a:rPr>
                                <m:t>=1|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+mn-lt"/>
                                  <a:cs typeface="Calibri Light" panose="020F0302020204030204" pitchFamily="34" charset="0"/>
                                </a:rPr>
                                <m:t>𝑌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+mn-lt"/>
                                  <a:cs typeface="Calibri Light" panose="020F0302020204030204" pitchFamily="34" charset="0"/>
                                </a:rPr>
                                <m:t>=1,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+mn-lt"/>
                                  <a:cs typeface="Calibri Light" panose="020F0302020204030204" pitchFamily="34" charset="0"/>
                                </a:rPr>
                                <m:t>𝑋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+mn-lt"/>
                                  <a:cs typeface="Calibri Light" panose="020F0302020204030204" pitchFamily="34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+mn-lt"/>
                                  <a:cs typeface="Calibri Light" panose="020F0302020204030204" pitchFamily="34" charset="0"/>
                                </a:rPr>
                                <m:t>𝑃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+mn-lt"/>
                                  <a:cs typeface="Calibri Light" panose="020F0302020204030204" pitchFamily="34" charset="0"/>
                                </a:rPr>
                                <m:t>(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+mn-lt"/>
                                  <a:cs typeface="Calibri Light" panose="020F0302020204030204" pitchFamily="34" charset="0"/>
                                </a:rPr>
                                <m:t>𝑅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+mn-lt"/>
                                  <a:cs typeface="Calibri Light" panose="020F0302020204030204" pitchFamily="34" charset="0"/>
                                </a:rPr>
                                <m:t>=1|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+mn-lt"/>
                                  <a:cs typeface="Calibri Light" panose="020F0302020204030204" pitchFamily="34" charset="0"/>
                                </a:rPr>
                                <m:t>𝑌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+mn-lt"/>
                                  <a:cs typeface="Calibri Light" panose="020F0302020204030204" pitchFamily="34" charset="0"/>
                                </a:rPr>
                                <m:t>=0,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+mn-lt"/>
                                  <a:cs typeface="Calibri Light" panose="020F0302020204030204" pitchFamily="34" charset="0"/>
                                </a:rPr>
                                <m:t>𝑋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+mn-lt"/>
                                  <a:cs typeface="Calibri Light" panose="020F0302020204030204" pitchFamily="34" charset="0"/>
                                </a:rPr>
                                <m:t>)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000" b="0" dirty="0">
                  <a:latin typeface="Calibri Light" panose="020F0302020204030204" pitchFamily="34" charset="0"/>
                  <a:ea typeface="+mn-lt"/>
                  <a:cs typeface="Calibri Light" panose="020F0302020204030204" pitchFamily="34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527EDD-D9E5-D8DE-F1E6-F7878AC7F7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5368" y="2665586"/>
                <a:ext cx="11074576" cy="2886529"/>
              </a:xfrm>
              <a:prstGeom prst="rect">
                <a:avLst/>
              </a:prstGeom>
              <a:blipFill>
                <a:blip r:embed="rId4"/>
                <a:stretch>
                  <a:fillRect l="-1375" t="-1091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9580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2EC1CF3-5E1C-9FDB-994A-8585C2790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368" y="476873"/>
            <a:ext cx="11074576" cy="430887"/>
          </a:xfrm>
        </p:spPr>
        <p:txBody>
          <a:bodyPr/>
          <a:lstStyle/>
          <a:p>
            <a:r>
              <a:rPr lang="en-US" sz="2800" dirty="0">
                <a:latin typeface="Calibri"/>
                <a:ea typeface="+mn-lt"/>
                <a:cs typeface="+mn-lt"/>
              </a:rPr>
              <a:t>Model</a:t>
            </a:r>
            <a:r>
              <a:rPr lang="zh-CN" altLang="en-US" sz="2800" dirty="0">
                <a:latin typeface="Calibri"/>
                <a:ea typeface="+mn-lt"/>
                <a:cs typeface="+mn-lt"/>
              </a:rPr>
              <a:t> </a:t>
            </a:r>
            <a:r>
              <a:rPr lang="en-US" altLang="zh-CN" sz="2800" dirty="0">
                <a:latin typeface="Calibri"/>
                <a:ea typeface="+mn-lt"/>
                <a:cs typeface="+mn-lt"/>
              </a:rPr>
              <a:t>Fitting</a:t>
            </a:r>
            <a:r>
              <a:rPr lang="zh-CN" altLang="en-US" sz="2800" dirty="0">
                <a:latin typeface="Calibri"/>
                <a:ea typeface="+mn-lt"/>
                <a:cs typeface="+mn-lt"/>
              </a:rPr>
              <a:t> </a:t>
            </a:r>
            <a:r>
              <a:rPr lang="en-US" altLang="zh-CN" sz="2800" dirty="0">
                <a:latin typeface="Calibri"/>
                <a:ea typeface="+mn-lt"/>
                <a:cs typeface="+mn-lt"/>
              </a:rPr>
              <a:t>–</a:t>
            </a:r>
            <a:r>
              <a:rPr lang="zh-CN" altLang="en-US" sz="2800" dirty="0">
                <a:latin typeface="Calibri"/>
                <a:ea typeface="+mn-lt"/>
                <a:cs typeface="+mn-lt"/>
              </a:rPr>
              <a:t> </a:t>
            </a:r>
            <a:r>
              <a:rPr lang="en-US" altLang="zh-CN" sz="2800" dirty="0">
                <a:latin typeface="Calibri"/>
                <a:ea typeface="+mn-lt"/>
                <a:cs typeface="+mn-lt"/>
              </a:rPr>
              <a:t>Selection</a:t>
            </a:r>
            <a:r>
              <a:rPr lang="zh-CN" altLang="en-US" sz="2800" dirty="0">
                <a:latin typeface="Calibri"/>
                <a:ea typeface="+mn-lt"/>
                <a:cs typeface="+mn-lt"/>
              </a:rPr>
              <a:t> </a:t>
            </a:r>
            <a:r>
              <a:rPr lang="en-US" altLang="zh-CN" sz="2800" dirty="0">
                <a:latin typeface="Calibri"/>
                <a:ea typeface="+mn-lt"/>
                <a:cs typeface="+mn-lt"/>
              </a:rPr>
              <a:t>Bias</a:t>
            </a:r>
            <a:r>
              <a:rPr lang="zh-CN" altLang="en-US" sz="2800" dirty="0">
                <a:latin typeface="Calibri"/>
                <a:ea typeface="+mn-lt"/>
                <a:cs typeface="+mn-lt"/>
              </a:rPr>
              <a:t> </a:t>
            </a:r>
            <a:r>
              <a:rPr lang="en-US" altLang="zh-CN" sz="2800" dirty="0">
                <a:latin typeface="Calibri"/>
                <a:ea typeface="+mn-lt"/>
                <a:cs typeface="+mn-lt"/>
              </a:rPr>
              <a:t>Correction</a:t>
            </a:r>
            <a:endParaRPr lang="en-US" sz="2800" dirty="0">
              <a:latin typeface="Calibri"/>
              <a:ea typeface="+mn-lt"/>
              <a:cs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CA1BA727-4133-BA0F-4F07-0A295AE36C96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605368" y="1376498"/>
                <a:ext cx="11074576" cy="41050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0" tIns="97648" rIns="0" bIns="97648" numCol="1" anchor="t" anchorCtr="0" compatLnSpc="1">
                <a:prstTxWarp prst="textNoShape">
                  <a:avLst/>
                </a:prstTxWarp>
                <a:spAutoFit/>
              </a:bodyPr>
              <a:lstStyle>
                <a:lvl1pPr marL="182166" indent="-182166" algn="l" defTabSz="676275" rtl="0" eaLnBrk="1" fontAlgn="base" hangingPunct="1">
                  <a:spcBef>
                    <a:spcPts val="300"/>
                  </a:spcBef>
                  <a:spcAft>
                    <a:spcPts val="150"/>
                  </a:spcAft>
                  <a:buClr>
                    <a:schemeClr val="tx2"/>
                  </a:buClr>
                  <a:buSzPct val="120000"/>
                  <a:buFont typeface="Lucida Grande" panose="020B0600040502020204" pitchFamily="34" charset="0"/>
                  <a:buChar char="‣"/>
                  <a:defRPr sz="21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95300" indent="-227410" algn="l" defTabSz="676275" rtl="0" eaLnBrk="1" fontAlgn="base" hangingPunct="1">
                  <a:spcBef>
                    <a:spcPts val="150"/>
                  </a:spcBef>
                  <a:spcAft>
                    <a:spcPts val="150"/>
                  </a:spcAft>
                  <a:buClr>
                    <a:schemeClr val="tx1"/>
                  </a:buClr>
                  <a:buSzPct val="110000"/>
                  <a:buFont typeface="Arial" panose="020B0604020202020204" pitchFamily="34" charset="0"/>
                  <a:buChar char="•"/>
                  <a:defRPr sz="1800" kern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808435" indent="-227410" algn="l" defTabSz="676275" rtl="0" eaLnBrk="1" fontAlgn="base" hangingPunct="1">
                  <a:spcBef>
                    <a:spcPts val="150"/>
                  </a:spcBef>
                  <a:spcAft>
                    <a:spcPts val="15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–"/>
                  <a:defRPr sz="1500" b="0" kern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078706" indent="-184547" algn="l" defTabSz="676275" rtl="0" eaLnBrk="1" fontAlgn="base" hangingPunct="1">
                  <a:spcBef>
                    <a:spcPts val="150"/>
                  </a:spcBef>
                  <a:spcAft>
                    <a:spcPts val="150"/>
                  </a:spcAft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1350" kern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346597" indent="-182166" algn="l" defTabSz="676275" rtl="0" eaLnBrk="1" fontAlgn="base" hangingPunct="1">
                  <a:spcBef>
                    <a:spcPts val="150"/>
                  </a:spcBef>
                  <a:spcAft>
                    <a:spcPts val="150"/>
                  </a:spcAft>
                  <a:buClr>
                    <a:schemeClr val="tx2"/>
                  </a:buClr>
                  <a:buFont typeface="Franklin Gothic Book" panose="020B0503020102020204" pitchFamily="34" charset="0"/>
                  <a:buChar char="–"/>
                  <a:defRPr sz="1200" kern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altLang="zh-CN" sz="2000" dirty="0">
                    <a:latin typeface="Calibri" panose="020F0502020204030204" pitchFamily="34" charset="0"/>
                    <a:ea typeface="+mn-lt"/>
                    <a:cs typeface="Calibri" panose="020F0502020204030204" pitchFamily="34" charset="0"/>
                  </a:rPr>
                  <a:t>To model R, the availability of phase II data:</a:t>
                </a:r>
              </a:p>
              <a:p>
                <a:pPr marL="0" indent="0">
                  <a:spcBef>
                    <a:spcPts val="90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  <a:ea typeface="+mn-lt"/>
                          <a:cs typeface="Calibri Light" panose="020F0302020204030204" pitchFamily="34" charset="0"/>
                        </a:rPr>
                        <m:t>𝑙𝑜𝑔𝑖𝑡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+mn-lt"/>
                              <a:cs typeface="Calibri Light" panose="020F0302020204030204" pitchFamily="34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+mn-lt"/>
                              <a:cs typeface="Calibri Light" panose="020F0302020204030204" pitchFamily="34" charset="0"/>
                            </a:rPr>
                            <m:t>𝑃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+mn-lt"/>
                              <a:cs typeface="Calibri Light" panose="020F0302020204030204" pitchFamily="34" charset="0"/>
                            </a:rPr>
                            <m:t>(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+mn-lt"/>
                              <a:cs typeface="Calibri Light" panose="020F0302020204030204" pitchFamily="34" charset="0"/>
                            </a:rPr>
                            <m:t>𝑅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+mn-lt"/>
                              <a:cs typeface="Calibri Light" panose="020F0302020204030204" pitchFamily="34" charset="0"/>
                            </a:rPr>
                            <m:t>=1|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+mn-lt"/>
                              <a:cs typeface="Calibri Light" panose="020F0302020204030204" pitchFamily="34" charset="0"/>
                            </a:rPr>
                            <m:t>𝑌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+mn-lt"/>
                              <a:cs typeface="Calibri Light" panose="020F0302020204030204" pitchFamily="34" charset="0"/>
                            </a:rPr>
                            <m:t>=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+mn-lt"/>
                              <a:cs typeface="Calibri Light" panose="020F0302020204030204" pitchFamily="34" charset="0"/>
                            </a:rPr>
                            <m:t>𝑦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+mn-lt"/>
                              <a:cs typeface="Calibri Light" panose="020F0302020204030204" pitchFamily="34" charset="0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+mn-lt"/>
                              <a:cs typeface="Calibri Light" panose="020F0302020204030204" pitchFamily="34" charset="0"/>
                            </a:rPr>
                            <m:t>𝑋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+mn-lt"/>
                              <a:cs typeface="Calibri Light" panose="020F0302020204030204" pitchFamily="34" charset="0"/>
                            </a:rPr>
                            <m:t>)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  <a:ea typeface="+mn-lt"/>
                          <a:cs typeface="Calibri Light" panose="020F0302020204030204" pitchFamily="34" charset="0"/>
                        </a:rPr>
                        <m:t>=</m:t>
                      </m:r>
                      <m:sSubSup>
                        <m:sSub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+mn-lt"/>
                              <a:cs typeface="Calibri Light" panose="020F0302020204030204" pitchFamily="34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 Light" panose="020F0302020204030204" pitchFamily="34" charset="0"/>
                            </a:rPr>
                            <m:t>𝛼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+mn-lt"/>
                              <a:cs typeface="Calibri Light" panose="020F0302020204030204" pitchFamily="34" charset="0"/>
                            </a:rPr>
                            <m:t>𝑦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+mn-lt"/>
                              <a:cs typeface="Calibri Light" panose="020F0302020204030204" pitchFamily="34" charset="0"/>
                            </a:rPr>
                            <m:t>𝑇</m:t>
                          </m:r>
                        </m:sup>
                      </m:sSubSup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+mn-lt"/>
                              <a:cs typeface="Calibri Light" panose="020F0302020204030204" pitchFamily="34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+mn-lt"/>
                              <a:cs typeface="Calibri Light" panose="020F0302020204030204" pitchFamily="34" charset="0"/>
                            </a:rPr>
                            <m:t>𝑋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+mn-lt"/>
                              <a:cs typeface="Calibri Light" panose="020F0302020204030204" pitchFamily="34" charset="0"/>
                            </a:rPr>
                            <m:t>𝑟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  <a:ea typeface="+mn-lt"/>
                          <a:cs typeface="Calibri Light" panose="020F0302020204030204" pitchFamily="34" charset="0"/>
                        </a:rPr>
                        <m:t>+</m:t>
                      </m:r>
                      <m:sSubSup>
                        <m:sSub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+mn-lt"/>
                              <a:cs typeface="Calibri Light" panose="020F0302020204030204" pitchFamily="34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 Light" panose="020F0302020204030204" pitchFamily="34" charset="0"/>
                            </a:rPr>
                            <m:t>𝛿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+mn-lt"/>
                              <a:cs typeface="Calibri Light" panose="020F0302020204030204" pitchFamily="34" charset="0"/>
                            </a:rPr>
                            <m:t>𝑦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+mn-lt"/>
                              <a:cs typeface="Calibri Light" panose="020F0302020204030204" pitchFamily="34" charset="0"/>
                            </a:rPr>
                            <m:t>𝑇</m:t>
                          </m:r>
                        </m:sup>
                      </m:sSubSup>
                      <m:r>
                        <a:rPr lang="en-US" sz="2000" b="0" i="1" smtClean="0">
                          <a:latin typeface="Cambria Math" panose="02040503050406030204" pitchFamily="18" charset="0"/>
                          <a:ea typeface="+mn-lt"/>
                          <a:cs typeface="Calibri Light" panose="020F0302020204030204" pitchFamily="34" charset="0"/>
                        </a:rPr>
                        <m:t>𝐵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+mn-lt"/>
                              <a:cs typeface="Calibri Light" panose="020F0302020204030204" pitchFamily="34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+mn-lt"/>
                                  <a:cs typeface="Calibri Light" panose="020F0302020204030204" pitchFamily="34" charset="0"/>
                                </a:rPr>
                              </m:ctrlPr>
                            </m:acc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+mn-lt"/>
                                  <a:cs typeface="Calibri Light" panose="020F0302020204030204" pitchFamily="34" charset="0"/>
                                </a:rPr>
                                <m:t>𝑃</m:t>
                              </m:r>
                            </m:e>
                          </m:acc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+mn-lt"/>
                              <a:cs typeface="Calibri Light" panose="020F0302020204030204" pitchFamily="34" charset="0"/>
                            </a:rPr>
                            <m:t>(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+mn-lt"/>
                              <a:cs typeface="Calibri Light" panose="020F0302020204030204" pitchFamily="34" charset="0"/>
                            </a:rPr>
                            <m:t>𝑌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+mn-lt"/>
                              <a:cs typeface="Calibri Light" panose="020F0302020204030204" pitchFamily="34" charset="0"/>
                            </a:rPr>
                            <m:t>=1−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+mn-lt"/>
                              <a:cs typeface="Calibri Light" panose="020F0302020204030204" pitchFamily="34" charset="0"/>
                            </a:rPr>
                            <m:t>𝑦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+mn-lt"/>
                              <a:cs typeface="Calibri Light" panose="020F0302020204030204" pitchFamily="34" charset="0"/>
                            </a:rPr>
                            <m:t>|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+mn-lt"/>
                              <a:cs typeface="Calibri Light" panose="020F0302020204030204" pitchFamily="34" charset="0"/>
                            </a:rPr>
                            <m:t>𝑋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+mn-lt"/>
                              <a:cs typeface="Calibri Light" panose="020F0302020204030204" pitchFamily="34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sz="2000" dirty="0">
                  <a:latin typeface="Calibri Light" panose="020F0302020204030204" pitchFamily="34" charset="0"/>
                  <a:ea typeface="+mn-lt"/>
                  <a:cs typeface="Calibri Light" panose="020F0302020204030204" pitchFamily="34" charset="0"/>
                </a:endParaRPr>
              </a:p>
              <a:p>
                <a:pPr marL="285750" indent="-285750">
                  <a:lnSpc>
                    <a:spcPct val="120000"/>
                  </a:lnSpc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+mn-lt"/>
                            <a:cs typeface="Calibri Light" panose="020F0302020204030204" pitchFamily="34" charset="0"/>
                          </a:rPr>
                        </m:ctrlPr>
                      </m:sSubPr>
                      <m:e>
                        <m:r>
                          <a:rPr lang="en-US" sz="2000">
                            <a:latin typeface="Cambria Math" panose="02040503050406030204" pitchFamily="18" charset="0"/>
                            <a:ea typeface="+mn-lt"/>
                            <a:cs typeface="Calibri Light" panose="020F0302020204030204" pitchFamily="34" charset="0"/>
                          </a:rPr>
                          <m:t>𝑋</m:t>
                        </m:r>
                      </m:e>
                      <m:sub>
                        <m:r>
                          <a:rPr lang="en-US" sz="2000">
                            <a:latin typeface="Cambria Math" panose="02040503050406030204" pitchFamily="18" charset="0"/>
                            <a:ea typeface="+mn-lt"/>
                            <a:cs typeface="Calibri Light" panose="020F0302020204030204" pitchFamily="34" charset="0"/>
                          </a:rPr>
                          <m:t>𝑟</m:t>
                        </m:r>
                      </m:sub>
                    </m:sSub>
                    <m:r>
                      <a:rPr lang="en-US" sz="2000">
                        <a:latin typeface="Cambria Math" panose="02040503050406030204" pitchFamily="18" charset="0"/>
                        <a:ea typeface="+mn-lt"/>
                        <a:cs typeface="Calibri Light" panose="020F0302020204030204" pitchFamily="34" charset="0"/>
                      </a:rPr>
                      <m:t>:</m:t>
                    </m:r>
                  </m:oMath>
                </a14:m>
                <a:r>
                  <a:rPr lang="en-US" sz="2000" dirty="0">
                    <a:latin typeface="Calibri Light" panose="020F0302020204030204" pitchFamily="34" charset="0"/>
                    <a:ea typeface="+mn-lt"/>
                    <a:cs typeface="Calibri Light" panose="020F0302020204030204" pitchFamily="34" charset="0"/>
                  </a:rPr>
                  <a:t> selected variables predictive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dirty="0">
                        <a:latin typeface="Cambria Math" panose="02040503050406030204" pitchFamily="18" charset="0"/>
                        <a:ea typeface="+mn-lt"/>
                        <a:cs typeface="Calibri Light" panose="020F0302020204030204" pitchFamily="34" charset="0"/>
                      </a:rPr>
                      <m:t>R</m:t>
                    </m:r>
                  </m:oMath>
                </a14:m>
                <a:endParaRPr lang="en-US" sz="2000" dirty="0">
                  <a:latin typeface="Calibri Light" panose="020F0302020204030204" pitchFamily="34" charset="0"/>
                  <a:ea typeface="+mn-lt"/>
                  <a:cs typeface="Calibri Light" panose="020F0302020204030204" pitchFamily="34" charset="0"/>
                </a:endParaRPr>
              </a:p>
              <a:p>
                <a:pPr marL="285750" indent="-285750">
                  <a:lnSpc>
                    <a:spcPct val="120000"/>
                  </a:lnSpc>
                  <a:buFont typeface="Arial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i="1">
                            <a:latin typeface="Cambria Math" panose="02040503050406030204" pitchFamily="18" charset="0"/>
                            <a:ea typeface="+mn-lt"/>
                            <a:cs typeface="Calibri Light" panose="020F0302020204030204" pitchFamily="34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+mn-lt"/>
                            <a:cs typeface="Calibri Light" panose="020F0302020204030204" pitchFamily="34" charset="0"/>
                          </a:rPr>
                          <m:t>𝑃</m:t>
                        </m:r>
                      </m:e>
                    </m:acc>
                    <m:r>
                      <a:rPr lang="en-US" sz="2000" i="1">
                        <a:latin typeface="Cambria Math" panose="02040503050406030204" pitchFamily="18" charset="0"/>
                        <a:ea typeface="+mn-lt"/>
                        <a:cs typeface="Calibri Light" panose="020F0302020204030204" pitchFamily="34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  <a:ea typeface="+mn-lt"/>
                        <a:cs typeface="Calibri Light" panose="020F0302020204030204" pitchFamily="34" charset="0"/>
                      </a:rPr>
                      <m:t>𝑌</m:t>
                    </m:r>
                    <m:r>
                      <a:rPr lang="en-US" sz="2000" i="1">
                        <a:latin typeface="Cambria Math" panose="02040503050406030204" pitchFamily="18" charset="0"/>
                        <a:ea typeface="+mn-lt"/>
                        <a:cs typeface="Calibri Light" panose="020F0302020204030204" pitchFamily="34" charset="0"/>
                      </a:rPr>
                      <m:t>=1−</m:t>
                    </m:r>
                    <m:r>
                      <a:rPr lang="en-US" sz="2000" i="1">
                        <a:latin typeface="Cambria Math" panose="02040503050406030204" pitchFamily="18" charset="0"/>
                        <a:ea typeface="+mn-lt"/>
                        <a:cs typeface="Calibri Light" panose="020F0302020204030204" pitchFamily="34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  <a:ea typeface="+mn-lt"/>
                        <a:cs typeface="Calibri Light" panose="020F0302020204030204" pitchFamily="34" charset="0"/>
                      </a:rPr>
                      <m:t>|</m:t>
                    </m:r>
                    <m:r>
                      <a:rPr lang="en-US" sz="2000" i="1">
                        <a:latin typeface="Cambria Math" panose="02040503050406030204" pitchFamily="18" charset="0"/>
                        <a:ea typeface="+mn-lt"/>
                        <a:cs typeface="Calibri Light" panose="020F0302020204030204" pitchFamily="34" charset="0"/>
                      </a:rPr>
                      <m:t>𝑋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+mn-lt"/>
                        <a:cs typeface="Calibri Light" panose="020F0302020204030204" pitchFamily="34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Calibri Light" panose="020F0302020204030204" pitchFamily="34" charset="0"/>
                    <a:ea typeface="+mn-lt"/>
                    <a:cs typeface="Calibri Light" panose="020F0302020204030204" pitchFamily="34" charset="0"/>
                  </a:rPr>
                  <a:t>: residual term captures information missed by stage I </a:t>
                </a:r>
              </a:p>
              <a:p>
                <a:pPr marL="285750" indent="-285750">
                  <a:lnSpc>
                    <a:spcPct val="120000"/>
                  </a:lnSpc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+mn-lt"/>
                        <a:cs typeface="Calibri Light" panose="020F0302020204030204" pitchFamily="34" charset="0"/>
                      </a:rPr>
                      <m:t>𝐵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+mn-lt"/>
                            <a:cs typeface="Calibri Light" panose="020F0302020204030204" pitchFamily="34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 Light" panose="020F0302020204030204" pitchFamily="34" charset="0"/>
                          </a:rPr>
                          <m:t>⋅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 Light" panose="020F0302020204030204" pitchFamily="34" charset="0"/>
                      </a:rPr>
                      <m:t>: </m:t>
                    </m:r>
                  </m:oMath>
                </a14:m>
                <a:r>
                  <a:rPr lang="en-US" sz="2000" dirty="0">
                    <a:latin typeface="Calibri Light" panose="020F0302020204030204" pitchFamily="34" charset="0"/>
                    <a:ea typeface="+mn-lt"/>
                    <a:cs typeface="Calibri Light" panose="020F0302020204030204" pitchFamily="34" charset="0"/>
                  </a:rPr>
                  <a:t>B-spline basis, which allows flexible modeling of the selection mechanism</a:t>
                </a:r>
              </a:p>
              <a:p>
                <a:pPr marL="285750" indent="-285750">
                  <a:lnSpc>
                    <a:spcPct val="120000"/>
                  </a:lnSpc>
                  <a:buFont typeface="Arial"/>
                  <a:buChar char="•"/>
                </a:pPr>
                <a:endParaRPr lang="en-US" sz="2000" dirty="0">
                  <a:latin typeface="Calibri" panose="020F0502020204030204" pitchFamily="34" charset="0"/>
                  <a:ea typeface="+mn-lt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Why this helps?</a:t>
                </a:r>
              </a:p>
              <a:p>
                <a:pPr marL="285750" indent="-285750">
                  <a:lnSpc>
                    <a:spcPct val="120000"/>
                  </a:lnSpc>
                  <a:buFont typeface="Arial"/>
                  <a:buChar char="•"/>
                </a:pPr>
                <a:r>
                  <a:rPr lang="en-US" sz="2000" dirty="0">
                    <a:latin typeface="Calibri Light" panose="020F0302020204030204" pitchFamily="34" charset="0"/>
                    <a:ea typeface="+mn-lt"/>
                    <a:cs typeface="Calibri Light" panose="020F0302020204030204" pitchFamily="34" charset="0"/>
                  </a:rPr>
                  <a:t>Subjects poorly predicted by stage I tend to be more informative in two-phase sampling. (Fithian and Hastie, 2014; Shen et al., 2021)</a:t>
                </a:r>
              </a:p>
            </p:txBody>
          </p:sp>
        </mc:Choice>
        <mc:Fallback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CA1BA727-4133-BA0F-4F07-0A295AE36C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5368" y="1376498"/>
                <a:ext cx="11074576" cy="4105004"/>
              </a:xfrm>
              <a:prstGeom prst="rect">
                <a:avLst/>
              </a:prstGeom>
              <a:blipFill>
                <a:blip r:embed="rId2"/>
                <a:stretch>
                  <a:fillRect l="-148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66444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CA533-A255-0C7C-EE24-7D3C85BDC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Approximation for Estimating AUC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9871AE-02A2-0B94-443A-C5CDBFA464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7997" y="1114752"/>
                <a:ext cx="11071947" cy="469446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Use inverse-probability weighting to estimate the risk score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dirty="0" smtClean="0">
                        <a:latin typeface="Cambria Math" panose="02040503050406030204" pitchFamily="18" charset="0"/>
                      </a:rPr>
                      <m:t>S</m:t>
                    </m:r>
                    <m:d>
                      <m:dPr>
                        <m:ctrlPr>
                          <a:rPr lang="en-US" sz="2000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000" b="0" i="0" dirty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2000" b="0" i="0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000" b="0" i="0" dirty="0" smtClean="0">
                            <a:latin typeface="Cambria Math" panose="02040503050406030204" pitchFamily="18" charset="0"/>
                          </a:rPr>
                          <m:t>Z</m:t>
                        </m:r>
                      </m:e>
                    </m:d>
                    <m:r>
                      <a:rPr lang="en-US" sz="2000" b="0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000" b="0" i="0" dirty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sz="2000" b="0" i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000" b="0" i="0" dirty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sz="2000" b="0" i="0" dirty="0" smtClean="0">
                        <a:latin typeface="Cambria Math" panose="02040503050406030204" pitchFamily="18" charset="0"/>
                      </a:rPr>
                      <m:t>=1|</m:t>
                    </m:r>
                    <m:r>
                      <m:rPr>
                        <m:sty m:val="p"/>
                      </m:rPr>
                      <a:rPr lang="en-US" sz="2000" b="0" i="0" dirty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000" b="0" i="0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2000" b="0" i="0" dirty="0" smtClean="0">
                        <a:latin typeface="Cambria Math" panose="02040503050406030204" pitchFamily="18" charset="0"/>
                      </a:rPr>
                      <m:t>Z</m:t>
                    </m:r>
                    <m:r>
                      <a:rPr lang="en-US" sz="2000" b="0" i="0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distribution under selective phase II observation.</a:t>
                </a:r>
              </a:p>
              <a:p>
                <a:pPr marL="0" indent="0">
                  <a:spcBef>
                    <a:spcPts val="2100"/>
                  </a:spcBef>
                  <a:spcAft>
                    <a:spcPts val="1350"/>
                  </a:spcAft>
                  <a:buNone/>
                </a:pPr>
                <a:r>
                  <a:rPr lang="en-US" sz="20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Under our framework, it is reasonable that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𝑆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𝑋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𝑍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is well calibrated:</a:t>
                </a:r>
              </a:p>
              <a:p>
                <a:pPr marL="0" indent="0">
                  <a:spcBef>
                    <a:spcPts val="15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  <a:cs typeface="Calibri Light" panose="020F0302020204030204" pitchFamily="34" charset="0"/>
                        </a:rPr>
                        <m:t>𝑃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Calibri Light" panose="020F0302020204030204" pitchFamily="34" charset="0"/>
                        </a:rPr>
                        <m:t>{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Calibri Light" panose="020F0302020204030204" pitchFamily="34" charset="0"/>
                        </a:rPr>
                        <m:t>𝑌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Calibri Light" panose="020F0302020204030204" pitchFamily="34" charset="0"/>
                        </a:rPr>
                        <m:t>=1|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Calibri Light" panose="020F0302020204030204" pitchFamily="34" charset="0"/>
                        </a:rPr>
                        <m:t>𝑆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Calibri Light" panose="020F0302020204030204" pitchFamily="34" charset="0"/>
                        </a:rPr>
                        <m:t>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Calibri Light" panose="020F0302020204030204" pitchFamily="34" charset="0"/>
                        </a:rPr>
                        <m:t>𝑋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Calibri Light" panose="020F0302020204030204" pitchFamily="34" charset="0"/>
                        </a:rPr>
                        <m:t>,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Calibri Light" panose="020F0302020204030204" pitchFamily="34" charset="0"/>
                        </a:rPr>
                        <m:t>𝑍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Calibri Light" panose="020F0302020204030204" pitchFamily="34" charset="0"/>
                        </a:rPr>
                        <m:t>)}≈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 Light" panose="020F0302020204030204" pitchFamily="34" charset="0"/>
                        </a:rPr>
                        <m:t>𝑆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 Light" panose="020F0302020204030204" pitchFamily="34" charset="0"/>
                        </a:rPr>
                        <m:t>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 Light" panose="020F0302020204030204" pitchFamily="34" charset="0"/>
                        </a:rPr>
                        <m:t>𝑋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 Light" panose="020F0302020204030204" pitchFamily="34" charset="0"/>
                        </a:rPr>
                        <m:t>,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 Light" panose="020F0302020204030204" pitchFamily="34" charset="0"/>
                        </a:rPr>
                        <m:t>𝑍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 Light" panose="020F0302020204030204" pitchFamily="34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  <a:p>
                <a:pPr marL="0" indent="0">
                  <a:spcBef>
                    <a:spcPts val="2100"/>
                  </a:spcBef>
                  <a:buNone/>
                </a:pP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Weighted empirical estimator:</a:t>
                </a:r>
              </a:p>
              <a:p>
                <a:pPr marL="0" indent="0">
                  <a:spcBef>
                    <a:spcPts val="9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80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acc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𝐹</m:t>
                          </m:r>
                        </m:e>
                      </m:acc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𝑥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,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𝑧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;</m:t>
                          </m:r>
                          <m:acc>
                            <m:accPr>
                              <m:chr m:val="̂"/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acc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𝛽</m:t>
                              </m:r>
                            </m:e>
                          </m:acc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,</m:t>
                          </m:r>
                          <m:acc>
                            <m:accPr>
                              <m:chr m:val="̂"/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acc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𝜏</m:t>
                              </m:r>
                            </m:e>
                          </m:acc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,</m:t>
                          </m:r>
                          <m:acc>
                            <m:accPr>
                              <m:chr m:val="̂"/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acc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𝑙</m:t>
                              </m:r>
                            </m:e>
                          </m:acc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8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𝑖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𝑁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−1</m:t>
                              </m:r>
                            </m:sup>
                          </m:sSup>
                          <m:f>
                            <m:f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fPr>
                            <m:num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𝐼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{</m:t>
                              </m:r>
                              <m:sSub>
                                <m:sSub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=1,</m:t>
                              </m:r>
                              <m:acc>
                                <m:accPr>
                                  <m:chr m:val="̂"/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𝑙</m:t>
                                  </m:r>
                                </m:e>
                              </m:acc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≤</m:t>
                              </m:r>
                              <m:acc>
                                <m:accPr>
                                  <m:chr m:val="̂"/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𝑙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≤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𝑧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}</m:t>
                              </m:r>
                            </m:num>
                            <m:den>
                              <m:nary>
                                <m:naryPr>
                                  <m:chr m:val="∑"/>
                                  <m:limLoc m:val="subSup"/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5"/>
                                    </m:rP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𝑦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=0</m:t>
                                  </m:r>
                                </m:sub>
                                <m:sup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1</m:t>
                                  </m:r>
                                </m:sup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𝑃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cs typeface="Calibri" panose="020F050202020403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cs typeface="Calibri" panose="020F0502020204030204" pitchFamily="34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cs typeface="Calibri" panose="020F0502020204030204" pitchFamily="34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=1|</m:t>
                                  </m:r>
                                  <m:sSub>
                                    <m:sSub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cs typeface="Calibri" panose="020F050202020403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cs typeface="Calibri" panose="020F0502020204030204" pitchFamily="34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cs typeface="Calibri" panose="020F0502020204030204" pitchFamily="34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=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𝑦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cs typeface="Calibri" panose="020F050202020403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cs typeface="Calibri" panose="020F0502020204030204" pitchFamily="34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cs typeface="Calibri" panose="020F0502020204030204" pitchFamily="34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;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cs typeface="Calibri" panose="020F0502020204030204" pitchFamily="34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 panose="020F0502020204030204" pitchFamily="34" charset="0"/>
                                        </a:rPr>
                                        <m:t>𝜏</m:t>
                                      </m:r>
                                    </m:e>
                                  </m:acc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)</m:t>
                                  </m:r>
                                  <m:sSub>
                                    <m:sSub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cs typeface="Calibri" panose="020F050202020403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cs typeface="Calibri" panose="020F0502020204030204" pitchFamily="34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cs typeface="Calibri" panose="020F0502020204030204" pitchFamily="34" charset="0"/>
                                        </a:rPr>
                                        <m:t>𝑦</m:t>
                                      </m:r>
                                    </m:sub>
                                  </m:s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{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cs typeface="Calibri" panose="020F0502020204030204" pitchFamily="34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cs typeface="Calibri" panose="020F0502020204030204" pitchFamily="34" charset="0"/>
                                        </a:rPr>
                                        <m:t>𝑙</m:t>
                                      </m:r>
                                    </m:e>
                                  </m:acc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cs typeface="Calibri" panose="020F050202020403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cs typeface="Calibri" panose="020F0502020204030204" pitchFamily="34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cs typeface="Calibri" panose="020F0502020204030204" pitchFamily="34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),</m:t>
                                  </m:r>
                                  <m:sSub>
                                    <m:sSub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cs typeface="Calibri" panose="020F050202020403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cs typeface="Calibri" panose="020F0502020204030204" pitchFamily="34" charset="0"/>
                                        </a:rPr>
                                        <m:t>𝑍</m:t>
                                      </m:r>
                                    </m:e>
                                    <m:sub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cs typeface="Calibri" panose="020F0502020204030204" pitchFamily="34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;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cs typeface="Calibri" panose="020F0502020204030204" pitchFamily="34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 panose="020F0502020204030204" pitchFamily="34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}</m:t>
                                  </m:r>
                                </m:e>
                              </m:nary>
                            </m:den>
                          </m:f>
                        </m:e>
                      </m:nary>
                    </m:oMath>
                  </m:oMathPara>
                </a14:m>
                <a:endParaRPr lang="en-US" sz="1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spcBef>
                    <a:spcPts val="1500"/>
                  </a:spcBef>
                  <a:buNone/>
                </a:pP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Approximate AUC:</a:t>
                </a:r>
              </a:p>
              <a:p>
                <a:pPr marL="0" indent="0">
                  <a:spcBef>
                    <a:spcPts val="15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00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acc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𝐴𝑈𝐶</m:t>
                          </m:r>
                        </m:e>
                      </m:acc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𝑋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𝑍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;</m:t>
                          </m:r>
                          <m:acc>
                            <m:accPr>
                              <m:chr m:val="̂"/>
                              <m:ctrlPr>
                                <a:rPr lang="en-US" sz="2000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𝛽</m:t>
                              </m:r>
                            </m:e>
                          </m:acc>
                          <m:r>
                            <a:rPr lang="en-US" sz="2000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,</m:t>
                          </m:r>
                          <m:acc>
                            <m:accPr>
                              <m:chr m:val="̂"/>
                              <m:ctrlPr>
                                <a:rPr lang="en-US" sz="2000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𝜏</m:t>
                              </m:r>
                            </m:e>
                          </m:acc>
                          <m:r>
                            <a:rPr lang="en-US" sz="2000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,</m:t>
                          </m:r>
                          <m:acc>
                            <m:accPr>
                              <m:chr m:val="̂"/>
                              <m:ctrlPr>
                                <a:rPr lang="en-US" sz="2000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𝑙</m:t>
                              </m:r>
                            </m:e>
                          </m:acc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𝑇𝑃𝑅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𝜈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𝑋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𝑍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;</m:t>
                              </m:r>
                              <m:acc>
                                <m:accPr>
                                  <m:chr m:val="̂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𝛽</m:t>
                                  </m:r>
                                </m:e>
                              </m:acc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,</m:t>
                              </m:r>
                              <m:acc>
                                <m:accPr>
                                  <m:chr m:val="̂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𝜏</m:t>
                                  </m:r>
                                </m:e>
                              </m:acc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,</m:t>
                              </m:r>
                              <m:acc>
                                <m:accPr>
                                  <m:chr m:val="̂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𝑙</m:t>
                                  </m:r>
                                </m:e>
                              </m:acc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𝐹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𝑃𝑅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𝜈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𝑋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𝑍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;</m:t>
                              </m:r>
                              <m:acc>
                                <m:accPr>
                                  <m:chr m:val="̂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𝛽</m:t>
                                  </m:r>
                                </m:e>
                              </m:acc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,</m:t>
                              </m:r>
                              <m:acc>
                                <m:accPr>
                                  <m:chr m:val="̂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𝜏</m:t>
                                  </m:r>
                                </m:e>
                              </m:acc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,</m:t>
                              </m:r>
                              <m:acc>
                                <m:accPr>
                                  <m:chr m:val="̂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𝑙</m:t>
                                  </m:r>
                                </m:e>
                              </m:acc>
                            </m:e>
                          </m:d>
                        </m:e>
                      </m:nary>
                    </m:oMath>
                  </m:oMathPara>
                </a14:m>
                <a:endParaRPr lang="en-US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9871AE-02A2-0B94-443A-C5CDBFA464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7997" y="1114752"/>
                <a:ext cx="11071947" cy="4694460"/>
              </a:xfrm>
              <a:blipFill>
                <a:blip r:embed="rId3"/>
                <a:stretch>
                  <a:fillRect l="-1491" b="-339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00236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6E0D0-68A2-933B-DDF1-7075F07A2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Setup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951A08-B892-4580-704E-9808972A877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7997" y="944905"/>
                <a:ext cx="11071947" cy="4968189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Data</a:t>
                </a:r>
                <a:r>
                  <a:rPr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Generation</a:t>
                </a:r>
              </a:p>
              <a:p>
                <a:pPr marL="283464" indent="-283464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Calibri Light" panose="020F0302020204030204" pitchFamily="34" charset="0"/>
                    <a:ea typeface="+mn-lt"/>
                    <a:cs typeface="Calibri Light" panose="020F0302020204030204" pitchFamily="34" charset="0"/>
                  </a:rPr>
                  <a:t>N = 10,000</a:t>
                </a:r>
              </a:p>
              <a:p>
                <a:pPr marL="283464" indent="-283464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Calibri Light" panose="020F0302020204030204" pitchFamily="34" charset="0"/>
                    <a:ea typeface="+mn-lt"/>
                    <a:cs typeface="Calibri Light" panose="020F0302020204030204" pitchFamily="34" charset="0"/>
                  </a:rPr>
                  <a:t># EHR (X): 300 with 10 truly predictive</a:t>
                </a:r>
              </a:p>
              <a:p>
                <a:pPr marL="283464" indent="-283464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Calibri Light" panose="020F0302020204030204" pitchFamily="34" charset="0"/>
                    <a:ea typeface="+mn-lt"/>
                    <a:cs typeface="Calibri Light" panose="020F0302020204030204" pitchFamily="34" charset="0"/>
                  </a:rPr>
                  <a:t># external (Z): 3</a:t>
                </a:r>
              </a:p>
              <a:p>
                <a:pPr marL="283464" indent="-283464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Calibri Light" panose="020F0302020204030204" pitchFamily="34" charset="0"/>
                    <a:ea typeface="+mn-lt"/>
                    <a:cs typeface="Calibri Light" panose="020F0302020204030204" pitchFamily="34" charset="0"/>
                  </a:rPr>
                  <a:t>(X,Z)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 Light" panose="020F0302020204030204" pitchFamily="34" charset="0"/>
                      </a:rPr>
                      <m:t>~</m:t>
                    </m:r>
                  </m:oMath>
                </a14:m>
                <a:r>
                  <a:rPr lang="en-US" sz="2000" dirty="0">
                    <a:latin typeface="Calibri Light" panose="020F0302020204030204" pitchFamily="34" charset="0"/>
                    <a:ea typeface="+mn-lt"/>
                    <a:cs typeface="Calibri Light" panose="020F0302020204030204" pitchFamily="34" charset="0"/>
                  </a:rPr>
                  <a:t> multivariate standard normal distribution with correlation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  <a:ea typeface="+mn-lt"/>
                            <a:cs typeface="Calibri Light" panose="020F0302020204030204" pitchFamily="34" charset="0"/>
                          </a:rPr>
                        </m:ctrlPr>
                      </m:sSup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 Light" panose="020F0302020204030204" pitchFamily="34" charset="0"/>
                          </a:rPr>
                          <m:t>𝜌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+mn-lt"/>
                            <a:cs typeface="Calibri Light" panose="020F0302020204030204" pitchFamily="34" charset="0"/>
                          </a:rPr>
                          <m:t>|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+mn-lt"/>
                            <a:cs typeface="Calibri Light" panose="020F0302020204030204" pitchFamily="34" charset="0"/>
                          </a:rPr>
                          <m:t>𝑖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+mn-lt"/>
                            <a:cs typeface="Calibri Light" panose="020F0302020204030204" pitchFamily="34" charset="0"/>
                          </a:rPr>
                          <m:t>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+mn-lt"/>
                            <a:cs typeface="Calibri Light" panose="020F0302020204030204" pitchFamily="34" charset="0"/>
                          </a:rPr>
                          <m:t>𝑗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+mn-lt"/>
                            <a:cs typeface="Calibri Light" panose="020F0302020204030204" pitchFamily="34" charset="0"/>
                          </a:rPr>
                          <m:t>|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  <a:ea typeface="+mn-lt"/>
                        <a:cs typeface="Calibri Light" panose="020F0302020204030204" pitchFamily="34" charset="0"/>
                      </a:rPr>
                      <m:t>,</m:t>
                    </m:r>
                  </m:oMath>
                </a14:m>
                <a:r>
                  <a:rPr lang="en-US" sz="2000" dirty="0">
                    <a:latin typeface="Calibri Light" panose="020F0302020204030204" pitchFamily="34" charset="0"/>
                    <a:ea typeface="+mn-lt"/>
                    <a:cs typeface="Calibri Light" panose="020F03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 Light" panose="020F0302020204030204" pitchFamily="34" charset="0"/>
                      </a:rPr>
                      <m:t>𝜌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 Light" panose="020F0302020204030204" pitchFamily="34" charset="0"/>
                      </a:rPr>
                      <m:t>=0, 0.3 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 Light" panose="020F0302020204030204" pitchFamily="34" charset="0"/>
                      </a:rPr>
                      <m:t>𝑜𝑟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 Light" panose="020F0302020204030204" pitchFamily="34" charset="0"/>
                      </a:rPr>
                      <m:t> 0.5</m:t>
                    </m:r>
                  </m:oMath>
                </a14:m>
                <a:endParaRPr lang="en-US" sz="2000" b="0" dirty="0">
                  <a:latin typeface="Calibri Light" panose="020F0302020204030204" pitchFamily="34" charset="0"/>
                  <a:ea typeface="Cambria Math" panose="02040503050406030204" pitchFamily="18" charset="0"/>
                  <a:cs typeface="Calibri Light" panose="020F0302020204030204" pitchFamily="34" charset="0"/>
                </a:endParaRPr>
              </a:p>
              <a:p>
                <a:pPr marL="283464" indent="-283464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Calibri Light" panose="020F0302020204030204" pitchFamily="34" charset="0"/>
                    <a:ea typeface="Cambria Math" panose="02040503050406030204" pitchFamily="18" charset="0"/>
                    <a:cs typeface="Calibri Light" panose="020F0302020204030204" pitchFamily="34" charset="0"/>
                  </a:rPr>
                  <a:t>Y with P(Y=1) = 0.2: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 Light" panose="020F0302020204030204" pitchFamily="34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 Light" panose="020F0302020204030204" pitchFamily="34" charset="0"/>
                        </a:rPr>
                        <m:t>𝑙𝑜𝑔𝑖𝑡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 Light" panose="020F0302020204030204" pitchFamily="34" charset="0"/>
                        </a:rPr>
                        <m:t>{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 Light" panose="020F0302020204030204" pitchFamily="34" charset="0"/>
                        </a:rPr>
                        <m:t>𝑃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 Light" panose="020F0302020204030204" pitchFamily="34" charset="0"/>
                        </a:rPr>
                        <m:t>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 Light" panose="020F0302020204030204" pitchFamily="34" charset="0"/>
                        </a:rPr>
                        <m:t>𝑌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 Light" panose="020F0302020204030204" pitchFamily="34" charset="0"/>
                        </a:rPr>
                        <m:t>=1|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 Light" panose="020F0302020204030204" pitchFamily="34" charset="0"/>
                        </a:rPr>
                        <m:t>𝑋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 Light" panose="020F0302020204030204" pitchFamily="34" charset="0"/>
                        </a:rPr>
                        <m:t>,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 Light" panose="020F0302020204030204" pitchFamily="34" charset="0"/>
                        </a:rPr>
                        <m:t>𝑍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 Light" panose="020F0302020204030204" pitchFamily="34" charset="0"/>
                        </a:rPr>
                        <m:t>)}=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 Light" panose="020F0302020204030204" pitchFamily="34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 Light" panose="020F0302020204030204" pitchFamily="34" charset="0"/>
                            </a:rPr>
                            <m:t>𝜙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 Light" panose="020F0302020204030204" pitchFamily="34" charset="0"/>
                            </a:rPr>
                            <m:t>0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 Light" panose="020F030202020403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 Light" panose="020F0302020204030204" pitchFamily="34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 Light" panose="020F0302020204030204" pitchFamily="34" charset="0"/>
                            </a:rPr>
                            <m:t>𝜙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 Light" panose="020F030202020403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 Light" panose="020F0302020204030204" pitchFamily="34" charset="0"/>
                        </a:rPr>
                        <m:t>𝑋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 Light" panose="020F030202020403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 Light" panose="020F0302020204030204" pitchFamily="34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 Light" panose="020F0302020204030204" pitchFamily="34" charset="0"/>
                            </a:rPr>
                            <m:t>𝜙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 Light" panose="020F030202020403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 Light" panose="020F0302020204030204" pitchFamily="34" charset="0"/>
                        </a:rPr>
                        <m:t>𝑍</m:t>
                      </m:r>
                    </m:oMath>
                  </m:oMathPara>
                </a14:m>
                <a:endParaRPr lang="en-US" sz="2000" b="0" dirty="0">
                  <a:latin typeface="Calibri Light" panose="020F0302020204030204" pitchFamily="34" charset="0"/>
                  <a:ea typeface="Cambria Math" panose="02040503050406030204" pitchFamily="18" charset="0"/>
                  <a:cs typeface="Calibri Light" panose="020F0302020204030204" pitchFamily="34" charset="0"/>
                </a:endParaRPr>
              </a:p>
              <a:p>
                <a:pPr marL="283464" indent="-283464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Calibri Light" panose="020F0302020204030204" pitchFamily="34" charset="0"/>
                    <a:ea typeface="+mn-lt"/>
                    <a:cs typeface="Calibri Light" panose="020F0302020204030204" pitchFamily="34" charset="0"/>
                  </a:rPr>
                  <a:t>R with P(R=1) = 0.05 or 0.2: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  <a:ea typeface="+mn-lt"/>
                          <a:cs typeface="Calibri Light" panose="020F0302020204030204" pitchFamily="34" charset="0"/>
                        </a:rPr>
                        <m:t>𝑙𝑜𝑔𝑖𝑡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+mn-lt"/>
                          <a:cs typeface="Calibri Light" panose="020F0302020204030204" pitchFamily="34" charset="0"/>
                        </a:rPr>
                        <m:t>{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+mn-lt"/>
                          <a:cs typeface="Calibri Light" panose="020F0302020204030204" pitchFamily="34" charset="0"/>
                        </a:rPr>
                        <m:t>𝑃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+mn-lt"/>
                          <a:cs typeface="Calibri Light" panose="020F0302020204030204" pitchFamily="34" charset="0"/>
                        </a:rPr>
                        <m:t>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+mn-lt"/>
                          <a:cs typeface="Calibri Light" panose="020F0302020204030204" pitchFamily="34" charset="0"/>
                        </a:rPr>
                        <m:t>𝑅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+mn-lt"/>
                          <a:cs typeface="Calibri Light" panose="020F0302020204030204" pitchFamily="34" charset="0"/>
                        </a:rPr>
                        <m:t>=1|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+mn-lt"/>
                          <a:cs typeface="Calibri Light" panose="020F0302020204030204" pitchFamily="34" charset="0"/>
                        </a:rPr>
                        <m:t>𝑋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+mn-lt"/>
                          <a:cs typeface="Calibri Light" panose="020F0302020204030204" pitchFamily="34" charset="0"/>
                        </a:rPr>
                        <m:t>)}=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+mn-lt"/>
                              <a:cs typeface="Calibri Light" panose="020F0302020204030204" pitchFamily="34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 Light" panose="020F0302020204030204" pitchFamily="34" charset="0"/>
                            </a:rPr>
                            <m:t>𝜏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+mn-lt"/>
                              <a:cs typeface="Calibri Light" panose="020F0302020204030204" pitchFamily="34" charset="0"/>
                            </a:rPr>
                            <m:t>0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  <a:ea typeface="+mn-lt"/>
                          <a:cs typeface="Calibri Light" panose="020F030202020403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+mn-lt"/>
                              <a:cs typeface="Calibri Light" panose="020F0302020204030204" pitchFamily="34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 Light" panose="020F0302020204030204" pitchFamily="34" charset="0"/>
                            </a:rPr>
                            <m:t>𝜏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+mn-lt"/>
                              <a:cs typeface="Calibri Light" panose="020F0302020204030204" pitchFamily="34" charset="0"/>
                            </a:rPr>
                            <m:t>1</m:t>
                          </m:r>
                        </m:sub>
                      </m:sSub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+mn-lt"/>
                              <a:cs typeface="Calibri Light" panose="020F0302020204030204" pitchFamily="34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subSup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+mn-lt"/>
                                  <a:cs typeface="Calibri Light" panose="020F0302020204030204" pitchFamily="34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  <a:ea typeface="+mn-lt"/>
                                  <a:cs typeface="Calibri Light" panose="020F0302020204030204" pitchFamily="34" charset="0"/>
                                </a:rPr>
                                <m:t>𝑗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+mn-lt"/>
                                  <a:cs typeface="Calibri Light" panose="020F0302020204030204" pitchFamily="34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+mn-lt"/>
                                  <a:cs typeface="Calibri Light" panose="020F0302020204030204" pitchFamily="34" charset="0"/>
                                </a:rPr>
                                <m:t>𝑞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+mn-lt"/>
                                      <a:cs typeface="Calibri Light" panose="020F030202020403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+mn-lt"/>
                                      <a:cs typeface="Calibri Light" panose="020F0302020204030204" pitchFamily="34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+mn-lt"/>
                                      <a:cs typeface="Calibri Light" panose="020F0302020204030204" pitchFamily="34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+mn-lt"/>
                                  <a:cs typeface="Calibri Light" panose="020F0302020204030204" pitchFamily="34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+mn-lt"/>
                                  <a:cs typeface="Calibri Light" panose="020F0302020204030204" pitchFamily="34" charset="0"/>
                                </a:rPr>
                                <m:t>𝑞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sz="2000" dirty="0">
                  <a:latin typeface="Calibri Light" panose="020F0302020204030204" pitchFamily="34" charset="0"/>
                  <a:ea typeface="+mn-lt"/>
                  <a:cs typeface="Calibri Light" panose="020F0302020204030204" pitchFamily="34" charset="0"/>
                </a:endParaRPr>
              </a:p>
              <a:p>
                <a:pPr marL="283464" indent="-283464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Calibri Light" panose="020F0302020204030204" pitchFamily="34" charset="0"/>
                    <a:ea typeface="+mn-lt"/>
                    <a:cs typeface="Calibri Light" panose="020F0302020204030204" pitchFamily="34" charset="0"/>
                  </a:rPr>
                  <a:t>Stage I Model: adaptive lasso with two-fold sample-splitting procedure</a:t>
                </a:r>
              </a:p>
              <a:p>
                <a:pPr marL="283464" indent="-283464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Calibri Light" panose="020F0302020204030204" pitchFamily="34" charset="0"/>
                    <a:ea typeface="+mn-lt"/>
                    <a:cs typeface="Calibri Light" panose="020F0302020204030204" pitchFamily="34" charset="0"/>
                  </a:rPr>
                  <a:t>Simulation times: 1,000</a:t>
                </a:r>
              </a:p>
              <a:p>
                <a:pPr marL="283464" indent="-283464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Calibri Light" panose="020F0302020204030204" pitchFamily="34" charset="0"/>
                    <a:ea typeface="+mn-lt"/>
                    <a:cs typeface="Calibri Light" panose="020F0302020204030204" pitchFamily="34" charset="0"/>
                  </a:rPr>
                  <a:t>Methods compared: Proposed method, Benchmark (full Z observed), Complete-case (CC) analysis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951A08-B892-4580-704E-9808972A87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7997" y="944905"/>
                <a:ext cx="11071947" cy="4968189"/>
              </a:xfrm>
              <a:blipFill>
                <a:blip r:embed="rId3"/>
                <a:stretch>
                  <a:fillRect l="-1606" b="-5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85215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811ED-483D-BAFB-FA8D-5196095F3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53633-C808-B897-578A-ECC753317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Results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0B7846-73E4-AEBA-AB78-FD02B7C0D5CF}"/>
              </a:ext>
            </a:extLst>
          </p:cNvPr>
          <p:cNvSpPr txBox="1"/>
          <p:nvPr/>
        </p:nvSpPr>
        <p:spPr bwMode="auto">
          <a:xfrm>
            <a:off x="828667" y="4420328"/>
            <a:ext cx="11074575" cy="151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283464" indent="-283464" defTabSz="676275" fontAlgn="base">
              <a:spcBef>
                <a:spcPts val="300"/>
              </a:spcBef>
              <a:spcAft>
                <a:spcPts val="15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sz="2000" dirty="0">
                <a:latin typeface="Calibri Light" panose="020F0302020204030204" pitchFamily="34" charset="0"/>
                <a:ea typeface="+mn-lt"/>
                <a:cs typeface="Calibri Light" panose="020F0302020204030204" pitchFamily="34" charset="0"/>
              </a:rPr>
              <a:t>Coefficient estimates from the proposed method were close to the benchmark</a:t>
            </a:r>
          </a:p>
          <a:p>
            <a:pPr marL="283464" indent="-283464" defTabSz="676275" fontAlgn="base">
              <a:spcBef>
                <a:spcPts val="300"/>
              </a:spcBef>
              <a:spcAft>
                <a:spcPts val="15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sz="2000" dirty="0">
                <a:latin typeface="Calibri Light" panose="020F0302020204030204" pitchFamily="34" charset="0"/>
                <a:ea typeface="+mn-lt"/>
                <a:cs typeface="Calibri Light" panose="020F0302020204030204" pitchFamily="34" charset="0"/>
              </a:rPr>
              <a:t>Asymptotic standard errors closely matched empirical standard errors</a:t>
            </a:r>
          </a:p>
          <a:p>
            <a:pPr marL="283464" indent="-283464" defTabSz="676275" fontAlgn="base">
              <a:spcBef>
                <a:spcPts val="300"/>
              </a:spcBef>
              <a:spcAft>
                <a:spcPts val="15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sz="2000" dirty="0">
                <a:latin typeface="Calibri Light" panose="020F0302020204030204" pitchFamily="34" charset="0"/>
                <a:ea typeface="+mn-lt"/>
                <a:cs typeface="Calibri Light" panose="020F0302020204030204" pitchFamily="34" charset="0"/>
              </a:rPr>
              <a:t>Coverage probabilities were close to nominal levels</a:t>
            </a:r>
          </a:p>
          <a:p>
            <a:pPr marL="283464" indent="-283464" defTabSz="676275" fontAlgn="base">
              <a:spcBef>
                <a:spcPts val="300"/>
              </a:spcBef>
              <a:spcAft>
                <a:spcPts val="15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sz="2000" dirty="0">
                <a:latin typeface="Calibri Light" panose="020F0302020204030204" pitchFamily="34" charset="0"/>
                <a:ea typeface="+mn-lt"/>
                <a:cs typeface="Calibri Light" panose="020F0302020204030204" pitchFamily="34" charset="0"/>
              </a:rPr>
              <a:t>Similar conclusions were obtained in other settings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C3E6649-7D97-C845-C736-0687DBB658D8}"/>
              </a:ext>
            </a:extLst>
          </p:cNvPr>
          <p:cNvSpPr txBox="1"/>
          <p:nvPr/>
        </p:nvSpPr>
        <p:spPr bwMode="auto">
          <a:xfrm>
            <a:off x="605366" y="1056373"/>
            <a:ext cx="1076826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444444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Table 1. </a:t>
            </a:r>
            <a:r>
              <a:rPr lang="en-US" sz="1600" dirty="0">
                <a:solidFill>
                  <a:srgbClr val="444444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Results on the estimation of coefficients and AUC, where the stage I model is fitted using adaptive lasso. Est” refers to the mean coefficient/AUC estimates, “SE” to the empirical standard error, and “</a:t>
            </a:r>
            <a:r>
              <a:rPr lang="en-US" sz="1600" dirty="0" err="1">
                <a:solidFill>
                  <a:srgbClr val="444444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Asy</a:t>
            </a:r>
            <a:r>
              <a:rPr lang="en-US" sz="1600" dirty="0">
                <a:solidFill>
                  <a:srgbClr val="444444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SE” to the averaged asymptotic standard error. “CP” refers to the 95% coverage probabilities calculated compared to two-stage benchmark estimates.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DD5F904B-AEFF-9973-98DF-F77729B458E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72608073"/>
                  </p:ext>
                </p:extLst>
              </p:nvPr>
            </p:nvGraphicFramePr>
            <p:xfrm>
              <a:off x="1294629" y="1988362"/>
              <a:ext cx="9389736" cy="2330974"/>
            </p:xfrm>
            <a:graphic>
              <a:graphicData uri="http://schemas.openxmlformats.org/drawingml/2006/table">
                <a:tbl>
                  <a:tblPr firstRow="1" bandRow="1">
                    <a:tableStyleId>{1FECB4D8-DB02-4DC6-A0A2-4F2EBAE1DC90}</a:tableStyleId>
                  </a:tblPr>
                  <a:tblGrid>
                    <a:gridCol w="911586">
                      <a:extLst>
                        <a:ext uri="{9D8B030D-6E8A-4147-A177-3AD203B41FA5}">
                          <a16:colId xmlns:a16="http://schemas.microsoft.com/office/drawing/2014/main" val="1644812885"/>
                        </a:ext>
                      </a:extLst>
                    </a:gridCol>
                    <a:gridCol w="1609440">
                      <a:extLst>
                        <a:ext uri="{9D8B030D-6E8A-4147-A177-3AD203B41FA5}">
                          <a16:colId xmlns:a16="http://schemas.microsoft.com/office/drawing/2014/main" val="2985898316"/>
                        </a:ext>
                      </a:extLst>
                    </a:gridCol>
                    <a:gridCol w="2141421">
                      <a:extLst>
                        <a:ext uri="{9D8B030D-6E8A-4147-A177-3AD203B41FA5}">
                          <a16:colId xmlns:a16="http://schemas.microsoft.com/office/drawing/2014/main" val="80918277"/>
                        </a:ext>
                      </a:extLst>
                    </a:gridCol>
                    <a:gridCol w="1265999">
                      <a:extLst>
                        <a:ext uri="{9D8B030D-6E8A-4147-A177-3AD203B41FA5}">
                          <a16:colId xmlns:a16="http://schemas.microsoft.com/office/drawing/2014/main" val="3479416861"/>
                        </a:ext>
                      </a:extLst>
                    </a:gridCol>
                    <a:gridCol w="2168357">
                      <a:extLst>
                        <a:ext uri="{9D8B030D-6E8A-4147-A177-3AD203B41FA5}">
                          <a16:colId xmlns:a16="http://schemas.microsoft.com/office/drawing/2014/main" val="2213575664"/>
                        </a:ext>
                      </a:extLst>
                    </a:gridCol>
                    <a:gridCol w="1292933">
                      <a:extLst>
                        <a:ext uri="{9D8B030D-6E8A-4147-A177-3AD203B41FA5}">
                          <a16:colId xmlns:a16="http://schemas.microsoft.com/office/drawing/2014/main" val="628338330"/>
                        </a:ext>
                      </a:extLst>
                    </a:gridCol>
                  </a:tblGrid>
                  <a:tr h="291871">
                    <a:tc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P(R = 1) = 0.05</a:t>
                          </a:r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dirty="0"/>
                            <a:t>P(R = 1) = 0.2</a:t>
                          </a:r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6887601"/>
                      </a:ext>
                    </a:extLst>
                  </a:tr>
                  <a:tr h="31425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l-GR" sz="1200" b="1" dirty="0">
                              <a:solidFill>
                                <a:schemeClr val="bg1"/>
                              </a:solidFill>
                            </a:rPr>
                            <a:t>ρ</a:t>
                          </a:r>
                          <a:endParaRPr lang="en-US" sz="12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bg1"/>
                              </a:solidFill>
                            </a:rPr>
                            <a:t>Coefficient / AUC</a:t>
                          </a:r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bg1"/>
                              </a:solidFill>
                            </a:rPr>
                            <a:t>Est (SE / </a:t>
                          </a:r>
                          <a:r>
                            <a:rPr lang="en-US" sz="1200" dirty="0" err="1">
                              <a:solidFill>
                                <a:schemeClr val="bg1"/>
                              </a:solidFill>
                            </a:rPr>
                            <a:t>Asy</a:t>
                          </a:r>
                          <a:r>
                            <a:rPr lang="en-US" sz="1200" dirty="0">
                              <a:solidFill>
                                <a:schemeClr val="bg1"/>
                              </a:solidFill>
                            </a:rPr>
                            <a:t> SE)</a:t>
                          </a:r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bg1"/>
                              </a:solidFill>
                            </a:rPr>
                            <a:t>CP</a:t>
                          </a:r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bg1"/>
                              </a:solidFill>
                            </a:rPr>
                            <a:t>Est (SE / </a:t>
                          </a:r>
                          <a:r>
                            <a:rPr lang="en-US" sz="1200" dirty="0" err="1">
                              <a:solidFill>
                                <a:schemeClr val="bg1"/>
                              </a:solidFill>
                            </a:rPr>
                            <a:t>Asy</a:t>
                          </a:r>
                          <a:r>
                            <a:rPr lang="en-US" sz="1200" dirty="0">
                              <a:solidFill>
                                <a:schemeClr val="bg1"/>
                              </a:solidFill>
                            </a:rPr>
                            <a:t> SE)</a:t>
                          </a:r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bg1"/>
                              </a:solidFill>
                            </a:rPr>
                            <a:t>CP</a:t>
                          </a:r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2243783"/>
                      </a:ext>
                    </a:extLst>
                  </a:tr>
                  <a:tr h="280856">
                    <a:tc rowSpan="6">
                      <a:txBody>
                        <a:bodyPr/>
                        <a:lstStyle/>
                        <a:p>
                          <a:pPr marL="0" algn="ctr" defTabSz="685800" rtl="0" eaLnBrk="1" latinLnBrk="0" hangingPunct="1"/>
                          <a:r>
                            <a:rPr lang="en-US" sz="1200" i="0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685800" rtl="0" eaLnBrk="1" latinLnBrk="0" hangingPunct="1"/>
                          <a:r>
                            <a:rPr lang="en-US" sz="1200" i="0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Intercept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685800" rtl="0" eaLnBrk="1" latinLnBrk="0" hangingPunct="1"/>
                          <a:r>
                            <a:rPr lang="en-US" sz="1200" i="0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-0.066 (0.086/0.080)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685800" rtl="0" eaLnBrk="1" latinLnBrk="0" hangingPunct="1"/>
                          <a:r>
                            <a:rPr lang="en-US" sz="1200" i="0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0.966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685800" rtl="0" eaLnBrk="1" latinLnBrk="0" hangingPunct="1"/>
                          <a:r>
                            <a:rPr lang="en-US" sz="1200" i="0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-0.065 (0.051/0.039)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685800" rtl="0" eaLnBrk="1" latinLnBrk="0" hangingPunct="1"/>
                          <a:r>
                            <a:rPr lang="en-US" sz="1200" i="0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0.981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03789782"/>
                      </a:ext>
                    </a:extLst>
                  </a:tr>
                  <a:tr h="290998">
                    <a:tc vMerge="1">
                      <a:txBody>
                        <a:bodyPr/>
                        <a:lstStyle/>
                        <a:p>
                          <a:pPr marL="0" algn="ctr" defTabSz="685800" rtl="0" eaLnBrk="1" latinLnBrk="0" hangingPunct="1"/>
                          <a:endParaRPr lang="en-US" sz="1200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685800" rtl="0" eaLnBrk="1" latinLnBrk="0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en-US" sz="1200" i="0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b="0" i="0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l</m:t>
                                    </m:r>
                                  </m:e>
                                </m:acc>
                                <m:r>
                                  <a:rPr lang="en-US" sz="1200" b="0" i="0" kern="120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200" b="0" i="0" kern="120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X</m:t>
                                </m:r>
                                <m:r>
                                  <a:rPr lang="en-US" sz="1200" b="0" i="0" kern="120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200" i="0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685800" rtl="0" eaLnBrk="1" latinLnBrk="0" hangingPunct="1"/>
                          <a:r>
                            <a:rPr lang="en-US" sz="1200" i="0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1.120 (0.075/0.069)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685800" rtl="0" eaLnBrk="1" latinLnBrk="0" hangingPunct="1"/>
                          <a:r>
                            <a:rPr lang="en-US" sz="1200" i="0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0.971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685800" rtl="0" eaLnBrk="1" latinLnBrk="0" hangingPunct="1"/>
                          <a:r>
                            <a:rPr lang="en-US" sz="1200" i="0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1.108 (0.047/0.032)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685800" rtl="0" eaLnBrk="1" latinLnBrk="0" hangingPunct="1"/>
                          <a:r>
                            <a:rPr lang="en-US" sz="1200" i="0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0.974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7664793"/>
                      </a:ext>
                    </a:extLst>
                  </a:tr>
                  <a:tr h="288248">
                    <a:tc vMerge="1">
                      <a:txBody>
                        <a:bodyPr/>
                        <a:lstStyle/>
                        <a:p>
                          <a:pPr marL="0" algn="ctr" defTabSz="685800" rtl="0" eaLnBrk="1" latinLnBrk="0" hangingPunct="1"/>
                          <a:endParaRPr lang="en-US" sz="1200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685800" rtl="0" eaLnBrk="1" latinLnBrk="0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i="0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b="0" i="0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Z</m:t>
                                    </m:r>
                                  </m:e>
                                  <m:sub>
                                    <m:r>
                                      <a:rPr lang="en-US" sz="1200" b="0" i="0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i="0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685800" rtl="0" eaLnBrk="1" latinLnBrk="0" hangingPunct="1"/>
                          <a:r>
                            <a:rPr lang="en-US" sz="1200" i="0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0.408 (0.136/0.139)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685800" rtl="0" eaLnBrk="1" latinLnBrk="0" hangingPunct="1"/>
                          <a:r>
                            <a:rPr lang="en-US" sz="1200" i="0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0.952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685800" rtl="0" eaLnBrk="1" latinLnBrk="0" hangingPunct="1"/>
                          <a:r>
                            <a:rPr lang="en-US" sz="1200" i="0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0.400 (0.070/0.069)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685800" rtl="0" eaLnBrk="1" latinLnBrk="0" hangingPunct="1"/>
                          <a:r>
                            <a:rPr lang="en-US" sz="1200" i="0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0.968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90232753"/>
                      </a:ext>
                    </a:extLst>
                  </a:tr>
                  <a:tr h="288248">
                    <a:tc vMerge="1">
                      <a:txBody>
                        <a:bodyPr/>
                        <a:lstStyle/>
                        <a:p>
                          <a:pPr marL="0" algn="ctr" defTabSz="685800" rtl="0" eaLnBrk="1" latinLnBrk="0" hangingPunct="1"/>
                          <a:endParaRPr lang="en-US" sz="1200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685800" rtl="0" eaLnBrk="1" latinLnBrk="0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i="0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b="0" i="0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Z</m:t>
                                    </m:r>
                                  </m:e>
                                  <m:sub>
                                    <m:r>
                                      <a:rPr lang="en-US" sz="1200" b="0" i="0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i="0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685800" rtl="0" eaLnBrk="1" latinLnBrk="0" hangingPunct="1"/>
                          <a:r>
                            <a:rPr lang="en-US" sz="1200" i="0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0.695 (0.148/0.146)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685800" rtl="0" eaLnBrk="1" latinLnBrk="0" hangingPunct="1"/>
                          <a:r>
                            <a:rPr lang="en-US" sz="1200" i="0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0.932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685800" rtl="0" eaLnBrk="1" latinLnBrk="0" hangingPunct="1"/>
                          <a:r>
                            <a:rPr lang="en-US" sz="1200" i="0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0.683 (0.071/0.072)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685800" rtl="0" eaLnBrk="1" latinLnBrk="0" hangingPunct="1"/>
                          <a:r>
                            <a:rPr lang="en-US" sz="1200" i="0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0.968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41082185"/>
                      </a:ext>
                    </a:extLst>
                  </a:tr>
                  <a:tr h="288248">
                    <a:tc vMerge="1">
                      <a:txBody>
                        <a:bodyPr/>
                        <a:lstStyle/>
                        <a:p>
                          <a:pPr marL="0" algn="ctr" defTabSz="685800" rtl="0" eaLnBrk="1" latinLnBrk="0" hangingPunct="1"/>
                          <a:endParaRPr lang="en-US" sz="1200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685800" rtl="0" eaLnBrk="1" latinLnBrk="0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i="0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b="0" i="0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Z</m:t>
                                    </m:r>
                                  </m:e>
                                  <m:sub>
                                    <m:r>
                                      <a:rPr lang="en-US" sz="1200" b="0" i="0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i="0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685800" rtl="0" eaLnBrk="1" latinLnBrk="0" hangingPunct="1"/>
                          <a:r>
                            <a:rPr lang="en-US" sz="1200" i="0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-0.585 (0.143/0.144)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685800" rtl="0" eaLnBrk="1" latinLnBrk="0" hangingPunct="1"/>
                          <a:r>
                            <a:rPr lang="en-US" sz="1200" i="0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0.960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685800" rtl="0" eaLnBrk="1" latinLnBrk="0" hangingPunct="1"/>
                          <a:r>
                            <a:rPr lang="en-US" sz="1200" i="0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-0.579 (0.070/0.070)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685800" rtl="0" eaLnBrk="1" latinLnBrk="0" hangingPunct="1"/>
                          <a:r>
                            <a:rPr lang="en-US" sz="1200" i="0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0.977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90298836"/>
                      </a:ext>
                    </a:extLst>
                  </a:tr>
                  <a:tr h="288248">
                    <a:tc vMerge="1">
                      <a:txBody>
                        <a:bodyPr/>
                        <a:lstStyle/>
                        <a:p>
                          <a:pPr marL="0" algn="ctr" defTabSz="685800" rtl="0" eaLnBrk="1" latinLnBrk="0" hangingPunct="1"/>
                          <a:endParaRPr lang="en-US" sz="1200" i="0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685800" rtl="0" eaLnBrk="1" latinLnBrk="0" hangingPunct="1"/>
                          <a:r>
                            <a:rPr lang="en-US" sz="1200" i="0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AUC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685800" rtl="0" eaLnBrk="1" latinLnBrk="0" hangingPunct="1"/>
                          <a:r>
                            <a:rPr lang="en-US" sz="1200" i="0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0.854 (0.014/0.014)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685800" rtl="0" eaLnBrk="1" latinLnBrk="0" hangingPunct="1"/>
                          <a:r>
                            <a:rPr lang="en-US" sz="1200" i="0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0.943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685800" rtl="0" eaLnBrk="1" latinLnBrk="0" hangingPunct="1"/>
                          <a:r>
                            <a:rPr lang="en-US" sz="1200" i="0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0.852 (0.008/0.008)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685800" rtl="0" eaLnBrk="1" latinLnBrk="0" hangingPunct="1"/>
                          <a:r>
                            <a:rPr lang="en-US" sz="1200" i="0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0.982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8079899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DD5F904B-AEFF-9973-98DF-F77729B458E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72608073"/>
                  </p:ext>
                </p:extLst>
              </p:nvPr>
            </p:nvGraphicFramePr>
            <p:xfrm>
              <a:off x="1294629" y="1988362"/>
              <a:ext cx="9389736" cy="2330974"/>
            </p:xfrm>
            <a:graphic>
              <a:graphicData uri="http://schemas.openxmlformats.org/drawingml/2006/table">
                <a:tbl>
                  <a:tblPr firstRow="1" bandRow="1">
                    <a:tableStyleId>{1FECB4D8-DB02-4DC6-A0A2-4F2EBAE1DC90}</a:tableStyleId>
                  </a:tblPr>
                  <a:tblGrid>
                    <a:gridCol w="911586">
                      <a:extLst>
                        <a:ext uri="{9D8B030D-6E8A-4147-A177-3AD203B41FA5}">
                          <a16:colId xmlns:a16="http://schemas.microsoft.com/office/drawing/2014/main" val="1644812885"/>
                        </a:ext>
                      </a:extLst>
                    </a:gridCol>
                    <a:gridCol w="1609440">
                      <a:extLst>
                        <a:ext uri="{9D8B030D-6E8A-4147-A177-3AD203B41FA5}">
                          <a16:colId xmlns:a16="http://schemas.microsoft.com/office/drawing/2014/main" val="2985898316"/>
                        </a:ext>
                      </a:extLst>
                    </a:gridCol>
                    <a:gridCol w="2141421">
                      <a:extLst>
                        <a:ext uri="{9D8B030D-6E8A-4147-A177-3AD203B41FA5}">
                          <a16:colId xmlns:a16="http://schemas.microsoft.com/office/drawing/2014/main" val="80918277"/>
                        </a:ext>
                      </a:extLst>
                    </a:gridCol>
                    <a:gridCol w="1265999">
                      <a:extLst>
                        <a:ext uri="{9D8B030D-6E8A-4147-A177-3AD203B41FA5}">
                          <a16:colId xmlns:a16="http://schemas.microsoft.com/office/drawing/2014/main" val="3479416861"/>
                        </a:ext>
                      </a:extLst>
                    </a:gridCol>
                    <a:gridCol w="2168357">
                      <a:extLst>
                        <a:ext uri="{9D8B030D-6E8A-4147-A177-3AD203B41FA5}">
                          <a16:colId xmlns:a16="http://schemas.microsoft.com/office/drawing/2014/main" val="2213575664"/>
                        </a:ext>
                      </a:extLst>
                    </a:gridCol>
                    <a:gridCol w="1292933">
                      <a:extLst>
                        <a:ext uri="{9D8B030D-6E8A-4147-A177-3AD203B41FA5}">
                          <a16:colId xmlns:a16="http://schemas.microsoft.com/office/drawing/2014/main" val="628338330"/>
                        </a:ext>
                      </a:extLst>
                    </a:gridCol>
                  </a:tblGrid>
                  <a:tr h="291871">
                    <a:tc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P(R = 1) = 0.05</a:t>
                          </a:r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dirty="0"/>
                            <a:t>P(R = 1) = 0.2</a:t>
                          </a:r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6887601"/>
                      </a:ext>
                    </a:extLst>
                  </a:tr>
                  <a:tr h="31425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l-GR" sz="1200" b="1" dirty="0">
                              <a:solidFill>
                                <a:schemeClr val="bg1"/>
                              </a:solidFill>
                            </a:rPr>
                            <a:t>ρ</a:t>
                          </a:r>
                          <a:endParaRPr lang="en-US" sz="12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bg1"/>
                              </a:solidFill>
                            </a:rPr>
                            <a:t>Coefficient / AUC</a:t>
                          </a:r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bg1"/>
                              </a:solidFill>
                            </a:rPr>
                            <a:t>Est (SE / </a:t>
                          </a:r>
                          <a:r>
                            <a:rPr lang="en-US" sz="1200" dirty="0" err="1">
                              <a:solidFill>
                                <a:schemeClr val="bg1"/>
                              </a:solidFill>
                            </a:rPr>
                            <a:t>Asy</a:t>
                          </a:r>
                          <a:r>
                            <a:rPr lang="en-US" sz="1200" dirty="0">
                              <a:solidFill>
                                <a:schemeClr val="bg1"/>
                              </a:solidFill>
                            </a:rPr>
                            <a:t> SE)</a:t>
                          </a:r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bg1"/>
                              </a:solidFill>
                            </a:rPr>
                            <a:t>CP</a:t>
                          </a:r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bg1"/>
                              </a:solidFill>
                            </a:rPr>
                            <a:t>Est (SE / </a:t>
                          </a:r>
                          <a:r>
                            <a:rPr lang="en-US" sz="1200" dirty="0" err="1">
                              <a:solidFill>
                                <a:schemeClr val="bg1"/>
                              </a:solidFill>
                            </a:rPr>
                            <a:t>Asy</a:t>
                          </a:r>
                          <a:r>
                            <a:rPr lang="en-US" sz="1200" dirty="0">
                              <a:solidFill>
                                <a:schemeClr val="bg1"/>
                              </a:solidFill>
                            </a:rPr>
                            <a:t> SE)</a:t>
                          </a:r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bg1"/>
                              </a:solidFill>
                            </a:rPr>
                            <a:t>CP</a:t>
                          </a:r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2243783"/>
                      </a:ext>
                    </a:extLst>
                  </a:tr>
                  <a:tr h="280856">
                    <a:tc rowSpan="6">
                      <a:txBody>
                        <a:bodyPr/>
                        <a:lstStyle/>
                        <a:p>
                          <a:pPr marL="0" algn="ctr" defTabSz="685800" rtl="0" eaLnBrk="1" latinLnBrk="0" hangingPunct="1"/>
                          <a:r>
                            <a:rPr lang="en-US" sz="1200" i="0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685800" rtl="0" eaLnBrk="1" latinLnBrk="0" hangingPunct="1"/>
                          <a:r>
                            <a:rPr lang="en-US" sz="1200" i="0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Intercept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685800" rtl="0" eaLnBrk="1" latinLnBrk="0" hangingPunct="1"/>
                          <a:r>
                            <a:rPr lang="en-US" sz="1200" i="0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-0.066 (0.086/0.080)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685800" rtl="0" eaLnBrk="1" latinLnBrk="0" hangingPunct="1"/>
                          <a:r>
                            <a:rPr lang="en-US" sz="1200" i="0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0.966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685800" rtl="0" eaLnBrk="1" latinLnBrk="0" hangingPunct="1"/>
                          <a:r>
                            <a:rPr lang="en-US" sz="1200" i="0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-0.065 (0.051/0.039)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685800" rtl="0" eaLnBrk="1" latinLnBrk="0" hangingPunct="1"/>
                          <a:r>
                            <a:rPr lang="en-US" sz="1200" i="0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0.981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03789782"/>
                      </a:ext>
                    </a:extLst>
                  </a:tr>
                  <a:tr h="290998">
                    <a:tc vMerge="1">
                      <a:txBody>
                        <a:bodyPr/>
                        <a:lstStyle/>
                        <a:p>
                          <a:pPr marL="0" algn="ctr" defTabSz="685800" rtl="0" eaLnBrk="1" latinLnBrk="0" hangingPunct="1"/>
                          <a:endParaRPr lang="en-US" sz="1200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6693" t="-304348" r="-427559" b="-4086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685800" rtl="0" eaLnBrk="1" latinLnBrk="0" hangingPunct="1"/>
                          <a:r>
                            <a:rPr lang="en-US" sz="1200" i="0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1.120 (0.075/0.069)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685800" rtl="0" eaLnBrk="1" latinLnBrk="0" hangingPunct="1"/>
                          <a:r>
                            <a:rPr lang="en-US" sz="1200" i="0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0.971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685800" rtl="0" eaLnBrk="1" latinLnBrk="0" hangingPunct="1"/>
                          <a:r>
                            <a:rPr lang="en-US" sz="1200" i="0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1.108 (0.047/0.032)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685800" rtl="0" eaLnBrk="1" latinLnBrk="0" hangingPunct="1"/>
                          <a:r>
                            <a:rPr lang="en-US" sz="1200" i="0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0.974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7664793"/>
                      </a:ext>
                    </a:extLst>
                  </a:tr>
                  <a:tr h="288248">
                    <a:tc vMerge="1">
                      <a:txBody>
                        <a:bodyPr/>
                        <a:lstStyle/>
                        <a:p>
                          <a:pPr marL="0" algn="ctr" defTabSz="685800" rtl="0" eaLnBrk="1" latinLnBrk="0" hangingPunct="1"/>
                          <a:endParaRPr lang="en-US" sz="1200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6693" t="-404348" r="-427559" b="-3086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685800" rtl="0" eaLnBrk="1" latinLnBrk="0" hangingPunct="1"/>
                          <a:r>
                            <a:rPr lang="en-US" sz="1200" i="0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0.408 (0.136/0.139)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685800" rtl="0" eaLnBrk="1" latinLnBrk="0" hangingPunct="1"/>
                          <a:r>
                            <a:rPr lang="en-US" sz="1200" i="0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0.952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685800" rtl="0" eaLnBrk="1" latinLnBrk="0" hangingPunct="1"/>
                          <a:r>
                            <a:rPr lang="en-US" sz="1200" i="0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0.400 (0.070/0.069)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685800" rtl="0" eaLnBrk="1" latinLnBrk="0" hangingPunct="1"/>
                          <a:r>
                            <a:rPr lang="en-US" sz="1200" i="0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0.968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90232753"/>
                      </a:ext>
                    </a:extLst>
                  </a:tr>
                  <a:tr h="288248">
                    <a:tc vMerge="1">
                      <a:txBody>
                        <a:bodyPr/>
                        <a:lstStyle/>
                        <a:p>
                          <a:pPr marL="0" algn="ctr" defTabSz="685800" rtl="0" eaLnBrk="1" latinLnBrk="0" hangingPunct="1"/>
                          <a:endParaRPr lang="en-US" sz="1200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6693" t="-504348" r="-427559" b="-2086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685800" rtl="0" eaLnBrk="1" latinLnBrk="0" hangingPunct="1"/>
                          <a:r>
                            <a:rPr lang="en-US" sz="1200" i="0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0.695 (0.148/0.146)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685800" rtl="0" eaLnBrk="1" latinLnBrk="0" hangingPunct="1"/>
                          <a:r>
                            <a:rPr lang="en-US" sz="1200" i="0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0.932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685800" rtl="0" eaLnBrk="1" latinLnBrk="0" hangingPunct="1"/>
                          <a:r>
                            <a:rPr lang="en-US" sz="1200" i="0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0.683 (0.071/0.072)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685800" rtl="0" eaLnBrk="1" latinLnBrk="0" hangingPunct="1"/>
                          <a:r>
                            <a:rPr lang="en-US" sz="1200" i="0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0.968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41082185"/>
                      </a:ext>
                    </a:extLst>
                  </a:tr>
                  <a:tr h="288248">
                    <a:tc vMerge="1">
                      <a:txBody>
                        <a:bodyPr/>
                        <a:lstStyle/>
                        <a:p>
                          <a:pPr marL="0" algn="ctr" defTabSz="685800" rtl="0" eaLnBrk="1" latinLnBrk="0" hangingPunct="1"/>
                          <a:endParaRPr lang="en-US" sz="1200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6693" t="-604348" r="-427559" b="-1086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685800" rtl="0" eaLnBrk="1" latinLnBrk="0" hangingPunct="1"/>
                          <a:r>
                            <a:rPr lang="en-US" sz="1200" i="0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-0.585 (0.143/0.144)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685800" rtl="0" eaLnBrk="1" latinLnBrk="0" hangingPunct="1"/>
                          <a:r>
                            <a:rPr lang="en-US" sz="1200" i="0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0.960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685800" rtl="0" eaLnBrk="1" latinLnBrk="0" hangingPunct="1"/>
                          <a:r>
                            <a:rPr lang="en-US" sz="1200" i="0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-0.579 (0.070/0.070)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685800" rtl="0" eaLnBrk="1" latinLnBrk="0" hangingPunct="1"/>
                          <a:r>
                            <a:rPr lang="en-US" sz="1200" i="0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0.977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90298836"/>
                      </a:ext>
                    </a:extLst>
                  </a:tr>
                  <a:tr h="288248">
                    <a:tc vMerge="1">
                      <a:txBody>
                        <a:bodyPr/>
                        <a:lstStyle/>
                        <a:p>
                          <a:pPr marL="0" algn="ctr" defTabSz="685800" rtl="0" eaLnBrk="1" latinLnBrk="0" hangingPunct="1"/>
                          <a:endParaRPr lang="en-US" sz="1200" i="0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685800" rtl="0" eaLnBrk="1" latinLnBrk="0" hangingPunct="1"/>
                          <a:r>
                            <a:rPr lang="en-US" sz="1200" i="0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AUC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685800" rtl="0" eaLnBrk="1" latinLnBrk="0" hangingPunct="1"/>
                          <a:r>
                            <a:rPr lang="en-US" sz="1200" i="0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0.854 (0.014/0.014)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685800" rtl="0" eaLnBrk="1" latinLnBrk="0" hangingPunct="1"/>
                          <a:r>
                            <a:rPr lang="en-US" sz="1200" i="0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0.943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685800" rtl="0" eaLnBrk="1" latinLnBrk="0" hangingPunct="1"/>
                          <a:r>
                            <a:rPr lang="en-US" sz="1200" i="0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0.852 (0.008/0.008)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685800" rtl="0" eaLnBrk="1" latinLnBrk="0" hangingPunct="1"/>
                          <a:r>
                            <a:rPr lang="en-US" sz="1200" i="0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0.982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8079899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7340409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52E71-DFF3-F73A-FF45-7E4E8E7A6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Results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EE849A7-1E12-6725-C582-F50894B3FE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2" t="2608"/>
          <a:stretch>
            <a:fillRect/>
          </a:stretch>
        </p:blipFill>
        <p:spPr>
          <a:xfrm>
            <a:off x="605368" y="1643006"/>
            <a:ext cx="11074577" cy="240631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2DC956D-1A25-DBFB-A94A-E0F48A2B057C}"/>
              </a:ext>
            </a:extLst>
          </p:cNvPr>
          <p:cNvSpPr txBox="1"/>
          <p:nvPr/>
        </p:nvSpPr>
        <p:spPr bwMode="auto">
          <a:xfrm>
            <a:off x="605368" y="1074630"/>
            <a:ext cx="610001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676275" fontAlgn="base">
              <a:spcBef>
                <a:spcPts val="300"/>
              </a:spcBef>
              <a:spcAft>
                <a:spcPts val="150"/>
              </a:spcAft>
              <a:buClr>
                <a:schemeClr val="tx2"/>
              </a:buClr>
              <a:buSzPct val="120000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Proposed vs CC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4AEA8D-8E80-FBA4-2F99-FBE9A3E5EAE4}"/>
              </a:ext>
            </a:extLst>
          </p:cNvPr>
          <p:cNvSpPr txBox="1"/>
          <p:nvPr/>
        </p:nvSpPr>
        <p:spPr bwMode="auto">
          <a:xfrm>
            <a:off x="605366" y="4946566"/>
            <a:ext cx="8526600" cy="7720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283464" indent="-283464" defTabSz="676275" fontAlgn="base">
              <a:spcBef>
                <a:spcPts val="300"/>
              </a:spcBef>
              <a:spcAft>
                <a:spcPts val="15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sz="2000" dirty="0">
                <a:latin typeface="Calibri Light" panose="020F0302020204030204" pitchFamily="34" charset="0"/>
                <a:ea typeface="+mn-lt"/>
                <a:cs typeface="Calibri Light" panose="020F0302020204030204" pitchFamily="34" charset="0"/>
              </a:rPr>
              <a:t>Proposed estimates closely matched benchmark values </a:t>
            </a:r>
          </a:p>
          <a:p>
            <a:pPr marL="283464" indent="-283464" defTabSz="676275" fontAlgn="base">
              <a:spcBef>
                <a:spcPts val="300"/>
              </a:spcBef>
              <a:spcAft>
                <a:spcPts val="15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sz="2000" dirty="0">
                <a:latin typeface="Calibri Light" panose="020F0302020204030204" pitchFamily="34" charset="0"/>
                <a:ea typeface="+mn-lt"/>
                <a:cs typeface="Calibri Light" panose="020F0302020204030204" pitchFamily="34" charset="0"/>
              </a:rPr>
              <a:t>Much smaller variability than CC analysis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9392C06-EF8F-B609-008B-0B1A463957DE}"/>
              </a:ext>
            </a:extLst>
          </p:cNvPr>
          <p:cNvSpPr txBox="1"/>
          <p:nvPr/>
        </p:nvSpPr>
        <p:spPr bwMode="auto">
          <a:xfrm>
            <a:off x="605366" y="4157429"/>
            <a:ext cx="1107457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444444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Figure 1. </a:t>
            </a:r>
            <a:r>
              <a:rPr lang="en-US" sz="1600" dirty="0">
                <a:solidFill>
                  <a:srgbClr val="444444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Comparison of AUC estimation between the proposed method and the CC approach when P(R = 1) = 0.05. “AUC” refers to the mean AUC estimates, and the dashed line represents the corresponding benchmark value.</a:t>
            </a:r>
          </a:p>
        </p:txBody>
      </p:sp>
    </p:spTree>
    <p:extLst>
      <p:ext uri="{BB962C8B-B14F-4D97-AF65-F5344CB8AC3E}">
        <p14:creationId xmlns:p14="http://schemas.microsoft.com/office/powerpoint/2010/main" val="31473553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9C452-67E9-CD30-5475-41AEBE674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F59E2-F4E7-9BF0-FCA1-7B897FFB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368" y="476873"/>
            <a:ext cx="11074576" cy="430887"/>
          </a:xfrm>
        </p:spPr>
        <p:txBody>
          <a:bodyPr/>
          <a:lstStyle/>
          <a:p>
            <a:r>
              <a:rPr lang="en" sz="2800" dirty="0">
                <a:latin typeface="Calibri"/>
                <a:ea typeface="Calibri Light"/>
                <a:cs typeface="Calibri Light"/>
              </a:rPr>
              <a:t>Real</a:t>
            </a:r>
            <a:r>
              <a:rPr lang="en" sz="2800" dirty="0">
                <a:latin typeface="Calibri"/>
                <a:ea typeface="+mn-lt"/>
                <a:cs typeface="+mn-lt"/>
              </a:rPr>
              <a:t> Data </a:t>
            </a:r>
            <a:r>
              <a:rPr lang="en-US" sz="2800" dirty="0">
                <a:latin typeface="Calibri"/>
                <a:ea typeface="+mn-lt"/>
                <a:cs typeface="+mn-lt"/>
              </a:rPr>
              <a:t>: Oncology Risk Prediction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74F68E-8C21-DD67-9C51-798A58B49105}"/>
              </a:ext>
            </a:extLst>
          </p:cNvPr>
          <p:cNvSpPr txBox="1"/>
          <p:nvPr/>
        </p:nvSpPr>
        <p:spPr>
          <a:xfrm>
            <a:off x="605368" y="1148584"/>
            <a:ext cx="10756776" cy="17989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defTabSz="676275" fontAlgn="base">
              <a:lnSpc>
                <a:spcPct val="150000"/>
              </a:lnSpc>
              <a:buClr>
                <a:schemeClr val="tx2"/>
              </a:buClr>
              <a:buSzPct val="120000"/>
              <a:buFont typeface="Arial"/>
              <a:buChar char="•"/>
            </a:pPr>
            <a:r>
              <a:rPr lang="en-US" sz="2000" b="1" dirty="0">
                <a:latin typeface="Calibri Light" panose="020F0302020204030204" pitchFamily="34" charset="0"/>
                <a:ea typeface="+mn-lt"/>
                <a:cs typeface="Calibri Light" panose="020F0302020204030204" pitchFamily="34" charset="0"/>
              </a:rPr>
              <a:t>Cohort​: </a:t>
            </a:r>
            <a:r>
              <a:rPr lang="en-US" altLang="zh-CN" sz="2000" dirty="0">
                <a:latin typeface="Calibri Light" panose="020F0302020204030204" pitchFamily="34" charset="0"/>
                <a:ea typeface="+mn-lt"/>
                <a:cs typeface="Calibri Light" panose="020F0302020204030204" pitchFamily="34" charset="0"/>
              </a:rPr>
              <a:t>8,555</a:t>
            </a:r>
            <a:r>
              <a:rPr lang="en-US" sz="2000" dirty="0">
                <a:latin typeface="Calibri Light" panose="020F0302020204030204" pitchFamily="34" charset="0"/>
                <a:ea typeface="+mn-lt"/>
                <a:cs typeface="Calibri Light" panose="020F0302020204030204" pitchFamily="34" charset="0"/>
              </a:rPr>
              <a:t> oncology patients from University of Pennsylvania Health System (UPHS)</a:t>
            </a:r>
          </a:p>
          <a:p>
            <a:pPr marL="285750" indent="-285750" defTabSz="676275" fontAlgn="base">
              <a:lnSpc>
                <a:spcPct val="150000"/>
              </a:lnSpc>
              <a:buClr>
                <a:schemeClr val="tx2"/>
              </a:buClr>
              <a:buSzPct val="120000"/>
              <a:buFont typeface="Arial"/>
              <a:buChar char="•"/>
            </a:pPr>
            <a:r>
              <a:rPr lang="en-US" sz="2000" b="1" dirty="0">
                <a:latin typeface="Calibri Light" panose="020F0302020204030204" pitchFamily="34" charset="0"/>
                <a:ea typeface="+mn-lt"/>
                <a:cs typeface="Calibri Light" panose="020F0302020204030204" pitchFamily="34" charset="0"/>
              </a:rPr>
              <a:t>Outcome: </a:t>
            </a:r>
            <a:r>
              <a:rPr lang="en-US" sz="2000" dirty="0">
                <a:latin typeface="Calibri Light" panose="020F0302020204030204" pitchFamily="34" charset="0"/>
                <a:ea typeface="+mn-lt"/>
                <a:cs typeface="Calibri Light" panose="020F0302020204030204" pitchFamily="34" charset="0"/>
              </a:rPr>
              <a:t>180-day mortality (485 deaths; 5.7%) </a:t>
            </a:r>
          </a:p>
          <a:p>
            <a:pPr marL="285750" indent="-285750" defTabSz="676275" fontAlgn="base">
              <a:lnSpc>
                <a:spcPct val="150000"/>
              </a:lnSpc>
              <a:buClr>
                <a:schemeClr val="tx2"/>
              </a:buClr>
              <a:buSzPct val="120000"/>
              <a:buFont typeface="Arial"/>
              <a:buChar char="•"/>
            </a:pPr>
            <a:r>
              <a:rPr lang="en-US" sz="2000" b="1" dirty="0">
                <a:latin typeface="Calibri Light" panose="020F0302020204030204" pitchFamily="34" charset="0"/>
                <a:ea typeface="+mn-lt"/>
                <a:cs typeface="Calibri Light" panose="020F0302020204030204" pitchFamily="34" charset="0"/>
              </a:rPr>
              <a:t>EHR predictors: </a:t>
            </a:r>
            <a:r>
              <a:rPr lang="en-US" sz="2000" dirty="0">
                <a:latin typeface="Calibri Light" panose="020F0302020204030204" pitchFamily="34" charset="0"/>
                <a:ea typeface="+mn-lt"/>
                <a:cs typeface="Calibri Light" panose="020F0302020204030204" pitchFamily="34" charset="0"/>
              </a:rPr>
              <a:t>204 variables</a:t>
            </a:r>
          </a:p>
          <a:p>
            <a:pPr marL="285750" indent="-285750" defTabSz="676275" fontAlgn="base">
              <a:lnSpc>
                <a:spcPct val="150000"/>
              </a:lnSpc>
              <a:buClr>
                <a:schemeClr val="tx2"/>
              </a:buClr>
              <a:buSzPct val="120000"/>
              <a:buFont typeface="Arial"/>
              <a:buChar char="•"/>
            </a:pPr>
            <a:r>
              <a:rPr lang="en-US" sz="2000" b="1" dirty="0">
                <a:latin typeface="Calibri Light" panose="020F0302020204030204" pitchFamily="34" charset="0"/>
                <a:ea typeface="+mn-lt"/>
                <a:cs typeface="Calibri Light" panose="020F0302020204030204" pitchFamily="34" charset="0"/>
              </a:rPr>
              <a:t>PRO</a:t>
            </a:r>
            <a:r>
              <a:rPr lang="zh-CN" altLang="en-US" sz="2000" b="1" dirty="0">
                <a:latin typeface="Calibri Light" panose="020F0302020204030204" pitchFamily="34" charset="0"/>
                <a:ea typeface="+mn-lt"/>
                <a:cs typeface="Calibri Light" panose="020F0302020204030204" pitchFamily="34" charset="0"/>
              </a:rPr>
              <a:t> </a:t>
            </a:r>
            <a:r>
              <a:rPr lang="en-US" altLang="zh-CN" sz="2000" b="1" dirty="0">
                <a:latin typeface="Calibri Light" panose="020F0302020204030204" pitchFamily="34" charset="0"/>
                <a:ea typeface="+mn-lt"/>
                <a:cs typeface="Calibri Light" panose="020F0302020204030204" pitchFamily="34" charset="0"/>
              </a:rPr>
              <a:t>predictors</a:t>
            </a:r>
            <a:r>
              <a:rPr lang="en-US" sz="2000" b="1" dirty="0">
                <a:latin typeface="Calibri Light" panose="020F0302020204030204" pitchFamily="34" charset="0"/>
                <a:ea typeface="+mn-lt"/>
                <a:cs typeface="Calibri Light" panose="020F0302020204030204" pitchFamily="34" charset="0"/>
              </a:rPr>
              <a:t>: </a:t>
            </a:r>
            <a:r>
              <a:rPr lang="en-US" sz="2000" dirty="0">
                <a:latin typeface="Calibri Light" panose="020F0302020204030204" pitchFamily="34" charset="0"/>
                <a:ea typeface="+mn-lt"/>
                <a:cs typeface="Calibri Light" panose="020F0302020204030204" pitchFamily="34" charset="0"/>
              </a:rPr>
              <a:t>12 variables</a:t>
            </a:r>
            <a:r>
              <a:rPr lang="zh-CN" altLang="en-US" sz="2000" dirty="0">
                <a:latin typeface="Calibri Light" panose="020F0302020204030204" pitchFamily="34" charset="0"/>
                <a:ea typeface="+mn-lt"/>
                <a:cs typeface="Calibri Light" panose="020F0302020204030204" pitchFamily="34" charset="0"/>
              </a:rPr>
              <a:t> </a:t>
            </a:r>
            <a:r>
              <a:rPr lang="en-US" altLang="zh-CN" sz="2000" dirty="0">
                <a:latin typeface="Calibri Light" panose="020F0302020204030204" pitchFamily="34" charset="0"/>
                <a:ea typeface="+mn-lt"/>
                <a:cs typeface="Calibri Light" panose="020F0302020204030204" pitchFamily="34" charset="0"/>
              </a:rPr>
              <a:t>(55% available)</a:t>
            </a:r>
            <a:endParaRPr lang="en-US" sz="2000" dirty="0">
              <a:latin typeface="Calibri Light" panose="020F0302020204030204" pitchFamily="34" charset="0"/>
              <a:ea typeface="+mn-lt"/>
              <a:cs typeface="Calibri Light" panose="020F0302020204030204" pitchFamily="34" charset="0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8A23577-ED53-D0F5-D4A6-490162F88EE5}"/>
              </a:ext>
            </a:extLst>
          </p:cNvPr>
          <p:cNvSpPr/>
          <p:nvPr/>
        </p:nvSpPr>
        <p:spPr bwMode="auto">
          <a:xfrm>
            <a:off x="4686300" y="3198066"/>
            <a:ext cx="2366010" cy="2406146"/>
          </a:xfrm>
          <a:prstGeom prst="round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AAFFAC1-B27B-9A00-BE05-407B305BEBF0}"/>
                  </a:ext>
                </a:extLst>
              </p:cNvPr>
              <p:cNvSpPr txBox="1"/>
              <p:nvPr/>
            </p:nvSpPr>
            <p:spPr bwMode="auto">
              <a:xfrm>
                <a:off x="4841665" y="3498605"/>
                <a:ext cx="1931619" cy="6309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0" tIns="0" rIns="0" bIns="0" numCol="1" rtlCol="0" anchor="b" anchorCtr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Stage I Model: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Adaptive lasso: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𝑌</m:t>
                    </m:r>
                    <m:r>
                      <a:rPr lang="en-US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~</m:t>
                    </m:r>
                    <m:r>
                      <a:rPr lang="en-US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𝑋</m:t>
                    </m:r>
                  </m:oMath>
                </a14:m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AAFFAC1-B27B-9A00-BE05-407B305BEB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41665" y="3498605"/>
                <a:ext cx="1931619" cy="630942"/>
              </a:xfrm>
              <a:prstGeom prst="rect">
                <a:avLst/>
              </a:prstGeom>
              <a:blipFill>
                <a:blip r:embed="rId3"/>
                <a:stretch>
                  <a:fillRect l="-7190" t="-10000" r="-2614" b="-2600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9AE79CBD-68D6-3ED8-C0A6-EA0A6670FF5C}"/>
              </a:ext>
            </a:extLst>
          </p:cNvPr>
          <p:cNvSpPr/>
          <p:nvPr/>
        </p:nvSpPr>
        <p:spPr bwMode="auto">
          <a:xfrm>
            <a:off x="7491303" y="3188361"/>
            <a:ext cx="4027170" cy="2415850"/>
          </a:xfrm>
          <a:prstGeom prst="round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FFBA185-86D5-5A1B-1C46-8FE9BBED9AA3}"/>
                  </a:ext>
                </a:extLst>
              </p:cNvPr>
              <p:cNvSpPr txBox="1"/>
              <p:nvPr/>
            </p:nvSpPr>
            <p:spPr bwMode="auto">
              <a:xfrm>
                <a:off x="7766707" y="3498605"/>
                <a:ext cx="2067938" cy="64588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0" tIns="0" rIns="0" bIns="0" numCol="1" rtlCol="0" anchor="b" anchorCtr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Stage II Model: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Logistic: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𝑌</m:t>
                    </m:r>
                    <m:r>
                      <a:rPr lang="en-US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~ </m:t>
                    </m:r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en-US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𝑙</m:t>
                        </m:r>
                      </m:e>
                    </m:acc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𝑋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</m:t>
                    </m:r>
                    <m:r>
                      <a:rPr lang="en-US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𝑍</m:t>
                    </m:r>
                  </m:oMath>
                </a14:m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FFBA185-86D5-5A1B-1C46-8FE9BBED9A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766707" y="3498605"/>
                <a:ext cx="2067938" cy="645882"/>
              </a:xfrm>
              <a:prstGeom prst="rect">
                <a:avLst/>
              </a:prstGeom>
              <a:blipFill>
                <a:blip r:embed="rId4"/>
                <a:stretch>
                  <a:fillRect l="-6707" t="-9615" r="-2439" b="-2307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E6B6EBA-7F56-291F-452C-96387C8E7F1E}"/>
                  </a:ext>
                </a:extLst>
              </p:cNvPr>
              <p:cNvSpPr txBox="1"/>
              <p:nvPr/>
            </p:nvSpPr>
            <p:spPr bwMode="auto">
              <a:xfrm>
                <a:off x="7766707" y="4246750"/>
                <a:ext cx="3751766" cy="11375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0" tIns="0" rIns="0" bIns="0" numCol="1" rtlCol="0" anchor="b" anchorCtr="0" compatLnSpc="1">
                <a:prstTxWarp prst="textNoShape">
                  <a:avLst/>
                </a:prstTxWarp>
                <a:spAutoFit/>
              </a:bodyPr>
              <a:lstStyle/>
              <a:p>
                <a:pPr marL="285750" indent="-285750" defTabSz="676275" fontAlgn="base">
                  <a:spcBef>
                    <a:spcPts val="300"/>
                  </a:spcBef>
                  <a:spcAft>
                    <a:spcPts val="150"/>
                  </a:spcAft>
                  <a:buClr>
                    <a:schemeClr val="tx2"/>
                  </a:buClr>
                  <a:buSzPct val="120000"/>
                  <a:buFont typeface="Arial"/>
                  <a:buChar char="•"/>
                </a:pPr>
                <a:r>
                  <a:rPr lang="en-US" sz="1600" b="1" dirty="0">
                    <a:latin typeface="Calibri Light" panose="020F0302020204030204" pitchFamily="34" charset="0"/>
                    <a:ea typeface="+mn-lt"/>
                    <a:cs typeface="Calibri Light" panose="020F0302020204030204" pitchFamily="34" charset="0"/>
                  </a:rPr>
                  <a:t>Two-Stage I:</a:t>
                </a:r>
                <a:r>
                  <a:rPr lang="zh-CN" altLang="en-US" sz="1600" b="1" dirty="0">
                    <a:latin typeface="Calibri Light" panose="020F0302020204030204" pitchFamily="34" charset="0"/>
                    <a:ea typeface="+mn-lt"/>
                    <a:cs typeface="Calibri Light" panose="020F0302020204030204" pitchFamily="34" charset="0"/>
                  </a:rPr>
                  <a:t> </a:t>
                </a:r>
                <a:r>
                  <a:rPr lang="en-US" sz="1600" dirty="0">
                    <a:latin typeface="Calibri Light" panose="020F0302020204030204" pitchFamily="34" charset="0"/>
                    <a:ea typeface="+mn-lt"/>
                    <a:cs typeface="Calibri Light" panose="020F0302020204030204" pitchFamily="34" charset="0"/>
                  </a:rPr>
                  <a:t>Model </a:t>
                </a:r>
                <a14:m>
                  <m:oMath xmlns:m="http://schemas.openxmlformats.org/officeDocument/2006/math">
                    <m:r>
                      <a:rPr lang="en-US" sz="1600" dirty="0">
                        <a:latin typeface="Cambria Math" panose="02040503050406030204" pitchFamily="18" charset="0"/>
                        <a:ea typeface="+mn-lt"/>
                        <a:cs typeface="Calibri Light" panose="020F0302020204030204" pitchFamily="34" charset="0"/>
                      </a:rPr>
                      <m:t>𝑅</m:t>
                    </m:r>
                    <m:r>
                      <a:rPr lang="zh-CN" altLang="en-US" sz="1600" dirty="0">
                        <a:latin typeface="Cambria Math" panose="02040503050406030204" pitchFamily="18" charset="0"/>
                        <a:ea typeface="+mn-lt"/>
                        <a:cs typeface="Calibri Light" panose="020F0302020204030204" pitchFamily="34" charset="0"/>
                      </a:rPr>
                      <m:t> </m:t>
                    </m:r>
                  </m:oMath>
                </a14:m>
                <a:r>
                  <a:rPr lang="en-US" sz="1600" dirty="0">
                    <a:latin typeface="Calibri Light" panose="020F0302020204030204" pitchFamily="34" charset="0"/>
                    <a:ea typeface="+mn-lt"/>
                    <a:cs typeface="Calibri Light" panose="020F0302020204030204" pitchFamily="34" charset="0"/>
                  </a:rPr>
                  <a:t>using</a:t>
                </a:r>
                <a:r>
                  <a:rPr lang="zh-CN" altLang="en-US" sz="1600" dirty="0">
                    <a:latin typeface="Calibri Light" panose="020F0302020204030204" pitchFamily="34" charset="0"/>
                    <a:ea typeface="+mn-lt"/>
                    <a:cs typeface="Calibri Light" panose="020F03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>
                        <a:latin typeface="Cambria Math" panose="02040503050406030204" pitchFamily="18" charset="0"/>
                        <a:ea typeface="+mn-lt"/>
                        <a:cs typeface="Calibri Light" panose="020F0302020204030204" pitchFamily="34" charset="0"/>
                      </a:rPr>
                      <m:t>𝐵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  <a:ea typeface="+mn-lt"/>
                            <a:cs typeface="Calibri Light" panose="020F0302020204030204" pitchFamily="34" charset="0"/>
                          </a:rPr>
                        </m:ctrlPr>
                      </m:dPr>
                      <m:e>
                        <m:r>
                          <a:rPr lang="en-US" sz="1600">
                            <a:latin typeface="Cambria Math" panose="02040503050406030204" pitchFamily="18" charset="0"/>
                            <a:ea typeface="+mn-lt"/>
                            <a:cs typeface="Calibri Light" panose="020F0302020204030204" pitchFamily="34" charset="0"/>
                          </a:rPr>
                          <m:t>∙</m:t>
                        </m:r>
                      </m:e>
                    </m:d>
                    <m:r>
                      <a:rPr lang="zh-CN" altLang="en-US" sz="1600">
                        <a:latin typeface="Cambria Math" panose="02040503050406030204" pitchFamily="18" charset="0"/>
                        <a:ea typeface="+mn-lt"/>
                        <a:cs typeface="Calibri Light" panose="020F0302020204030204" pitchFamily="34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1600">
                        <a:latin typeface="Cambria Math" panose="02040503050406030204" pitchFamily="18" charset="0"/>
                        <a:ea typeface="+mn-lt"/>
                        <a:cs typeface="Calibri Light" panose="020F0302020204030204" pitchFamily="34" charset="0"/>
                      </a:rPr>
                      <m:t>only</m:t>
                    </m:r>
                  </m:oMath>
                </a14:m>
                <a:endParaRPr lang="en-US" sz="1600" dirty="0">
                  <a:latin typeface="Calibri Light" panose="020F0302020204030204" pitchFamily="34" charset="0"/>
                  <a:ea typeface="+mn-lt"/>
                  <a:cs typeface="Calibri Light" panose="020F0302020204030204" pitchFamily="34" charset="0"/>
                </a:endParaRPr>
              </a:p>
              <a:p>
                <a:pPr marL="285750" indent="-285750" defTabSz="676275" fontAlgn="base">
                  <a:spcBef>
                    <a:spcPts val="300"/>
                  </a:spcBef>
                  <a:spcAft>
                    <a:spcPts val="150"/>
                  </a:spcAft>
                  <a:buClr>
                    <a:schemeClr val="tx2"/>
                  </a:buClr>
                  <a:buSzPct val="120000"/>
                  <a:buFont typeface="Arial"/>
                  <a:buChar char="•"/>
                </a:pPr>
                <a:r>
                  <a:rPr lang="en-US" sz="1600" b="1" dirty="0">
                    <a:latin typeface="Calibri Light" panose="020F0302020204030204" pitchFamily="34" charset="0"/>
                    <a:ea typeface="+mn-lt"/>
                    <a:cs typeface="Calibri Light" panose="020F0302020204030204" pitchFamily="34" charset="0"/>
                  </a:rPr>
                  <a:t>Two-Stage II:</a:t>
                </a:r>
                <a:r>
                  <a:rPr lang="zh-CN" altLang="en-US" sz="1600" b="1" dirty="0">
                    <a:latin typeface="Calibri Light" panose="020F0302020204030204" pitchFamily="34" charset="0"/>
                    <a:ea typeface="+mn-lt"/>
                    <a:cs typeface="Calibri Light" panose="020F0302020204030204" pitchFamily="34" charset="0"/>
                  </a:rPr>
                  <a:t> </a:t>
                </a:r>
                <a:r>
                  <a:rPr lang="en-US" sz="1600" dirty="0">
                    <a:latin typeface="Calibri Light" panose="020F0302020204030204" pitchFamily="34" charset="0"/>
                    <a:ea typeface="+mn-lt"/>
                    <a:cs typeface="Calibri Light" panose="020F0302020204030204" pitchFamily="34" charset="0"/>
                  </a:rPr>
                  <a:t>Model </a:t>
                </a:r>
                <a14:m>
                  <m:oMath xmlns:m="http://schemas.openxmlformats.org/officeDocument/2006/math">
                    <m:r>
                      <a:rPr lang="en-US" sz="1600">
                        <a:latin typeface="Cambria Math" panose="02040503050406030204" pitchFamily="18" charset="0"/>
                        <a:ea typeface="+mn-lt"/>
                        <a:cs typeface="Calibri Light" panose="020F0302020204030204" pitchFamily="34" charset="0"/>
                      </a:rPr>
                      <m:t>𝑅</m:t>
                    </m:r>
                  </m:oMath>
                </a14:m>
                <a:r>
                  <a:rPr lang="en-US" sz="1600" dirty="0">
                    <a:latin typeface="Calibri Light" panose="020F0302020204030204" pitchFamily="34" charset="0"/>
                    <a:ea typeface="+mn-lt"/>
                    <a:cs typeface="Calibri Light" panose="020F0302020204030204" pitchFamily="34" charset="0"/>
                  </a:rPr>
                  <a:t> using </a:t>
                </a:r>
                <a14:m>
                  <m:oMath xmlns:m="http://schemas.openxmlformats.org/officeDocument/2006/math">
                    <m:r>
                      <a:rPr lang="en-US" sz="1600">
                        <a:latin typeface="Cambria Math" panose="02040503050406030204" pitchFamily="18" charset="0"/>
                        <a:ea typeface="+mn-lt"/>
                        <a:cs typeface="Calibri Light" panose="020F0302020204030204" pitchFamily="34" charset="0"/>
                      </a:rPr>
                      <m:t>𝐵</m:t>
                    </m:r>
                    <m:d>
                      <m:dPr>
                        <m:ctrlPr>
                          <a:rPr lang="ar-AE" sz="1600" i="1">
                            <a:latin typeface="Cambria Math" panose="02040503050406030204" pitchFamily="18" charset="0"/>
                            <a:ea typeface="+mn-lt"/>
                            <a:cs typeface="Calibri Light" panose="020F0302020204030204" pitchFamily="34" charset="0"/>
                          </a:rPr>
                        </m:ctrlPr>
                      </m:dPr>
                      <m:e>
                        <m:r>
                          <a:rPr lang="ar-AE" sz="1600">
                            <a:latin typeface="Cambria Math" panose="02040503050406030204" pitchFamily="18" charset="0"/>
                            <a:ea typeface="+mn-lt"/>
                            <a:cs typeface="Calibri Light" panose="020F0302020204030204" pitchFamily="34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en-US" sz="1600" dirty="0">
                    <a:latin typeface="Calibri Light" panose="020F0302020204030204" pitchFamily="34" charset="0"/>
                    <a:ea typeface="+mn-lt"/>
                    <a:cs typeface="Calibri Light" panose="020F030202020403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600" i="1">
                            <a:latin typeface="Cambria Math" panose="02040503050406030204" pitchFamily="18" charset="0"/>
                            <a:ea typeface="+mn-lt"/>
                            <a:cs typeface="Calibri Light" panose="020F0302020204030204" pitchFamily="34" charset="0"/>
                          </a:rPr>
                        </m:ctrlPr>
                      </m:sSubPr>
                      <m:e>
                        <m:r>
                          <a:rPr lang="ar-AE" sz="1600">
                            <a:latin typeface="Cambria Math" panose="02040503050406030204" pitchFamily="18" charset="0"/>
                            <a:ea typeface="+mn-lt"/>
                            <a:cs typeface="Calibri Light" panose="020F0302020204030204" pitchFamily="34" charset="0"/>
                          </a:rPr>
                          <m:t>𝑋</m:t>
                        </m:r>
                      </m:e>
                      <m:sub>
                        <m:r>
                          <a:rPr lang="ar-AE" sz="1600">
                            <a:latin typeface="Cambria Math" panose="02040503050406030204" pitchFamily="18" charset="0"/>
                            <a:ea typeface="+mn-lt"/>
                            <a:cs typeface="Calibri Light" panose="020F0302020204030204" pitchFamily="34" charset="0"/>
                          </a:rPr>
                          <m:t>𝑟</m:t>
                        </m:r>
                      </m:sub>
                    </m:sSub>
                  </m:oMath>
                </a14:m>
                <a:endParaRPr lang="en-US" sz="1600" dirty="0">
                  <a:latin typeface="Calibri Light" panose="020F0302020204030204" pitchFamily="34" charset="0"/>
                  <a:ea typeface="+mn-lt"/>
                  <a:cs typeface="Calibri Light" panose="020F0302020204030204" pitchFamily="34" charset="0"/>
                </a:endParaRPr>
              </a:p>
              <a:p>
                <a:pPr marL="285750" indent="-285750" defTabSz="676275" fontAlgn="base">
                  <a:spcBef>
                    <a:spcPts val="300"/>
                  </a:spcBef>
                  <a:spcAft>
                    <a:spcPts val="150"/>
                  </a:spcAft>
                  <a:buClr>
                    <a:schemeClr val="tx2"/>
                  </a:buClr>
                  <a:buSzPct val="120000"/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1600" b="1" i="1">
                            <a:latin typeface="Cambria Math" panose="02040503050406030204" pitchFamily="18" charset="0"/>
                            <a:ea typeface="+mn-lt"/>
                            <a:cs typeface="Calibri Light" panose="020F0302020204030204" pitchFamily="34" charset="0"/>
                          </a:rPr>
                        </m:ctrlPr>
                      </m:sSubPr>
                      <m:e>
                        <m:r>
                          <a:rPr lang="ar-AE" sz="1600" b="1">
                            <a:latin typeface="Cambria Math" panose="02040503050406030204" pitchFamily="18" charset="0"/>
                            <a:ea typeface="+mn-lt"/>
                            <a:cs typeface="Calibri Light" panose="020F0302020204030204" pitchFamily="34" charset="0"/>
                          </a:rPr>
                          <m:t>𝑋</m:t>
                        </m:r>
                      </m:e>
                      <m:sub>
                        <m:r>
                          <a:rPr lang="ar-AE" sz="1600" b="1">
                            <a:latin typeface="Cambria Math" panose="02040503050406030204" pitchFamily="18" charset="0"/>
                            <a:ea typeface="+mn-lt"/>
                            <a:cs typeface="Calibri Light" panose="020F0302020204030204" pitchFamily="34" charset="0"/>
                          </a:rPr>
                          <m:t>𝑟</m:t>
                        </m:r>
                      </m:sub>
                    </m:sSub>
                    <m:r>
                      <a:rPr lang="en-US" sz="1600" b="1">
                        <a:latin typeface="Cambria Math" panose="02040503050406030204" pitchFamily="18" charset="0"/>
                        <a:ea typeface="+mn-lt"/>
                        <a:cs typeface="Calibri Light" panose="020F0302020204030204" pitchFamily="34" charset="0"/>
                      </a:rPr>
                      <m:t>:</m:t>
                    </m:r>
                  </m:oMath>
                </a14:m>
                <a:r>
                  <a:rPr lang="en-US" sz="1600" b="1" dirty="0">
                    <a:latin typeface="Calibri Light" panose="020F0302020204030204" pitchFamily="34" charset="0"/>
                    <a:ea typeface="+mn-lt"/>
                    <a:cs typeface="Calibri Light" panose="020F0302020204030204" pitchFamily="34" charset="0"/>
                  </a:rPr>
                  <a:t> </a:t>
                </a:r>
                <a:r>
                  <a:rPr lang="ar-AE" sz="1600" dirty="0">
                    <a:latin typeface="Calibri Light" panose="020F0302020204030204" pitchFamily="34" charset="0"/>
                    <a:ea typeface="+mn-lt"/>
                    <a:cs typeface="Calibri Light" panose="020F0302020204030204" pitchFamily="34" charset="0"/>
                  </a:rPr>
                  <a:t>10</a:t>
                </a:r>
                <a:r>
                  <a:rPr lang="en-US" sz="1600" dirty="0">
                    <a:latin typeface="Calibri Light" panose="020F0302020204030204" pitchFamily="34" charset="0"/>
                    <a:ea typeface="+mn-lt"/>
                    <a:cs typeface="Calibri Light" panose="020F0302020204030204" pitchFamily="34" charset="0"/>
                  </a:rPr>
                  <a:t> variables with the largest coefficients in the preliminary model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E6B6EBA-7F56-291F-452C-96387C8E7F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766707" y="4246750"/>
                <a:ext cx="3751766" cy="1137556"/>
              </a:xfrm>
              <a:prstGeom prst="rect">
                <a:avLst/>
              </a:prstGeom>
              <a:blipFill>
                <a:blip r:embed="rId5"/>
                <a:stretch>
                  <a:fillRect l="-3704" t="-5556" b="-1111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0155783E-3EB9-A812-9CD3-E12470E7489C}"/>
              </a:ext>
            </a:extLst>
          </p:cNvPr>
          <p:cNvSpPr/>
          <p:nvPr/>
        </p:nvSpPr>
        <p:spPr bwMode="auto">
          <a:xfrm>
            <a:off x="673527" y="3188362"/>
            <a:ext cx="3573780" cy="2415850"/>
          </a:xfrm>
          <a:prstGeom prst="round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81B8119-93A2-74CC-4154-B2542E998093}"/>
                  </a:ext>
                </a:extLst>
              </p:cNvPr>
              <p:cNvSpPr txBox="1"/>
              <p:nvPr/>
            </p:nvSpPr>
            <p:spPr bwMode="auto">
              <a:xfrm>
                <a:off x="933466" y="3498605"/>
                <a:ext cx="3099419" cy="17953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0" tIns="0" rIns="0" bIns="0" numCol="1" rtlCol="0" anchor="b" anchorCtr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Preliminary Model: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Lasso: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US" sz="1600" b="1" dirty="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marL="285750" indent="-285750" defTabSz="676275" fontAlgn="base">
                  <a:spcBef>
                    <a:spcPts val="300"/>
                  </a:spcBef>
                  <a:spcAft>
                    <a:spcPts val="150"/>
                  </a:spcAft>
                  <a:buClr>
                    <a:schemeClr val="tx2"/>
                  </a:buClr>
                  <a:buSzPct val="120000"/>
                  <a:buFont typeface="Arial"/>
                  <a:buChar char="•"/>
                </a:pPr>
                <a:r>
                  <a:rPr lang="en-US" sz="1600" dirty="0">
                    <a:latin typeface="Calibri Light" panose="020F0302020204030204" pitchFamily="34" charset="0"/>
                    <a:ea typeface="+mn-lt"/>
                    <a:cs typeface="Calibri Light" panose="020F0302020204030204" pitchFamily="34" charset="0"/>
                  </a:rPr>
                  <a:t>Several variables were selected, but effects were small</a:t>
                </a:r>
              </a:p>
              <a:p>
                <a:pPr marL="285750" indent="-285750" defTabSz="676275" fontAlgn="base">
                  <a:spcBef>
                    <a:spcPts val="300"/>
                  </a:spcBef>
                  <a:spcAft>
                    <a:spcPts val="150"/>
                  </a:spcAft>
                  <a:buClr>
                    <a:schemeClr val="tx2"/>
                  </a:buClr>
                  <a:buSzPct val="120000"/>
                  <a:buFont typeface="Arial"/>
                  <a:buChar char="•"/>
                </a:pPr>
                <a:r>
                  <a:rPr lang="en-US" sz="1600" dirty="0">
                    <a:latin typeface="Calibri Light" panose="020F0302020204030204" pitchFamily="34" charset="0"/>
                    <a:ea typeface="+mn-lt"/>
                    <a:cs typeface="Calibri Light" panose="020F0302020204030204" pitchFamily="34" charset="0"/>
                  </a:rPr>
                  <a:t>No single EHR variable strongly drove PRO data availability</a:t>
                </a:r>
                <a:endParaRPr lang="en-US" sz="1200" b="1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81B8119-93A2-74CC-4154-B2542E9980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33466" y="3498605"/>
                <a:ext cx="3099419" cy="1795363"/>
              </a:xfrm>
              <a:prstGeom prst="rect">
                <a:avLst/>
              </a:prstGeom>
              <a:blipFill>
                <a:blip r:embed="rId6"/>
                <a:stretch>
                  <a:fillRect l="-4490" t="-2817" b="-704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25532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F2F6C-125E-FB51-1575-E433E22A9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9165C-77A6-09AA-7DE3-7B38358E2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368" y="476873"/>
            <a:ext cx="11074576" cy="430887"/>
          </a:xfrm>
        </p:spPr>
        <p:txBody>
          <a:bodyPr/>
          <a:lstStyle/>
          <a:p>
            <a:r>
              <a:rPr lang="en" sz="2800" dirty="0">
                <a:latin typeface="Calibri"/>
                <a:ea typeface="Calibri Light"/>
                <a:cs typeface="Calibri Light"/>
              </a:rPr>
              <a:t>Real</a:t>
            </a:r>
            <a:r>
              <a:rPr lang="en" sz="2800" dirty="0">
                <a:latin typeface="Calibri"/>
                <a:ea typeface="+mn-lt"/>
                <a:cs typeface="+mn-lt"/>
              </a:rPr>
              <a:t> Data </a:t>
            </a:r>
            <a:r>
              <a:rPr lang="en-US" sz="2800" dirty="0">
                <a:latin typeface="Calibri"/>
                <a:ea typeface="+mn-lt"/>
                <a:cs typeface="+mn-lt"/>
              </a:rPr>
              <a:t>: Oncology Risk Prediction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EACCD654-1F07-B9E6-19A1-585535D02DB5}"/>
              </a:ext>
            </a:extLst>
          </p:cNvPr>
          <p:cNvSpPr/>
          <p:nvPr/>
        </p:nvSpPr>
        <p:spPr bwMode="auto">
          <a:xfrm>
            <a:off x="605368" y="1110755"/>
            <a:ext cx="3303692" cy="1735315"/>
          </a:xfrm>
          <a:prstGeom prst="round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9DCC9F8-F0EB-0A13-08D4-788D7B4B050D}"/>
                  </a:ext>
                </a:extLst>
              </p:cNvPr>
              <p:cNvSpPr txBox="1"/>
              <p:nvPr/>
            </p:nvSpPr>
            <p:spPr bwMode="auto">
              <a:xfrm>
                <a:off x="965514" y="1175623"/>
                <a:ext cx="2583400" cy="163076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0" tIns="0" rIns="0" bIns="0" numCol="1" rtlCol="0" anchor="b" anchorCtr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Two-Stage I:</a:t>
                </a:r>
              </a:p>
              <a:p>
                <a:pPr marL="342900" indent="-342900">
                  <a:spcBef>
                    <a:spcPts val="300"/>
                  </a:spcBef>
                  <a:buAutoNum type="arabicParenBoth"/>
                </a:pP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Adaptive lasso: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𝑌</m:t>
                    </m:r>
                    <m:r>
                      <a:rPr lang="en-US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~</m:t>
                    </m:r>
                    <m:r>
                      <a:rPr lang="en-US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𝑋</m:t>
                    </m:r>
                  </m:oMath>
                </a14:m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indent="-342900">
                  <a:spcBef>
                    <a:spcPts val="300"/>
                  </a:spcBef>
                  <a:buFontTx/>
                  <a:buAutoNum type="arabicParenBoth"/>
                </a:pP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Logistic: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𝑌</m:t>
                    </m:r>
                    <m:r>
                      <a:rPr lang="en-US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~ </m:t>
                    </m:r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en-US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𝑙</m:t>
                        </m:r>
                      </m:e>
                    </m:acc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𝑋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</m:t>
                    </m:r>
                    <m:r>
                      <a:rPr lang="en-US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𝑍</m:t>
                    </m:r>
                  </m:oMath>
                </a14:m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857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Calibri Light" panose="020F0302020204030204" pitchFamily="34" charset="0"/>
                    <a:ea typeface="+mn-lt"/>
                    <a:cs typeface="Calibri Light" panose="020F0302020204030204" pitchFamily="34" charset="0"/>
                  </a:rPr>
                  <a:t>Model </a:t>
                </a:r>
                <a14:m>
                  <m:oMath xmlns:m="http://schemas.openxmlformats.org/officeDocument/2006/math">
                    <m:r>
                      <a:rPr lang="en-US" dirty="0">
                        <a:latin typeface="Cambria Math" panose="02040503050406030204" pitchFamily="18" charset="0"/>
                        <a:ea typeface="+mn-lt"/>
                        <a:cs typeface="Calibri Light" panose="020F0302020204030204" pitchFamily="34" charset="0"/>
                      </a:rPr>
                      <m:t>𝑅</m:t>
                    </m:r>
                    <m:r>
                      <a:rPr lang="zh-CN" altLang="en-US" dirty="0">
                        <a:latin typeface="Cambria Math" panose="02040503050406030204" pitchFamily="18" charset="0"/>
                        <a:ea typeface="+mn-lt"/>
                        <a:cs typeface="Calibri Light" panose="020F0302020204030204" pitchFamily="34" charset="0"/>
                      </a:rPr>
                      <m:t> </m:t>
                    </m:r>
                  </m:oMath>
                </a14:m>
                <a:r>
                  <a:rPr lang="en-US" dirty="0">
                    <a:latin typeface="Calibri Light" panose="020F0302020204030204" pitchFamily="34" charset="0"/>
                    <a:ea typeface="+mn-lt"/>
                    <a:cs typeface="Calibri Light" panose="020F0302020204030204" pitchFamily="34" charset="0"/>
                  </a:rPr>
                  <a:t>using</a:t>
                </a:r>
                <a:r>
                  <a:rPr lang="zh-CN" altLang="en-US" dirty="0">
                    <a:latin typeface="Calibri Light" panose="020F0302020204030204" pitchFamily="34" charset="0"/>
                    <a:ea typeface="+mn-lt"/>
                    <a:cs typeface="Calibri Light" panose="020F03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  <a:ea typeface="+mn-lt"/>
                        <a:cs typeface="Calibri Light" panose="020F0302020204030204" pitchFamily="34" charset="0"/>
                      </a:rPr>
                      <m:t>𝐵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+mn-lt"/>
                            <a:cs typeface="Calibri Light" panose="020F0302020204030204" pitchFamily="34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  <a:ea typeface="+mn-lt"/>
                            <a:cs typeface="Calibri Light" panose="020F0302020204030204" pitchFamily="34" charset="0"/>
                          </a:rPr>
                          <m:t>∙</m:t>
                        </m:r>
                      </m:e>
                    </m:d>
                    <m:r>
                      <a:rPr lang="zh-CN" altLang="en-US">
                        <a:latin typeface="Cambria Math" panose="02040503050406030204" pitchFamily="18" charset="0"/>
                        <a:ea typeface="+mn-lt"/>
                        <a:cs typeface="Calibri Light" panose="020F0302020204030204" pitchFamily="34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  <a:ea typeface="+mn-lt"/>
                        <a:cs typeface="Calibri Light" panose="020F0302020204030204" pitchFamily="34" charset="0"/>
                      </a:rPr>
                      <m:t>only</m:t>
                    </m:r>
                  </m:oMath>
                </a14:m>
                <a:endParaRPr lang="en-US" altLang="zh-CN" dirty="0">
                  <a:latin typeface="Calibri Light" panose="020F0302020204030204" pitchFamily="34" charset="0"/>
                  <a:ea typeface="+mn-lt"/>
                  <a:cs typeface="Calibri Light" panose="020F0302020204030204" pitchFamily="34" charset="0"/>
                </a:endParaRPr>
              </a:p>
              <a:p>
                <a:pPr>
                  <a:spcAft>
                    <a:spcPts val="600"/>
                  </a:spcAft>
                </a:pPr>
                <a:r>
                  <a:rPr lang="en-US" dirty="0">
                    <a:solidFill>
                      <a:srgbClr val="C00000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Use our proposed method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9DCC9F8-F0EB-0A13-08D4-788D7B4B05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65514" y="1175623"/>
                <a:ext cx="2583400" cy="1630767"/>
              </a:xfrm>
              <a:prstGeom prst="rect">
                <a:avLst/>
              </a:prstGeom>
              <a:blipFill>
                <a:blip r:embed="rId3"/>
                <a:stretch>
                  <a:fillRect l="-5366" t="-3876" r="-3415" b="-852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1B8A633-7B6A-2613-0CDE-C92AE9E1819D}"/>
                  </a:ext>
                </a:extLst>
              </p:cNvPr>
              <p:cNvSpPr txBox="1"/>
              <p:nvPr/>
            </p:nvSpPr>
            <p:spPr bwMode="auto">
              <a:xfrm>
                <a:off x="8016899" y="1201499"/>
                <a:ext cx="3432572" cy="15538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0" tIns="0" rIns="0" bIns="0" numCol="1" rtlCol="0" anchor="b" anchorCtr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Two-stage CC:</a:t>
                </a:r>
              </a:p>
              <a:p>
                <a:pPr marL="342900" indent="-342900">
                  <a:spcBef>
                    <a:spcPts val="300"/>
                  </a:spcBef>
                  <a:buAutoNum type="arabicParenBoth"/>
                </a:pP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Adaptive lasso: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𝑌</m:t>
                    </m:r>
                    <m:r>
                      <a:rPr lang="en-US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~</m:t>
                    </m:r>
                    <m:r>
                      <a:rPr lang="en-US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𝑋</m:t>
                    </m:r>
                  </m:oMath>
                </a14:m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indent="-342900">
                  <a:spcBef>
                    <a:spcPts val="300"/>
                  </a:spcBef>
                  <a:buFontTx/>
                  <a:buAutoNum type="arabicParenBoth"/>
                </a:pP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Logistic: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𝑌</m:t>
                    </m:r>
                    <m:r>
                      <a:rPr lang="en-US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~ </m:t>
                    </m:r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en-US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𝑙</m:t>
                        </m:r>
                      </m:e>
                    </m:acc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𝑋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</m:t>
                    </m:r>
                    <m:r>
                      <a:rPr lang="en-US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𝑍</m:t>
                    </m:r>
                  </m:oMath>
                </a14:m>
                <a:endParaRPr lang="en-US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dirty="0">
                    <a:solidFill>
                      <a:srgbClr val="C00000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Only use patients with both EHR and PRO data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1B8A633-7B6A-2613-0CDE-C92AE9E181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016899" y="1201499"/>
                <a:ext cx="3432572" cy="1553823"/>
              </a:xfrm>
              <a:prstGeom prst="rect">
                <a:avLst/>
              </a:prstGeom>
              <a:blipFill>
                <a:blip r:embed="rId4"/>
                <a:stretch>
                  <a:fillRect l="-4059" t="-3252" r="-3321" b="-975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DFE95DF1-A44D-5B69-0373-67D96F5D0A5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87460195"/>
                  </p:ext>
                </p:extLst>
              </p:nvPr>
            </p:nvGraphicFramePr>
            <p:xfrm>
              <a:off x="605368" y="3560467"/>
              <a:ext cx="7209132" cy="2250979"/>
            </p:xfrm>
            <a:graphic>
              <a:graphicData uri="http://schemas.openxmlformats.org/drawingml/2006/table">
                <a:tbl>
                  <a:tblPr firstRow="1" bandRow="1">
                    <a:tableStyleId>{1FECB4D8-DB02-4DC6-A0A2-4F2EBAE1DC90}</a:tableStyleId>
                  </a:tblPr>
                  <a:tblGrid>
                    <a:gridCol w="1806362">
                      <a:extLst>
                        <a:ext uri="{9D8B030D-6E8A-4147-A177-3AD203B41FA5}">
                          <a16:colId xmlns:a16="http://schemas.microsoft.com/office/drawing/2014/main" val="1644812885"/>
                        </a:ext>
                      </a:extLst>
                    </a:gridCol>
                    <a:gridCol w="1817370">
                      <a:extLst>
                        <a:ext uri="{9D8B030D-6E8A-4147-A177-3AD203B41FA5}">
                          <a16:colId xmlns:a16="http://schemas.microsoft.com/office/drawing/2014/main" val="80918277"/>
                        </a:ext>
                      </a:extLst>
                    </a:gridCol>
                    <a:gridCol w="1794510">
                      <a:extLst>
                        <a:ext uri="{9D8B030D-6E8A-4147-A177-3AD203B41FA5}">
                          <a16:colId xmlns:a16="http://schemas.microsoft.com/office/drawing/2014/main" val="2213575664"/>
                        </a:ext>
                      </a:extLst>
                    </a:gridCol>
                    <a:gridCol w="1790890">
                      <a:extLst>
                        <a:ext uri="{9D8B030D-6E8A-4147-A177-3AD203B41FA5}">
                          <a16:colId xmlns:a16="http://schemas.microsoft.com/office/drawing/2014/main" val="628338330"/>
                        </a:ext>
                      </a:extLst>
                    </a:gridCol>
                  </a:tblGrid>
                  <a:tr h="277576">
                    <a:tc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Two-Stage I</a:t>
                          </a: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Two-Stage II</a:t>
                          </a: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Two-Stage CC</a:t>
                          </a: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6887601"/>
                      </a:ext>
                    </a:extLst>
                  </a:tr>
                  <a:tr h="2815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Intercept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-0.695 (-1.624, 0.235)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-0.675 (-1.601, 0.252)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-0.115 (-1.050, 0.820)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03789782"/>
                      </a:ext>
                    </a:extLst>
                  </a:tr>
                  <a:tr h="2815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en-US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200" b="0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</m:acc>
                                <m:r>
                                  <a:rPr lang="en-US" sz="1200" b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200" b="0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sz="1200" b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0.713 (0.643, 0.782)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0.707 (0.636, 0.779)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1.000 (0.857, 1.143)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7664793"/>
                      </a:ext>
                    </a:extLst>
                  </a:tr>
                  <a:tr h="2815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Performance Status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0.379 (0.208, 0.550)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0.383 (0.213, 0.553)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0.306 (0.126, 0.487)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90232753"/>
                      </a:ext>
                    </a:extLst>
                  </a:tr>
                  <a:tr h="2815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Nausea Frequency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0.119 (-0.021, 0.259)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0.117 (-0.024, 0.258)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0.128 (-0.020, 0.276)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41082185"/>
                      </a:ext>
                    </a:extLst>
                  </a:tr>
                  <a:tr h="2815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Numbness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-0.194 (-0.342, -0.046)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-0.197 (-0.345, -0.050)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-0.185 (-0.341, -0.029)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90298836"/>
                      </a:ext>
                    </a:extLst>
                  </a:tr>
                  <a:tr h="2815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Quality of Life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0.216 (0.045, 0.388)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0.221 (0.051, 0.392)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0.154 (-0.020, 0.329)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08635873"/>
                      </a:ext>
                    </a:extLst>
                  </a:tr>
                  <a:tr h="2815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AUC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0.820 (0.796, 0.845)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0.821 (0.796, 0.846)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0.867 (0.818, 0.915)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061558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DFE95DF1-A44D-5B69-0373-67D96F5D0A5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87460195"/>
                  </p:ext>
                </p:extLst>
              </p:nvPr>
            </p:nvGraphicFramePr>
            <p:xfrm>
              <a:off x="605368" y="3560467"/>
              <a:ext cx="7209132" cy="2250979"/>
            </p:xfrm>
            <a:graphic>
              <a:graphicData uri="http://schemas.openxmlformats.org/drawingml/2006/table">
                <a:tbl>
                  <a:tblPr firstRow="1" bandRow="1">
                    <a:tableStyleId>{1FECB4D8-DB02-4DC6-A0A2-4F2EBAE1DC90}</a:tableStyleId>
                  </a:tblPr>
                  <a:tblGrid>
                    <a:gridCol w="1806362">
                      <a:extLst>
                        <a:ext uri="{9D8B030D-6E8A-4147-A177-3AD203B41FA5}">
                          <a16:colId xmlns:a16="http://schemas.microsoft.com/office/drawing/2014/main" val="1644812885"/>
                        </a:ext>
                      </a:extLst>
                    </a:gridCol>
                    <a:gridCol w="1817370">
                      <a:extLst>
                        <a:ext uri="{9D8B030D-6E8A-4147-A177-3AD203B41FA5}">
                          <a16:colId xmlns:a16="http://schemas.microsoft.com/office/drawing/2014/main" val="80918277"/>
                        </a:ext>
                      </a:extLst>
                    </a:gridCol>
                    <a:gridCol w="1794510">
                      <a:extLst>
                        <a:ext uri="{9D8B030D-6E8A-4147-A177-3AD203B41FA5}">
                          <a16:colId xmlns:a16="http://schemas.microsoft.com/office/drawing/2014/main" val="2213575664"/>
                        </a:ext>
                      </a:extLst>
                    </a:gridCol>
                    <a:gridCol w="1790890">
                      <a:extLst>
                        <a:ext uri="{9D8B030D-6E8A-4147-A177-3AD203B41FA5}">
                          <a16:colId xmlns:a16="http://schemas.microsoft.com/office/drawing/2014/main" val="628338330"/>
                        </a:ext>
                      </a:extLst>
                    </a:gridCol>
                  </a:tblGrid>
                  <a:tr h="277576">
                    <a:tc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Two-Stage I</a:t>
                          </a: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Two-Stage II</a:t>
                          </a: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Two-Stage CC</a:t>
                          </a: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6887601"/>
                      </a:ext>
                    </a:extLst>
                  </a:tr>
                  <a:tr h="2815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Intercept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-0.695 (-1.624, 0.235)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-0.675 (-1.601, 0.252)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-0.115 (-1.050, 0.820)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03789782"/>
                      </a:ext>
                    </a:extLst>
                  </a:tr>
                  <a:tr h="28416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t="-195652" r="-298601" b="-5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0.713 (0.643, 0.782)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0.707 (0.636, 0.779)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1.000 (0.857, 1.143)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7664793"/>
                      </a:ext>
                    </a:extLst>
                  </a:tr>
                  <a:tr h="2815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Performance Status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0.379 (0.208, 0.550)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0.383 (0.213, 0.553)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0.306 (0.126, 0.487)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90232753"/>
                      </a:ext>
                    </a:extLst>
                  </a:tr>
                  <a:tr h="2815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Nausea Frequency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0.119 (-0.021, 0.259)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0.117 (-0.024, 0.258)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0.128 (-0.020, 0.276)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41082185"/>
                      </a:ext>
                    </a:extLst>
                  </a:tr>
                  <a:tr h="2815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Numbness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-0.194 (-0.342, -0.046)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-0.197 (-0.345, -0.050)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-0.185 (-0.341, -0.029)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90298836"/>
                      </a:ext>
                    </a:extLst>
                  </a:tr>
                  <a:tr h="2815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Quality of Life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0.216 (0.045, 0.388)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0.221 (0.051, 0.392)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0.154 (-0.020, 0.329)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08635873"/>
                      </a:ext>
                    </a:extLst>
                  </a:tr>
                  <a:tr h="2815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AUC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0.820 (0.796, 0.845)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0.821 (0.796, 0.846)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0.867 (0.818, 0.915)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0615580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9C7474A-A0AB-2C2D-AB02-2FB70E7E6A48}"/>
              </a:ext>
            </a:extLst>
          </p:cNvPr>
          <p:cNvSpPr/>
          <p:nvPr/>
        </p:nvSpPr>
        <p:spPr bwMode="auto">
          <a:xfrm>
            <a:off x="4159156" y="1110755"/>
            <a:ext cx="3303692" cy="1735315"/>
          </a:xfrm>
          <a:prstGeom prst="round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202FC63-9241-6654-0EF1-BAE550DE915B}"/>
                  </a:ext>
                </a:extLst>
              </p:cNvPr>
              <p:cNvSpPr txBox="1"/>
              <p:nvPr/>
            </p:nvSpPr>
            <p:spPr bwMode="auto">
              <a:xfrm>
                <a:off x="4408727" y="1163026"/>
                <a:ext cx="2804550" cy="163076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0" tIns="0" rIns="0" bIns="0" numCol="1" rtlCol="0" anchor="b" anchorCtr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Two-Stage II:</a:t>
                </a:r>
              </a:p>
              <a:p>
                <a:pPr marL="342900" indent="-342900">
                  <a:spcBef>
                    <a:spcPts val="300"/>
                  </a:spcBef>
                  <a:buAutoNum type="arabicParenBoth"/>
                </a:pP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Adaptive lasso: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𝑌</m:t>
                    </m:r>
                    <m:r>
                      <a:rPr lang="en-US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~</m:t>
                    </m:r>
                    <m:r>
                      <a:rPr lang="en-US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𝑋</m:t>
                    </m:r>
                  </m:oMath>
                </a14:m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indent="-342900">
                  <a:spcBef>
                    <a:spcPts val="300"/>
                  </a:spcBef>
                  <a:buFontTx/>
                  <a:buAutoNum type="arabicParenBoth"/>
                </a:pP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Logistic: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𝑌</m:t>
                    </m:r>
                    <m:r>
                      <a:rPr lang="en-US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~ </m:t>
                    </m:r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en-US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𝑙</m:t>
                        </m:r>
                      </m:e>
                    </m:acc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𝑋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</m:t>
                    </m:r>
                    <m:r>
                      <a:rPr lang="en-US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𝑍</m:t>
                    </m:r>
                  </m:oMath>
                </a14:m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857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Calibri Light" panose="020F0302020204030204" pitchFamily="34" charset="0"/>
                    <a:ea typeface="+mn-lt"/>
                    <a:cs typeface="Calibri Light" panose="020F0302020204030204" pitchFamily="34" charset="0"/>
                  </a:rPr>
                  <a:t>Model </a:t>
                </a:r>
                <a14:m>
                  <m:oMath xmlns:m="http://schemas.openxmlformats.org/officeDocument/2006/math">
                    <m:r>
                      <a:rPr lang="en-US" dirty="0">
                        <a:latin typeface="Cambria Math" panose="02040503050406030204" pitchFamily="18" charset="0"/>
                        <a:ea typeface="+mn-lt"/>
                        <a:cs typeface="Calibri Light" panose="020F0302020204030204" pitchFamily="34" charset="0"/>
                      </a:rPr>
                      <m:t>𝑅</m:t>
                    </m:r>
                    <m:r>
                      <a:rPr lang="zh-CN" altLang="en-US" dirty="0">
                        <a:latin typeface="Cambria Math" panose="02040503050406030204" pitchFamily="18" charset="0"/>
                        <a:ea typeface="+mn-lt"/>
                        <a:cs typeface="Calibri Light" panose="020F0302020204030204" pitchFamily="34" charset="0"/>
                      </a:rPr>
                      <m:t> </m:t>
                    </m:r>
                  </m:oMath>
                </a14:m>
                <a:r>
                  <a:rPr lang="en-US" dirty="0">
                    <a:latin typeface="Calibri Light" panose="020F0302020204030204" pitchFamily="34" charset="0"/>
                    <a:ea typeface="+mn-lt"/>
                    <a:cs typeface="Calibri Light" panose="020F0302020204030204" pitchFamily="34" charset="0"/>
                  </a:rPr>
                  <a:t>using</a:t>
                </a:r>
                <a:r>
                  <a:rPr lang="zh-CN" altLang="en-US" dirty="0">
                    <a:latin typeface="Calibri Light" panose="020F0302020204030204" pitchFamily="34" charset="0"/>
                    <a:ea typeface="+mn-lt"/>
                    <a:cs typeface="Calibri Light" panose="020F03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  <a:ea typeface="+mn-lt"/>
                        <a:cs typeface="Calibri Light" panose="020F0302020204030204" pitchFamily="34" charset="0"/>
                      </a:rPr>
                      <m:t>𝐵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+mn-lt"/>
                            <a:cs typeface="Calibri Light" panose="020F0302020204030204" pitchFamily="34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  <a:ea typeface="+mn-lt"/>
                            <a:cs typeface="Calibri Light" panose="020F0302020204030204" pitchFamily="34" charset="0"/>
                          </a:rPr>
                          <m:t>∙</m:t>
                        </m:r>
                      </m:e>
                    </m:d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  <a:ea typeface="+mn-lt"/>
                        <a:cs typeface="Calibri Light" panose="020F030202020403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dirty="0">
                        <a:latin typeface="Calibri Light" panose="020F0302020204030204" pitchFamily="34" charset="0"/>
                        <a:ea typeface="+mn-lt"/>
                        <a:cs typeface="Calibri Light" panose="020F0302020204030204" pitchFamily="34" charset="0"/>
                      </a:rPr>
                      <m:t>and</m:t>
                    </m:r>
                    <m:r>
                      <m:rPr>
                        <m:nor/>
                      </m:rPr>
                      <a:rPr lang="en-US" dirty="0">
                        <a:latin typeface="Calibri Light" panose="020F0302020204030204" pitchFamily="34" charset="0"/>
                        <a:ea typeface="+mn-lt"/>
                        <a:cs typeface="Calibri Light" panose="020F0302020204030204" pitchFamily="34" charset="0"/>
                      </a:rPr>
                      <m:t> 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  <a:ea typeface="+mn-lt"/>
                            <a:cs typeface="Calibri Light" panose="020F0302020204030204" pitchFamily="34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  <a:ea typeface="+mn-lt"/>
                            <a:cs typeface="Calibri Light" panose="020F0302020204030204" pitchFamily="34" charset="0"/>
                          </a:rPr>
                          <m:t>𝑋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  <a:ea typeface="+mn-lt"/>
                            <a:cs typeface="Calibri Light" panose="020F0302020204030204" pitchFamily="34" charset="0"/>
                          </a:rPr>
                          <m:t>𝑟</m:t>
                        </m:r>
                      </m:sub>
                    </m:sSub>
                  </m:oMath>
                </a14:m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spcAft>
                    <a:spcPts val="600"/>
                  </a:spcAft>
                </a:pPr>
                <a:r>
                  <a:rPr lang="en-US" dirty="0">
                    <a:solidFill>
                      <a:srgbClr val="C00000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Use our proposed method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202FC63-9241-6654-0EF1-BAE550DE91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08727" y="1163026"/>
                <a:ext cx="2804550" cy="1630767"/>
              </a:xfrm>
              <a:prstGeom prst="rect">
                <a:avLst/>
              </a:prstGeom>
              <a:blipFill>
                <a:blip r:embed="rId6"/>
                <a:stretch>
                  <a:fillRect l="-4977" t="-3876" b="-852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1F4629D-1CC0-D43B-3E7B-B25B5ADC7521}"/>
              </a:ext>
            </a:extLst>
          </p:cNvPr>
          <p:cNvSpPr/>
          <p:nvPr/>
        </p:nvSpPr>
        <p:spPr bwMode="auto">
          <a:xfrm>
            <a:off x="7712418" y="1110754"/>
            <a:ext cx="3874213" cy="1735315"/>
          </a:xfrm>
          <a:prstGeom prst="round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E2ECAE-C8A3-89D0-6714-948E3A9A5DA2}"/>
              </a:ext>
            </a:extLst>
          </p:cNvPr>
          <p:cNvSpPr txBox="1"/>
          <p:nvPr/>
        </p:nvSpPr>
        <p:spPr bwMode="auto">
          <a:xfrm>
            <a:off x="533176" y="3210007"/>
            <a:ext cx="836961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444444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Table 2. </a:t>
            </a:r>
            <a:r>
              <a:rPr lang="en-US" sz="1600" dirty="0">
                <a:solidFill>
                  <a:srgbClr val="444444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Coefficient and AUC estimates for three models predicting short-term mortality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4EE5343-04AD-3FB9-7ADC-7B057ED1C053}"/>
                  </a:ext>
                </a:extLst>
              </p:cNvPr>
              <p:cNvSpPr txBox="1"/>
              <p:nvPr/>
            </p:nvSpPr>
            <p:spPr bwMode="auto">
              <a:xfrm>
                <a:off x="8016899" y="3625881"/>
                <a:ext cx="4034790" cy="20306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0" tIns="0" rIns="0" bIns="0" numCol="1" rtlCol="0" anchor="b" anchorCtr="0" compatLnSpc="1">
                <a:prstTxWarp prst="textNoShape">
                  <a:avLst/>
                </a:prstTxWarp>
                <a:spAutoFit/>
              </a:bodyPr>
              <a:lstStyle/>
              <a:p>
                <a:pPr defTabSz="676275" fontAlgn="base">
                  <a:lnSpc>
                    <a:spcPct val="114000"/>
                  </a:lnSpc>
                  <a:buClr>
                    <a:schemeClr val="tx2"/>
                  </a:buClr>
                  <a:buSzPct val="120000"/>
                </a:pPr>
                <a:r>
                  <a:rPr lang="en-US" b="1" dirty="0">
                    <a:latin typeface="Calibri Light" panose="020F0302020204030204" pitchFamily="34" charset="0"/>
                    <a:ea typeface="+mn-lt"/>
                    <a:cs typeface="Calibri Light" panose="020F0302020204030204" pitchFamily="34" charset="0"/>
                  </a:rPr>
                  <a:t>Two-stage</a:t>
                </a:r>
                <a:r>
                  <a:rPr lang="zh-CN" altLang="en-US" b="1" dirty="0">
                    <a:latin typeface="Calibri Light" panose="020F0302020204030204" pitchFamily="34" charset="0"/>
                    <a:ea typeface="+mn-lt"/>
                    <a:cs typeface="Calibri Light" panose="020F0302020204030204" pitchFamily="34" charset="0"/>
                  </a:rPr>
                  <a:t> </a:t>
                </a:r>
                <a:r>
                  <a:rPr lang="en-US" altLang="zh-CN" b="1" dirty="0">
                    <a:latin typeface="Calibri Light" panose="020F0302020204030204" pitchFamily="34" charset="0"/>
                    <a:ea typeface="+mn-lt"/>
                    <a:cs typeface="Calibri Light" panose="020F0302020204030204" pitchFamily="34" charset="0"/>
                  </a:rPr>
                  <a:t>I/II</a:t>
                </a:r>
                <a:r>
                  <a:rPr lang="zh-CN" altLang="en-US" b="1" dirty="0">
                    <a:latin typeface="Calibri Light" panose="020F0302020204030204" pitchFamily="34" charset="0"/>
                    <a:ea typeface="+mn-lt"/>
                    <a:cs typeface="Calibri Light" panose="020F0302020204030204" pitchFamily="34" charset="0"/>
                  </a:rPr>
                  <a:t> </a:t>
                </a:r>
                <a:r>
                  <a:rPr lang="en-US" b="1" dirty="0">
                    <a:latin typeface="Calibri Light" panose="020F0302020204030204" pitchFamily="34" charset="0"/>
                    <a:ea typeface="+mn-lt"/>
                    <a:cs typeface="Calibri Light" panose="020F0302020204030204" pitchFamily="34" charset="0"/>
                  </a:rPr>
                  <a:t>differed from Two-Stage CC</a:t>
                </a:r>
              </a:p>
              <a:p>
                <a:pPr marL="285750" indent="-285750" defTabSz="676275" fontAlgn="base">
                  <a:lnSpc>
                    <a:spcPct val="114000"/>
                  </a:lnSpc>
                  <a:buClr>
                    <a:schemeClr val="tx2"/>
                  </a:buClr>
                  <a:buSzPct val="120000"/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Distributional differences in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𝑋</m:t>
                    </m:r>
                  </m:oMath>
                </a14:m>
                <a:r>
                  <a:rPr lang="zh-CN" altLang="en-US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</a:t>
                </a:r>
                <a:r>
                  <a:rPr lang="en-US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between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𝑅</m:t>
                    </m:r>
                    <m:r>
                      <a:rPr lang="en-US"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=1</m:t>
                    </m:r>
                  </m:oMath>
                </a14:m>
                <a:r>
                  <a:rPr lang="zh-CN" altLang="en-US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</a:t>
                </a:r>
                <a:r>
                  <a:rPr lang="en-US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𝑅</m:t>
                    </m:r>
                    <m:r>
                      <a:rPr lang="en-US"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=0</m:t>
                    </m:r>
                  </m:oMath>
                </a14:m>
                <a:r>
                  <a:rPr lang="zh-CN" altLang="en-US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</a:t>
                </a:r>
                <a:r>
                  <a:rPr lang="en-US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groups</a:t>
                </a:r>
                <a:endParaRPr lang="en-US" b="1" dirty="0">
                  <a:latin typeface="Calibri Light" panose="020F0302020204030204" pitchFamily="34" charset="0"/>
                  <a:ea typeface="+mn-lt"/>
                  <a:cs typeface="Calibri Light" panose="020F0302020204030204" pitchFamily="34" charset="0"/>
                </a:endParaRPr>
              </a:p>
              <a:p>
                <a:pPr defTabSz="676275" fontAlgn="base">
                  <a:lnSpc>
                    <a:spcPct val="114000"/>
                  </a:lnSpc>
                  <a:spcBef>
                    <a:spcPts val="1200"/>
                  </a:spcBef>
                  <a:buClr>
                    <a:schemeClr val="tx2"/>
                  </a:buClr>
                  <a:buSzPct val="120000"/>
                </a:pPr>
                <a:r>
                  <a:rPr lang="en-US" b="1" dirty="0">
                    <a:latin typeface="Calibri Light" panose="020F0302020204030204" pitchFamily="34" charset="0"/>
                    <a:ea typeface="+mn-lt"/>
                    <a:cs typeface="Calibri Light" panose="020F0302020204030204" pitchFamily="34" charset="0"/>
                  </a:rPr>
                  <a:t>Two-Stage I</a:t>
                </a:r>
                <a:r>
                  <a:rPr lang="en-US" altLang="zh-CN" b="1" dirty="0">
                    <a:latin typeface="Calibri Light" panose="020F0302020204030204" pitchFamily="34" charset="0"/>
                    <a:ea typeface="+mn-lt"/>
                    <a:cs typeface="Calibri Light" panose="020F0302020204030204" pitchFamily="34" charset="0"/>
                  </a:rPr>
                  <a:t>/</a:t>
                </a:r>
                <a:r>
                  <a:rPr lang="en-US" b="1" dirty="0">
                    <a:latin typeface="Calibri Light" panose="020F0302020204030204" pitchFamily="34" charset="0"/>
                    <a:ea typeface="+mn-lt"/>
                    <a:cs typeface="Calibri Light" panose="020F0302020204030204" pitchFamily="34" charset="0"/>
                  </a:rPr>
                  <a:t>II gave nearly identical estimates</a:t>
                </a:r>
              </a:p>
              <a:p>
                <a:pPr marL="285750" indent="-285750" defTabSz="676275" fontAlgn="base">
                  <a:lnSpc>
                    <a:spcPct val="114000"/>
                  </a:lnSpc>
                  <a:buClr>
                    <a:schemeClr val="tx2"/>
                  </a:buClr>
                  <a:buSzPct val="120000"/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The B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</m:e>
                    </m:d>
                  </m:oMath>
                </a14:m>
                <a:r>
                  <a:rPr lang="zh-CN" altLang="en-US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</a:t>
                </a:r>
                <a:r>
                  <a:rPr lang="en-US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flexibly accounted for</a:t>
                </a:r>
                <a:r>
                  <a:rPr lang="zh-CN" altLang="en-US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</a:t>
                </a:r>
                <a:r>
                  <a:rPr lang="en-US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phase II data availability</a:t>
                </a:r>
                <a:endParaRPr lang="en-US" dirty="0">
                  <a:latin typeface="Calibri Light" panose="020F0302020204030204" pitchFamily="34" charset="0"/>
                  <a:ea typeface="+mn-lt"/>
                  <a:cs typeface="Calibri Light" panose="020F0302020204030204" pitchFamily="34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4EE5343-04AD-3FB9-7ADC-7B057ED1C0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016899" y="3625881"/>
                <a:ext cx="4034790" cy="2030620"/>
              </a:xfrm>
              <a:prstGeom prst="rect">
                <a:avLst/>
              </a:prstGeom>
              <a:blipFill>
                <a:blip r:embed="rId7"/>
                <a:stretch>
                  <a:fillRect l="-3774" t="-1863" r="-3774" b="-745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54436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714C4-D1C3-C647-EE76-E3D2984ED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615" y="1089898"/>
            <a:ext cx="6927112" cy="4678204"/>
          </a:xfrm>
        </p:spPr>
        <p:txBody>
          <a:bodyPr/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References</a:t>
            </a:r>
            <a:b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Breslow, N. E. and Cain, K. C. (1988). Logistic regression for two-stage case-control data. </a:t>
            </a:r>
            <a:r>
              <a:rPr lang="en-US" sz="2000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Biometrika</a:t>
            </a:r>
            <a:r>
              <a:rPr lang="en-US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 75, 11–20.</a:t>
            </a:r>
            <a:br>
              <a:rPr lang="en-US" sz="2000" dirty="0">
                <a:latin typeface="Calibri Light" panose="020F0302020204030204" pitchFamily="34" charset="0"/>
                <a:cs typeface="Calibri Light" panose="020F0302020204030204" pitchFamily="34" charset="0"/>
              </a:rPr>
            </a:br>
            <a:b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Fithian, W. and Hastie, T. (2014). Local case-control sampling: Efficient subsampling in imbalanced data sets. The Annals of Statistics 42, 1693–1724.</a:t>
            </a:r>
            <a:br>
              <a:rPr lang="en-US" sz="2000" dirty="0">
                <a:latin typeface="Calibri Light" panose="020F0302020204030204" pitchFamily="34" charset="0"/>
                <a:cs typeface="Calibri Light" panose="020F0302020204030204" pitchFamily="34" charset="0"/>
              </a:rPr>
            </a:br>
            <a:br>
              <a:rPr lang="en-US" sz="2000" dirty="0"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Shen, X., Chen, K., and Yu, W. (2021). Surprise sampling: Improving and extending the local case-control sampling. Electronic Journal of Statistics 15, 2454 – 2482.</a:t>
            </a:r>
            <a:br>
              <a:rPr lang="en-US" sz="2000" dirty="0">
                <a:latin typeface="Calibri Light" panose="020F0302020204030204" pitchFamily="34" charset="0"/>
                <a:cs typeface="Calibri Light" panose="020F0302020204030204" pitchFamily="34" charset="0"/>
              </a:rPr>
            </a:br>
            <a:br>
              <a:rPr lang="en-US" sz="2000" dirty="0">
                <a:latin typeface="Calibri Light" panose="020F0302020204030204" pitchFamily="34" charset="0"/>
                <a:cs typeface="Calibri Light" panose="020F0302020204030204" pitchFamily="34" charset="0"/>
              </a:rPr>
            </a:br>
            <a:endParaRPr lang="en-US" sz="20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E720D1-06F3-3A91-E03F-A3CEA291C650}"/>
              </a:ext>
            </a:extLst>
          </p:cNvPr>
          <p:cNvSpPr txBox="1"/>
          <p:nvPr/>
        </p:nvSpPr>
        <p:spPr bwMode="auto">
          <a:xfrm>
            <a:off x="3126658" y="6273846"/>
            <a:ext cx="65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algn="l"/>
            <a:endParaRPr lang="en-US" sz="1400" b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4382277"/>
      </p:ext>
    </p:extLst>
  </p:cSld>
  <p:clrMapOvr>
    <a:masterClrMapping/>
  </p:clrMapOvr>
</p:sld>
</file>

<file path=ppt/theme/theme1.xml><?xml version="1.0" encoding="utf-8"?>
<a:theme xmlns:a="http://schemas.openxmlformats.org/drawingml/2006/main" name="Penn GGEB Theme">
  <a:themeElements>
    <a:clrScheme name="Penn 2018 Color Palette">
      <a:dk1>
        <a:srgbClr val="002243"/>
      </a:dk1>
      <a:lt1>
        <a:srgbClr val="FFFFFF"/>
      </a:lt1>
      <a:dk2>
        <a:srgbClr val="800000"/>
      </a:dk2>
      <a:lt2>
        <a:srgbClr val="B4B5B4"/>
      </a:lt2>
      <a:accent1>
        <a:srgbClr val="326B8B"/>
      </a:accent1>
      <a:accent2>
        <a:srgbClr val="64A4D6"/>
      </a:accent2>
      <a:accent3>
        <a:srgbClr val="022D75"/>
      </a:accent3>
      <a:accent4>
        <a:srgbClr val="C4CE41"/>
      </a:accent4>
      <a:accent5>
        <a:srgbClr val="D75539"/>
      </a:accent5>
      <a:accent6>
        <a:srgbClr val="F7BA01"/>
      </a:accent6>
      <a:hlink>
        <a:srgbClr val="022D75"/>
      </a:hlink>
      <a:folHlink>
        <a:srgbClr val="7F0D00"/>
      </a:folHlink>
    </a:clrScheme>
    <a:fontScheme name="Penn Medicine Template 2009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400" b="0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400" b="0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panose="020B0604020202020204" pitchFamily="34" charset="0"/>
          </a:defRPr>
        </a:defPPr>
      </a:lstStyle>
    </a:lnDef>
    <a:txDef>
      <a:spPr bwMode="auto"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chemeClr val="tx1"/>
              </a:solidFill>
              <a:miter lim="800000"/>
              <a:headEnd/>
              <a:tailEnd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b" anchorCtr="0" compatLnSpc="1">
        <a:prstTxWarp prst="textNoShape">
          <a:avLst/>
        </a:prstTxWarp>
        <a:spAutoFit/>
      </a:bodyPr>
      <a:lstStyle>
        <a:defPPr algn="l">
          <a:defRPr sz="1400" b="1" dirty="0" smtClean="0">
            <a:solidFill>
              <a:schemeClr val="bg1">
                <a:lumMod val="50000"/>
              </a:schemeClr>
            </a:solidFill>
          </a:defRPr>
        </a:defPPr>
      </a:lstStyle>
    </a:txDef>
  </a:objectDefaults>
  <a:extraClrSchemeLst>
    <a:extraClrScheme>
      <a:clrScheme name="Penn Medicine Template 2009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nn Medicine Template 2009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nn Medicine Template 2009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nn Medicine Template 2009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nn Medicine Template 2009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nn Medicine Template 2009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nn Medicine Template 2009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nn Medicine Template 2009 8">
        <a:dk1>
          <a:srgbClr val="4A85FA"/>
        </a:dk1>
        <a:lt1>
          <a:srgbClr val="FFFFFF"/>
        </a:lt1>
        <a:dk2>
          <a:srgbClr val="001D3A"/>
        </a:dk2>
        <a:lt2>
          <a:srgbClr val="003366"/>
        </a:lt2>
        <a:accent1>
          <a:srgbClr val="A66E5A"/>
        </a:accent1>
        <a:accent2>
          <a:srgbClr val="BA003E"/>
        </a:accent2>
        <a:accent3>
          <a:srgbClr val="AAABAE"/>
        </a:accent3>
        <a:accent4>
          <a:srgbClr val="DADADA"/>
        </a:accent4>
        <a:accent5>
          <a:srgbClr val="D0BAB5"/>
        </a:accent5>
        <a:accent6>
          <a:srgbClr val="A80037"/>
        </a:accent6>
        <a:hlink>
          <a:srgbClr val="666633"/>
        </a:hlink>
        <a:folHlink>
          <a:srgbClr val="FEC42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nn Medicine Template 2009 9">
        <a:dk1>
          <a:srgbClr val="000000"/>
        </a:dk1>
        <a:lt1>
          <a:srgbClr val="FFFFFF"/>
        </a:lt1>
        <a:dk2>
          <a:srgbClr val="A20000"/>
        </a:dk2>
        <a:lt2>
          <a:srgbClr val="C0C0C0"/>
        </a:lt2>
        <a:accent1>
          <a:srgbClr val="0099E6"/>
        </a:accent1>
        <a:accent2>
          <a:srgbClr val="F6C700"/>
        </a:accent2>
        <a:accent3>
          <a:srgbClr val="FFFFFF"/>
        </a:accent3>
        <a:accent4>
          <a:srgbClr val="000000"/>
        </a:accent4>
        <a:accent5>
          <a:srgbClr val="AACAF0"/>
        </a:accent5>
        <a:accent6>
          <a:srgbClr val="DFB400"/>
        </a:accent6>
        <a:hlink>
          <a:srgbClr val="003399"/>
        </a:hlink>
        <a:folHlink>
          <a:srgbClr val="66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nn Medicine Template 2009 10">
        <a:dk1>
          <a:srgbClr val="000000"/>
        </a:dk1>
        <a:lt1>
          <a:srgbClr val="FFFFFF"/>
        </a:lt1>
        <a:dk2>
          <a:srgbClr val="800000"/>
        </a:dk2>
        <a:lt2>
          <a:srgbClr val="C0C0C0"/>
        </a:lt2>
        <a:accent1>
          <a:srgbClr val="0099E6"/>
        </a:accent1>
        <a:accent2>
          <a:srgbClr val="F6C700"/>
        </a:accent2>
        <a:accent3>
          <a:srgbClr val="FFFFFF"/>
        </a:accent3>
        <a:accent4>
          <a:srgbClr val="000000"/>
        </a:accent4>
        <a:accent5>
          <a:srgbClr val="AACAF0"/>
        </a:accent5>
        <a:accent6>
          <a:srgbClr val="DFB400"/>
        </a:accent6>
        <a:hlink>
          <a:srgbClr val="003399"/>
        </a:hlink>
        <a:folHlink>
          <a:srgbClr val="6600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enn GGEB Theme" id="{ADC55D63-9C9F-AE4C-B8AD-4F84A5C7F131}" vid="{AAAF77A3-E827-B14A-8CDA-8F564CDC30D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Penn GGEB Theme</Template>
  <TotalTime>17479</TotalTime>
  <Words>1600</Words>
  <Application>Microsoft Macintosh PowerPoint</Application>
  <PresentationFormat>Widescreen</PresentationFormat>
  <Paragraphs>292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Aptos</vt:lpstr>
      <vt:lpstr>Arial</vt:lpstr>
      <vt:lpstr>Calibri</vt:lpstr>
      <vt:lpstr>Calibri Light</vt:lpstr>
      <vt:lpstr>Cambria Math</vt:lpstr>
      <vt:lpstr>Franklin Gothic Book</vt:lpstr>
      <vt:lpstr>Lucida Grande</vt:lpstr>
      <vt:lpstr>Penn GGEB Theme</vt:lpstr>
      <vt:lpstr>A Two-Stage Modeling Approach to Risk Prediction with High-Dimensional Two-Phase Data</vt:lpstr>
      <vt:lpstr>External Data: Improves Prediction but Often Incomplete</vt:lpstr>
      <vt:lpstr>Limitations of Common Approaches</vt:lpstr>
      <vt:lpstr>Reframing the Problem as Two-Phase Data</vt:lpstr>
      <vt:lpstr>Our Two-Stage Modeling Framework</vt:lpstr>
      <vt:lpstr>Model Fitting – Selection Bias Correction</vt:lpstr>
      <vt:lpstr>Model Fitting – Selection Bias Correction</vt:lpstr>
      <vt:lpstr>Approximation for Estimating AUC</vt:lpstr>
      <vt:lpstr>Simulation Setup</vt:lpstr>
      <vt:lpstr>Simulation Results</vt:lpstr>
      <vt:lpstr>Simulation Results</vt:lpstr>
      <vt:lpstr>Real Data : Oncology Risk Prediction</vt:lpstr>
      <vt:lpstr>Real Data : Oncology Risk Prediction</vt:lpstr>
      <vt:lpstr>References  Breslow, N. E. and Cain, K. C. (1988). Logistic regression for two-stage case-control data. Biometrika 75, 11–20.  Fithian, W. and Hastie, T. (2014). Local case-control sampling: Efficient subsampling in imbalanced data sets. The Annals of Statistics 42, 1693–1724.  Shen, X., Chen, K., and Yu, W. (2021). Surprise sampling: Improving and extending the local case-control sampling. Electronic Journal of Statistics 15, 2454 – 2482.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Zuckerman, Gaby M</dc:creator>
  <cp:lastModifiedBy>Bi, Bradley</cp:lastModifiedBy>
  <cp:revision>334</cp:revision>
  <dcterms:created xsi:type="dcterms:W3CDTF">2023-11-27T17:12:14Z</dcterms:created>
  <dcterms:modified xsi:type="dcterms:W3CDTF">2026-05-25T16:39:25Z</dcterms:modified>
</cp:coreProperties>
</file>